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74" r:id="rId6"/>
    <p:sldId id="275" r:id="rId7"/>
    <p:sldId id="277" r:id="rId8"/>
    <p:sldId id="278" r:id="rId9"/>
    <p:sldId id="280" r:id="rId10"/>
    <p:sldId id="276" r:id="rId11"/>
    <p:sldId id="279" r:id="rId12"/>
    <p:sldId id="283" r:id="rId13"/>
    <p:sldId id="281" r:id="rId14"/>
    <p:sldId id="282" r:id="rId15"/>
    <p:sldId id="284" r:id="rId16"/>
    <p:sldId id="285" r:id="rId17"/>
    <p:sldId id="286" r:id="rId18"/>
    <p:sldId id="288" r:id="rId19"/>
    <p:sldId id="287" r:id="rId20"/>
    <p:sldId id="290" r:id="rId21"/>
    <p:sldId id="289" r:id="rId22"/>
    <p:sldId id="291" r:id="rId23"/>
    <p:sldId id="292" r:id="rId24"/>
    <p:sldId id="260" r:id="rId25"/>
    <p:sldId id="261" r:id="rId26"/>
    <p:sldId id="301" r:id="rId27"/>
    <p:sldId id="296" r:id="rId28"/>
    <p:sldId id="298" r:id="rId29"/>
    <p:sldId id="299" r:id="rId30"/>
    <p:sldId id="300" r:id="rId31"/>
    <p:sldId id="264" r:id="rId32"/>
    <p:sldId id="265" r:id="rId33"/>
    <p:sldId id="308" r:id="rId34"/>
    <p:sldId id="309" r:id="rId35"/>
    <p:sldId id="297" r:id="rId36"/>
    <p:sldId id="306" r:id="rId37"/>
    <p:sldId id="269" r:id="rId38"/>
    <p:sldId id="270" r:id="rId39"/>
    <p:sldId id="302" r:id="rId40"/>
    <p:sldId id="307" r:id="rId41"/>
    <p:sldId id="303" r:id="rId42"/>
    <p:sldId id="305" r:id="rId43"/>
    <p:sldId id="273" r:id="rId44"/>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105" d="100"/>
          <a:sy n="105" d="100"/>
        </p:scale>
        <p:origin x="798" y="96"/>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08317" y="480313"/>
            <a:ext cx="7871459" cy="575310"/>
          </a:xfrm>
          <a:prstGeom prst="rect">
            <a:avLst/>
          </a:prstGeom>
        </p:spPr>
        <p:txBody>
          <a:bodyPr wrap="square" lIns="0" tIns="0" rIns="0" bIns="0">
            <a:spAutoFit/>
          </a:bodyPr>
          <a:lstStyle>
            <a:lvl1pPr>
              <a:defRPr sz="3600" b="1" i="0">
                <a:solidFill>
                  <a:srgbClr val="7C45AD"/>
                </a:solidFill>
                <a:latin typeface="Arial"/>
                <a:cs typeface="Arial"/>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defRPr sz="800" b="0" i="0">
                <a:solidFill>
                  <a:srgbClr val="626C81"/>
                </a:solidFill>
                <a:latin typeface="Arial"/>
                <a:cs typeface="Arial"/>
              </a:defRPr>
            </a:lvl1p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5" name="Holder 5"/>
          <p:cNvSpPr>
            <a:spLocks noGrp="1"/>
          </p:cNvSpPr>
          <p:nvPr>
            <p:ph type="dt" sz="half" idx="6"/>
          </p:nvPr>
        </p:nvSpPr>
        <p:spPr/>
        <p:txBody>
          <a:bodyPr lIns="0" tIns="0" rIns="0" bIns="0"/>
          <a:lstStyle>
            <a:lvl1pPr>
              <a:defRPr sz="800" b="1" i="0">
                <a:solidFill>
                  <a:srgbClr val="626C81"/>
                </a:solidFill>
                <a:latin typeface="Arial"/>
                <a:cs typeface="Arial"/>
              </a:defRPr>
            </a:lvl1p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6" name="Holder 6"/>
          <p:cNvSpPr>
            <a:spLocks noGrp="1"/>
          </p:cNvSpPr>
          <p:nvPr>
            <p:ph type="sldNum" sz="quarter" idx="7"/>
          </p:nvPr>
        </p:nvSpPr>
        <p:spPr/>
        <p:txBody>
          <a:bodyPr lIns="0" tIns="0" rIns="0" bIns="0"/>
          <a:lstStyle>
            <a:lvl1pPr>
              <a:defRPr sz="800" b="0" i="0">
                <a:solidFill>
                  <a:srgbClr val="626C81"/>
                </a:solidFill>
                <a:latin typeface="Arial"/>
                <a:cs typeface="Arial"/>
              </a:defRPr>
            </a:lvl1pPr>
          </a:lstStyle>
          <a:p>
            <a:pPr marL="38100">
              <a:lnSpc>
                <a:spcPct val="100000"/>
              </a:lnSpc>
              <a:spcBef>
                <a:spcPts val="50"/>
              </a:spcBef>
            </a:pPr>
            <a:fld id="{81D60167-4931-47E6-BA6A-407CBD079E47}" type="slidenum">
              <a:rPr spc="-25" dirty="0"/>
              <a:t>‹#›</a:t>
            </a:fld>
            <a:endParaRPr spc="-2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7C45AD"/>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defRPr sz="800" b="0" i="0">
                <a:solidFill>
                  <a:srgbClr val="626C81"/>
                </a:solidFill>
                <a:latin typeface="Arial"/>
                <a:cs typeface="Arial"/>
              </a:defRPr>
            </a:lvl1p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5" name="Holder 5"/>
          <p:cNvSpPr>
            <a:spLocks noGrp="1"/>
          </p:cNvSpPr>
          <p:nvPr>
            <p:ph type="dt" sz="half" idx="6"/>
          </p:nvPr>
        </p:nvSpPr>
        <p:spPr/>
        <p:txBody>
          <a:bodyPr lIns="0" tIns="0" rIns="0" bIns="0"/>
          <a:lstStyle>
            <a:lvl1pPr>
              <a:defRPr sz="800" b="1" i="0">
                <a:solidFill>
                  <a:srgbClr val="626C81"/>
                </a:solidFill>
                <a:latin typeface="Arial"/>
                <a:cs typeface="Arial"/>
              </a:defRPr>
            </a:lvl1p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6" name="Holder 6"/>
          <p:cNvSpPr>
            <a:spLocks noGrp="1"/>
          </p:cNvSpPr>
          <p:nvPr>
            <p:ph type="sldNum" sz="quarter" idx="7"/>
          </p:nvPr>
        </p:nvSpPr>
        <p:spPr/>
        <p:txBody>
          <a:bodyPr lIns="0" tIns="0" rIns="0" bIns="0"/>
          <a:lstStyle>
            <a:lvl1pPr>
              <a:defRPr sz="800" b="0" i="0">
                <a:solidFill>
                  <a:srgbClr val="626C81"/>
                </a:solidFill>
                <a:latin typeface="Arial"/>
                <a:cs typeface="Arial"/>
              </a:defRPr>
            </a:lvl1pPr>
          </a:lstStyle>
          <a:p>
            <a:pPr marL="38100">
              <a:lnSpc>
                <a:spcPct val="100000"/>
              </a:lnSpc>
              <a:spcBef>
                <a:spcPts val="50"/>
              </a:spcBef>
            </a:pPr>
            <a:fld id="{81D60167-4931-47E6-BA6A-407CBD079E47}" type="slidenum">
              <a:rPr spc="-25" dirty="0"/>
              <a:t>‹#›</a:t>
            </a:fld>
            <a:endParaRPr spc="-25"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7C45AD"/>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800" b="0" i="0">
                <a:solidFill>
                  <a:srgbClr val="626C81"/>
                </a:solidFill>
                <a:latin typeface="Arial"/>
                <a:cs typeface="Arial"/>
              </a:defRPr>
            </a:lvl1p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6" name="Holder 6"/>
          <p:cNvSpPr>
            <a:spLocks noGrp="1"/>
          </p:cNvSpPr>
          <p:nvPr>
            <p:ph type="dt" sz="half" idx="6"/>
          </p:nvPr>
        </p:nvSpPr>
        <p:spPr/>
        <p:txBody>
          <a:bodyPr lIns="0" tIns="0" rIns="0" bIns="0"/>
          <a:lstStyle>
            <a:lvl1pPr>
              <a:defRPr sz="800" b="1" i="0">
                <a:solidFill>
                  <a:srgbClr val="626C81"/>
                </a:solidFill>
                <a:latin typeface="Arial"/>
                <a:cs typeface="Arial"/>
              </a:defRPr>
            </a:lvl1p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7" name="Holder 7"/>
          <p:cNvSpPr>
            <a:spLocks noGrp="1"/>
          </p:cNvSpPr>
          <p:nvPr>
            <p:ph type="sldNum" sz="quarter" idx="7"/>
          </p:nvPr>
        </p:nvSpPr>
        <p:spPr/>
        <p:txBody>
          <a:bodyPr lIns="0" tIns="0" rIns="0" bIns="0"/>
          <a:lstStyle>
            <a:lvl1pPr>
              <a:defRPr sz="800" b="0" i="0">
                <a:solidFill>
                  <a:srgbClr val="626C81"/>
                </a:solidFill>
                <a:latin typeface="Arial"/>
                <a:cs typeface="Arial"/>
              </a:defRPr>
            </a:lvl1pPr>
          </a:lstStyle>
          <a:p>
            <a:pPr marL="38100">
              <a:lnSpc>
                <a:spcPct val="100000"/>
              </a:lnSpc>
              <a:spcBef>
                <a:spcPts val="50"/>
              </a:spcBef>
            </a:pPr>
            <a:fld id="{81D60167-4931-47E6-BA6A-407CBD079E47}" type="slidenum">
              <a:rPr spc="-25" dirty="0"/>
              <a:t>‹#›</a:t>
            </a:fld>
            <a:endParaRPr spc="-2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809625"/>
            <a:ext cx="11810999" cy="3438525"/>
          </a:xfrm>
          <a:prstGeom prst="rect">
            <a:avLst/>
          </a:prstGeom>
        </p:spPr>
      </p:pic>
      <p:sp>
        <p:nvSpPr>
          <p:cNvPr id="2" name="Holder 2"/>
          <p:cNvSpPr>
            <a:spLocks noGrp="1"/>
          </p:cNvSpPr>
          <p:nvPr>
            <p:ph type="title"/>
          </p:nvPr>
        </p:nvSpPr>
        <p:spPr/>
        <p:txBody>
          <a:bodyPr lIns="0" tIns="0" rIns="0" bIns="0"/>
          <a:lstStyle>
            <a:lvl1pPr>
              <a:defRPr sz="3600" b="1" i="0">
                <a:solidFill>
                  <a:srgbClr val="7C45AD"/>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defRPr sz="800" b="0" i="0">
                <a:solidFill>
                  <a:srgbClr val="626C81"/>
                </a:solidFill>
                <a:latin typeface="Arial"/>
                <a:cs typeface="Arial"/>
              </a:defRPr>
            </a:lvl1p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4" name="Holder 4"/>
          <p:cNvSpPr>
            <a:spLocks noGrp="1"/>
          </p:cNvSpPr>
          <p:nvPr>
            <p:ph type="dt" sz="half" idx="6"/>
          </p:nvPr>
        </p:nvSpPr>
        <p:spPr/>
        <p:txBody>
          <a:bodyPr lIns="0" tIns="0" rIns="0" bIns="0"/>
          <a:lstStyle>
            <a:lvl1pPr>
              <a:defRPr sz="800" b="1" i="0">
                <a:solidFill>
                  <a:srgbClr val="626C81"/>
                </a:solidFill>
                <a:latin typeface="Arial"/>
                <a:cs typeface="Arial"/>
              </a:defRPr>
            </a:lvl1p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Holder 5"/>
          <p:cNvSpPr>
            <a:spLocks noGrp="1"/>
          </p:cNvSpPr>
          <p:nvPr>
            <p:ph type="sldNum" sz="quarter" idx="7"/>
          </p:nvPr>
        </p:nvSpPr>
        <p:spPr/>
        <p:txBody>
          <a:bodyPr lIns="0" tIns="0" rIns="0" bIns="0"/>
          <a:lstStyle>
            <a:lvl1pPr>
              <a:defRPr sz="800" b="0" i="0">
                <a:solidFill>
                  <a:srgbClr val="626C81"/>
                </a:solidFill>
                <a:latin typeface="Arial"/>
                <a:cs typeface="Arial"/>
              </a:defRPr>
            </a:lvl1pPr>
          </a:lstStyle>
          <a:p>
            <a:pPr marL="38100">
              <a:lnSpc>
                <a:spcPct val="100000"/>
              </a:lnSpc>
              <a:spcBef>
                <a:spcPts val="50"/>
              </a:spcBef>
            </a:pPr>
            <a:fld id="{81D60167-4931-47E6-BA6A-407CBD079E47}" type="slidenum">
              <a:rPr spc="-25" dirty="0"/>
              <a:t>‹#›</a:t>
            </a:fld>
            <a:endParaRPr spc="-25"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800" b="0" i="0">
                <a:solidFill>
                  <a:srgbClr val="626C81"/>
                </a:solidFill>
                <a:latin typeface="Arial"/>
                <a:cs typeface="Arial"/>
              </a:defRPr>
            </a:lvl1p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3" name="Holder 3"/>
          <p:cNvSpPr>
            <a:spLocks noGrp="1"/>
          </p:cNvSpPr>
          <p:nvPr>
            <p:ph type="dt" sz="half" idx="6"/>
          </p:nvPr>
        </p:nvSpPr>
        <p:spPr/>
        <p:txBody>
          <a:bodyPr lIns="0" tIns="0" rIns="0" bIns="0"/>
          <a:lstStyle>
            <a:lvl1pPr>
              <a:defRPr sz="800" b="1" i="0">
                <a:solidFill>
                  <a:srgbClr val="626C81"/>
                </a:solidFill>
                <a:latin typeface="Arial"/>
                <a:cs typeface="Arial"/>
              </a:defRPr>
            </a:lvl1p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4" name="Holder 4"/>
          <p:cNvSpPr>
            <a:spLocks noGrp="1"/>
          </p:cNvSpPr>
          <p:nvPr>
            <p:ph type="sldNum" sz="quarter" idx="7"/>
          </p:nvPr>
        </p:nvSpPr>
        <p:spPr/>
        <p:txBody>
          <a:bodyPr lIns="0" tIns="0" rIns="0" bIns="0"/>
          <a:lstStyle>
            <a:lvl1pPr>
              <a:defRPr sz="800" b="0" i="0">
                <a:solidFill>
                  <a:srgbClr val="626C81"/>
                </a:solidFill>
                <a:latin typeface="Arial"/>
                <a:cs typeface="Arial"/>
              </a:defRPr>
            </a:lvl1pPr>
          </a:lstStyle>
          <a:p>
            <a:pPr marL="38100">
              <a:lnSpc>
                <a:spcPct val="100000"/>
              </a:lnSpc>
              <a:spcBef>
                <a:spcPts val="50"/>
              </a:spcBef>
            </a:pPr>
            <a:fld id="{81D60167-4931-47E6-BA6A-407CBD079E47}" type="slidenum">
              <a:rPr spc="-25" dirty="0"/>
              <a:t>‹#›</a:t>
            </a:fld>
            <a:endParaRPr spc="-25"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508317" y="370616"/>
            <a:ext cx="7871459" cy="1234440"/>
          </a:xfrm>
          <a:prstGeom prst="rect">
            <a:avLst/>
          </a:prstGeom>
        </p:spPr>
        <p:txBody>
          <a:bodyPr wrap="square" lIns="0" tIns="0" rIns="0" bIns="0">
            <a:spAutoFit/>
          </a:bodyPr>
          <a:lstStyle>
            <a:lvl1pPr>
              <a:defRPr sz="3600" b="1" i="0">
                <a:solidFill>
                  <a:srgbClr val="7C45AD"/>
                </a:solidFill>
                <a:latin typeface="Arial"/>
                <a:cs typeface="Arial"/>
              </a:defRPr>
            </a:lvl1pPr>
          </a:lstStyle>
          <a:p>
            <a:endParaRPr/>
          </a:p>
        </p:txBody>
      </p:sp>
      <p:sp>
        <p:nvSpPr>
          <p:cNvPr id="3" name="Holder 3"/>
          <p:cNvSpPr>
            <a:spLocks noGrp="1"/>
          </p:cNvSpPr>
          <p:nvPr>
            <p:ph type="body" idx="1"/>
          </p:nvPr>
        </p:nvSpPr>
        <p:spPr>
          <a:xfrm>
            <a:off x="476250" y="1898650"/>
            <a:ext cx="7112000" cy="3564890"/>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a:xfrm>
            <a:off x="10138156" y="6594240"/>
            <a:ext cx="1029334" cy="142875"/>
          </a:xfrm>
          <a:prstGeom prst="rect">
            <a:avLst/>
          </a:prstGeom>
        </p:spPr>
        <p:txBody>
          <a:bodyPr wrap="square" lIns="0" tIns="0" rIns="0" bIns="0">
            <a:spAutoFit/>
          </a:bodyPr>
          <a:lstStyle>
            <a:lvl1pPr>
              <a:defRPr sz="800" b="0" i="0">
                <a:solidFill>
                  <a:srgbClr val="626C81"/>
                </a:solidFill>
                <a:latin typeface="Arial"/>
                <a:cs typeface="Arial"/>
              </a:defRPr>
            </a:lvl1p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5" name="Holder 5"/>
          <p:cNvSpPr>
            <a:spLocks noGrp="1"/>
          </p:cNvSpPr>
          <p:nvPr>
            <p:ph type="dt" sz="half" idx="6"/>
          </p:nvPr>
        </p:nvSpPr>
        <p:spPr>
          <a:xfrm>
            <a:off x="5679059" y="6567917"/>
            <a:ext cx="833754" cy="142875"/>
          </a:xfrm>
          <a:prstGeom prst="rect">
            <a:avLst/>
          </a:prstGeom>
        </p:spPr>
        <p:txBody>
          <a:bodyPr wrap="square" lIns="0" tIns="0" rIns="0" bIns="0">
            <a:spAutoFit/>
          </a:bodyPr>
          <a:lstStyle>
            <a:lvl1pPr>
              <a:defRPr sz="800" b="1" i="0">
                <a:solidFill>
                  <a:srgbClr val="626C81"/>
                </a:solidFill>
                <a:latin typeface="Arial"/>
                <a:cs typeface="Arial"/>
              </a:defRPr>
            </a:lvl1p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6" name="Holder 6"/>
          <p:cNvSpPr>
            <a:spLocks noGrp="1"/>
          </p:cNvSpPr>
          <p:nvPr>
            <p:ph type="sldNum" sz="quarter" idx="7"/>
          </p:nvPr>
        </p:nvSpPr>
        <p:spPr>
          <a:xfrm>
            <a:off x="11541759" y="6567917"/>
            <a:ext cx="165734" cy="142875"/>
          </a:xfrm>
          <a:prstGeom prst="rect">
            <a:avLst/>
          </a:prstGeom>
        </p:spPr>
        <p:txBody>
          <a:bodyPr wrap="square" lIns="0" tIns="0" rIns="0" bIns="0">
            <a:spAutoFit/>
          </a:bodyPr>
          <a:lstStyle>
            <a:lvl1pPr>
              <a:defRPr sz="800" b="0" i="0">
                <a:solidFill>
                  <a:srgbClr val="626C81"/>
                </a:solidFill>
                <a:latin typeface="Arial"/>
                <a:cs typeface="Arial"/>
              </a:defRPr>
            </a:lvl1pPr>
          </a:lstStyle>
          <a:p>
            <a:pPr marL="38100">
              <a:lnSpc>
                <a:spcPct val="100000"/>
              </a:lnSpc>
              <a:spcBef>
                <a:spcPts val="50"/>
              </a:spcBef>
            </a:pPr>
            <a:fld id="{81D60167-4931-47E6-BA6A-407CBD079E47}" type="slidenum">
              <a:rPr spc="-25" dirty="0"/>
              <a:t>‹#›</a:t>
            </a:fld>
            <a:endParaRPr spc="-25"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Layout" Target="../slideLayouts/slideLayout4.xml"/><Relationship Id="rId5" Type="http://schemas.openxmlformats.org/officeDocument/2006/relationships/image" Target="../media/image5.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4.xml"/><Relationship Id="rId4" Type="http://schemas.openxmlformats.org/officeDocument/2006/relationships/image" Target="../media/image3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4.xml"/><Relationship Id="rId5" Type="http://schemas.openxmlformats.org/officeDocument/2006/relationships/image" Target="../media/image34.png"/><Relationship Id="rId4" Type="http://schemas.openxmlformats.org/officeDocument/2006/relationships/image" Target="../media/image33.png"/></Relationships>
</file>

<file path=ppt/slides/_rels/slide42.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4.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0"/>
            <a:ext cx="12192000" cy="6858000"/>
            <a:chOff x="0" y="0"/>
            <a:chExt cx="12192000" cy="6858000"/>
          </a:xfrm>
        </p:grpSpPr>
        <p:pic>
          <p:nvPicPr>
            <p:cNvPr id="3" name="object 3"/>
            <p:cNvPicPr/>
            <p:nvPr/>
          </p:nvPicPr>
          <p:blipFill>
            <a:blip r:embed="rId2" cstate="print"/>
            <a:stretch>
              <a:fillRect/>
            </a:stretch>
          </p:blipFill>
          <p:spPr>
            <a:xfrm>
              <a:off x="0" y="0"/>
              <a:ext cx="12192000" cy="6858000"/>
            </a:xfrm>
            <a:prstGeom prst="rect">
              <a:avLst/>
            </a:prstGeom>
          </p:spPr>
        </p:pic>
        <p:pic>
          <p:nvPicPr>
            <p:cNvPr id="4" name="object 4"/>
            <p:cNvPicPr/>
            <p:nvPr/>
          </p:nvPicPr>
          <p:blipFill>
            <a:blip r:embed="rId3" cstate="print"/>
            <a:stretch>
              <a:fillRect/>
            </a:stretch>
          </p:blipFill>
          <p:spPr>
            <a:xfrm>
              <a:off x="0" y="1200150"/>
              <a:ext cx="9163049" cy="4457700"/>
            </a:xfrm>
            <a:prstGeom prst="rect">
              <a:avLst/>
            </a:prstGeom>
          </p:spPr>
        </p:pic>
        <p:pic>
          <p:nvPicPr>
            <p:cNvPr id="5" name="object 5"/>
            <p:cNvPicPr/>
            <p:nvPr/>
          </p:nvPicPr>
          <p:blipFill>
            <a:blip r:embed="rId4" cstate="print"/>
            <a:stretch>
              <a:fillRect/>
            </a:stretch>
          </p:blipFill>
          <p:spPr>
            <a:xfrm>
              <a:off x="0" y="923925"/>
              <a:ext cx="9001124" cy="5000625"/>
            </a:xfrm>
            <a:prstGeom prst="rect">
              <a:avLst/>
            </a:prstGeom>
          </p:spPr>
        </p:pic>
        <p:pic>
          <p:nvPicPr>
            <p:cNvPr id="6" name="object 6"/>
            <p:cNvPicPr/>
            <p:nvPr/>
          </p:nvPicPr>
          <p:blipFill>
            <a:blip r:embed="rId5" cstate="print"/>
            <a:stretch>
              <a:fillRect/>
            </a:stretch>
          </p:blipFill>
          <p:spPr>
            <a:xfrm>
              <a:off x="0" y="952500"/>
              <a:ext cx="8972549" cy="4943475"/>
            </a:xfrm>
            <a:prstGeom prst="rect">
              <a:avLst/>
            </a:prstGeom>
          </p:spPr>
        </p:pic>
      </p:grpSp>
      <p:sp>
        <p:nvSpPr>
          <p:cNvPr id="7" name="object 7"/>
          <p:cNvSpPr txBox="1">
            <a:spLocks noGrp="1"/>
          </p:cNvSpPr>
          <p:nvPr>
            <p:ph type="title"/>
          </p:nvPr>
        </p:nvSpPr>
        <p:spPr>
          <a:xfrm>
            <a:off x="513715" y="2614930"/>
            <a:ext cx="7469505" cy="1012190"/>
          </a:xfrm>
          <a:prstGeom prst="rect">
            <a:avLst/>
          </a:prstGeom>
        </p:spPr>
        <p:txBody>
          <a:bodyPr vert="horz" wrap="square" lIns="0" tIns="13335" rIns="0" bIns="0" rtlCol="0">
            <a:spAutoFit/>
          </a:bodyPr>
          <a:lstStyle/>
          <a:p>
            <a:pPr marL="12700">
              <a:lnSpc>
                <a:spcPct val="100000"/>
              </a:lnSpc>
              <a:spcBef>
                <a:spcPts val="105"/>
              </a:spcBef>
            </a:pPr>
            <a:r>
              <a:rPr dirty="0">
                <a:solidFill>
                  <a:srgbClr val="FFFFFF"/>
                </a:solidFill>
              </a:rPr>
              <a:t>Design</a:t>
            </a:r>
            <a:r>
              <a:rPr spc="-204" dirty="0">
                <a:solidFill>
                  <a:srgbClr val="FFFFFF"/>
                </a:solidFill>
              </a:rPr>
              <a:t> </a:t>
            </a:r>
            <a:r>
              <a:rPr spc="-10" dirty="0">
                <a:solidFill>
                  <a:srgbClr val="FFFFFF"/>
                </a:solidFill>
              </a:rPr>
              <a:t>Specifications</a:t>
            </a:r>
          </a:p>
          <a:p>
            <a:pPr marL="12700">
              <a:lnSpc>
                <a:spcPct val="100000"/>
              </a:lnSpc>
              <a:spcBef>
                <a:spcPts val="135"/>
              </a:spcBef>
            </a:pPr>
            <a:r>
              <a:rPr lang="en-US" sz="2750" b="0">
                <a:solidFill>
                  <a:srgbClr val="A6A8AB"/>
                </a:solidFill>
                <a:latin typeface="Arial"/>
                <a:cs typeface="Arial"/>
              </a:rPr>
              <a:t>IP AMBA ABP Protocol</a:t>
            </a:r>
            <a:endParaRPr sz="2750">
              <a:latin typeface="Arial"/>
              <a:cs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524000" y="2190750"/>
            <a:ext cx="10010775" cy="819150"/>
          </a:xfrm>
          <a:prstGeom prst="rect">
            <a:avLst/>
          </a:prstGeom>
        </p:spPr>
      </p:pic>
      <p:pic>
        <p:nvPicPr>
          <p:cNvPr id="3" name="object 3"/>
          <p:cNvPicPr/>
          <p:nvPr/>
        </p:nvPicPr>
        <p:blipFill>
          <a:blip r:embed="rId2" cstate="print"/>
          <a:stretch>
            <a:fillRect/>
          </a:stretch>
        </p:blipFill>
        <p:spPr>
          <a:xfrm>
            <a:off x="0" y="352425"/>
            <a:ext cx="12191999" cy="1276350"/>
          </a:xfrm>
          <a:prstGeom prst="rect">
            <a:avLst/>
          </a:prstGeom>
        </p:spPr>
      </p:pic>
      <p:pic>
        <p:nvPicPr>
          <p:cNvPr id="4" name="object 4"/>
          <p:cNvPicPr/>
          <p:nvPr/>
        </p:nvPicPr>
        <p:blipFill>
          <a:blip r:embed="rId3" cstate="print"/>
          <a:stretch>
            <a:fillRect/>
          </a:stretch>
        </p:blipFill>
        <p:spPr>
          <a:xfrm>
            <a:off x="0" y="276225"/>
            <a:ext cx="12191999" cy="19050"/>
          </a:xfrm>
          <a:prstGeom prst="rect">
            <a:avLst/>
          </a:prstGeom>
        </p:spPr>
      </p:pic>
      <p:sp>
        <p:nvSpPr>
          <p:cNvPr id="5" name="object 5"/>
          <p:cNvSpPr txBox="1">
            <a:spLocks noGrp="1"/>
          </p:cNvSpPr>
          <p:nvPr>
            <p:ph type="title"/>
          </p:nvPr>
        </p:nvSpPr>
        <p:spPr>
          <a:prstGeom prst="rect">
            <a:avLst/>
          </a:prstGeom>
        </p:spPr>
        <p:txBody>
          <a:bodyPr vert="horz" wrap="square" lIns="0" tIns="253842" rIns="0" bIns="0" rtlCol="0">
            <a:spAutoFit/>
          </a:bodyPr>
          <a:lstStyle/>
          <a:p>
            <a:pPr marL="25400">
              <a:lnSpc>
                <a:spcPct val="100000"/>
              </a:lnSpc>
              <a:spcBef>
                <a:spcPts val="130"/>
              </a:spcBef>
            </a:pPr>
            <a:r>
              <a:rPr sz="4400" dirty="0"/>
              <a:t>Table</a:t>
            </a:r>
            <a:r>
              <a:rPr sz="4400" spc="-50" dirty="0"/>
              <a:t> </a:t>
            </a:r>
            <a:r>
              <a:rPr sz="4400" spc="-10" dirty="0"/>
              <a:t>Content</a:t>
            </a:r>
            <a:endParaRPr sz="4400"/>
          </a:p>
        </p:txBody>
      </p:sp>
      <p:sp>
        <p:nvSpPr>
          <p:cNvPr id="6" name="object 6"/>
          <p:cNvSpPr/>
          <p:nvPr/>
        </p:nvSpPr>
        <p:spPr>
          <a:xfrm>
            <a:off x="523875" y="2247900"/>
            <a:ext cx="723900" cy="704850"/>
          </a:xfrm>
          <a:custGeom>
            <a:avLst/>
            <a:gdLst/>
            <a:ahLst/>
            <a:cxnLst/>
            <a:rect l="l" t="t" r="r" b="b"/>
            <a:pathLst>
              <a:path w="723900" h="704850">
                <a:moveTo>
                  <a:pt x="361911" y="0"/>
                </a:moveTo>
                <a:lnTo>
                  <a:pt x="308432" y="3810"/>
                </a:lnTo>
                <a:lnTo>
                  <a:pt x="257390" y="14859"/>
                </a:lnTo>
                <a:lnTo>
                  <a:pt x="209346" y="32765"/>
                </a:lnTo>
                <a:lnTo>
                  <a:pt x="164858" y="56769"/>
                </a:lnTo>
                <a:lnTo>
                  <a:pt x="124485" y="86360"/>
                </a:lnTo>
                <a:lnTo>
                  <a:pt x="88773" y="121158"/>
                </a:lnTo>
                <a:lnTo>
                  <a:pt x="58305" y="160527"/>
                </a:lnTo>
                <a:lnTo>
                  <a:pt x="33642" y="203835"/>
                </a:lnTo>
                <a:lnTo>
                  <a:pt x="15328" y="250571"/>
                </a:lnTo>
                <a:lnTo>
                  <a:pt x="3924" y="300227"/>
                </a:lnTo>
                <a:lnTo>
                  <a:pt x="0" y="352298"/>
                </a:lnTo>
                <a:lnTo>
                  <a:pt x="990" y="378587"/>
                </a:lnTo>
                <a:lnTo>
                  <a:pt x="8724" y="429513"/>
                </a:lnTo>
                <a:lnTo>
                  <a:pt x="23647" y="477900"/>
                </a:lnTo>
                <a:lnTo>
                  <a:pt x="45212" y="522986"/>
                </a:lnTo>
                <a:lnTo>
                  <a:pt x="72859" y="564388"/>
                </a:lnTo>
                <a:lnTo>
                  <a:pt x="106006" y="601472"/>
                </a:lnTo>
                <a:lnTo>
                  <a:pt x="144119" y="633729"/>
                </a:lnTo>
                <a:lnTo>
                  <a:pt x="186626" y="660653"/>
                </a:lnTo>
                <a:lnTo>
                  <a:pt x="232968" y="681609"/>
                </a:lnTo>
                <a:lnTo>
                  <a:pt x="282575" y="696087"/>
                </a:lnTo>
                <a:lnTo>
                  <a:pt x="334911" y="703707"/>
                </a:lnTo>
                <a:lnTo>
                  <a:pt x="361911" y="704596"/>
                </a:lnTo>
                <a:lnTo>
                  <a:pt x="388924" y="703707"/>
                </a:lnTo>
                <a:lnTo>
                  <a:pt x="441248" y="696087"/>
                </a:lnTo>
                <a:lnTo>
                  <a:pt x="490867" y="681609"/>
                </a:lnTo>
                <a:lnTo>
                  <a:pt x="537210" y="660653"/>
                </a:lnTo>
                <a:lnTo>
                  <a:pt x="579704" y="633729"/>
                </a:lnTo>
                <a:lnTo>
                  <a:pt x="617816" y="601472"/>
                </a:lnTo>
                <a:lnTo>
                  <a:pt x="650976" y="564388"/>
                </a:lnTo>
                <a:lnTo>
                  <a:pt x="678611" y="522986"/>
                </a:lnTo>
                <a:lnTo>
                  <a:pt x="700176" y="477900"/>
                </a:lnTo>
                <a:lnTo>
                  <a:pt x="715098" y="429513"/>
                </a:lnTo>
                <a:lnTo>
                  <a:pt x="722833" y="378587"/>
                </a:lnTo>
                <a:lnTo>
                  <a:pt x="723823" y="352298"/>
                </a:lnTo>
                <a:lnTo>
                  <a:pt x="722833" y="326009"/>
                </a:lnTo>
                <a:lnTo>
                  <a:pt x="715098" y="275082"/>
                </a:lnTo>
                <a:lnTo>
                  <a:pt x="700176" y="226822"/>
                </a:lnTo>
                <a:lnTo>
                  <a:pt x="678611" y="181610"/>
                </a:lnTo>
                <a:lnTo>
                  <a:pt x="650976" y="140335"/>
                </a:lnTo>
                <a:lnTo>
                  <a:pt x="617816" y="103250"/>
                </a:lnTo>
                <a:lnTo>
                  <a:pt x="579704" y="70865"/>
                </a:lnTo>
                <a:lnTo>
                  <a:pt x="537210" y="44069"/>
                </a:lnTo>
                <a:lnTo>
                  <a:pt x="490867" y="22987"/>
                </a:lnTo>
                <a:lnTo>
                  <a:pt x="441248" y="8509"/>
                </a:lnTo>
                <a:lnTo>
                  <a:pt x="388924" y="1015"/>
                </a:lnTo>
                <a:lnTo>
                  <a:pt x="361911" y="0"/>
                </a:lnTo>
                <a:close/>
              </a:path>
            </a:pathLst>
          </a:custGeom>
          <a:solidFill>
            <a:srgbClr val="7C45AD"/>
          </a:solidFill>
        </p:spPr>
        <p:txBody>
          <a:bodyPr wrap="square" lIns="0" tIns="0" rIns="0" bIns="0" rtlCol="0"/>
          <a:lstStyle/>
          <a:p>
            <a:endParaRPr/>
          </a:p>
        </p:txBody>
      </p:sp>
      <p:sp>
        <p:nvSpPr>
          <p:cNvPr id="7" name="object 7"/>
          <p:cNvSpPr/>
          <p:nvPr/>
        </p:nvSpPr>
        <p:spPr>
          <a:xfrm>
            <a:off x="523875" y="3248025"/>
            <a:ext cx="723900" cy="704850"/>
          </a:xfrm>
          <a:custGeom>
            <a:avLst/>
            <a:gdLst/>
            <a:ahLst/>
            <a:cxnLst/>
            <a:rect l="l" t="t" r="r" b="b"/>
            <a:pathLst>
              <a:path w="723900" h="704850">
                <a:moveTo>
                  <a:pt x="361911" y="0"/>
                </a:moveTo>
                <a:lnTo>
                  <a:pt x="308432" y="3810"/>
                </a:lnTo>
                <a:lnTo>
                  <a:pt x="257390" y="14859"/>
                </a:lnTo>
                <a:lnTo>
                  <a:pt x="209346" y="32765"/>
                </a:lnTo>
                <a:lnTo>
                  <a:pt x="164858" y="56769"/>
                </a:lnTo>
                <a:lnTo>
                  <a:pt x="124485" y="86360"/>
                </a:lnTo>
                <a:lnTo>
                  <a:pt x="88773" y="121158"/>
                </a:lnTo>
                <a:lnTo>
                  <a:pt x="58305" y="160527"/>
                </a:lnTo>
                <a:lnTo>
                  <a:pt x="33642" y="203835"/>
                </a:lnTo>
                <a:lnTo>
                  <a:pt x="15328" y="250571"/>
                </a:lnTo>
                <a:lnTo>
                  <a:pt x="3924" y="300227"/>
                </a:lnTo>
                <a:lnTo>
                  <a:pt x="0" y="352298"/>
                </a:lnTo>
                <a:lnTo>
                  <a:pt x="990" y="378587"/>
                </a:lnTo>
                <a:lnTo>
                  <a:pt x="8724" y="429513"/>
                </a:lnTo>
                <a:lnTo>
                  <a:pt x="23647" y="477900"/>
                </a:lnTo>
                <a:lnTo>
                  <a:pt x="45212" y="522986"/>
                </a:lnTo>
                <a:lnTo>
                  <a:pt x="72859" y="564388"/>
                </a:lnTo>
                <a:lnTo>
                  <a:pt x="106006" y="601472"/>
                </a:lnTo>
                <a:lnTo>
                  <a:pt x="144119" y="633730"/>
                </a:lnTo>
                <a:lnTo>
                  <a:pt x="186626" y="660654"/>
                </a:lnTo>
                <a:lnTo>
                  <a:pt x="232968" y="681608"/>
                </a:lnTo>
                <a:lnTo>
                  <a:pt x="282575" y="696087"/>
                </a:lnTo>
                <a:lnTo>
                  <a:pt x="334911" y="703707"/>
                </a:lnTo>
                <a:lnTo>
                  <a:pt x="361911" y="704595"/>
                </a:lnTo>
                <a:lnTo>
                  <a:pt x="388924" y="703707"/>
                </a:lnTo>
                <a:lnTo>
                  <a:pt x="441248" y="696087"/>
                </a:lnTo>
                <a:lnTo>
                  <a:pt x="490867" y="681608"/>
                </a:lnTo>
                <a:lnTo>
                  <a:pt x="537210" y="660654"/>
                </a:lnTo>
                <a:lnTo>
                  <a:pt x="579704" y="633730"/>
                </a:lnTo>
                <a:lnTo>
                  <a:pt x="617816" y="601472"/>
                </a:lnTo>
                <a:lnTo>
                  <a:pt x="650976" y="564388"/>
                </a:lnTo>
                <a:lnTo>
                  <a:pt x="678611" y="522986"/>
                </a:lnTo>
                <a:lnTo>
                  <a:pt x="700176" y="477900"/>
                </a:lnTo>
                <a:lnTo>
                  <a:pt x="715098" y="429513"/>
                </a:lnTo>
                <a:lnTo>
                  <a:pt x="722833" y="378587"/>
                </a:lnTo>
                <a:lnTo>
                  <a:pt x="723823" y="352298"/>
                </a:lnTo>
                <a:lnTo>
                  <a:pt x="722833" y="326009"/>
                </a:lnTo>
                <a:lnTo>
                  <a:pt x="715098" y="275082"/>
                </a:lnTo>
                <a:lnTo>
                  <a:pt x="700176" y="226822"/>
                </a:lnTo>
                <a:lnTo>
                  <a:pt x="678611" y="181610"/>
                </a:lnTo>
                <a:lnTo>
                  <a:pt x="650976" y="140335"/>
                </a:lnTo>
                <a:lnTo>
                  <a:pt x="617816" y="103250"/>
                </a:lnTo>
                <a:lnTo>
                  <a:pt x="579704" y="70865"/>
                </a:lnTo>
                <a:lnTo>
                  <a:pt x="537210" y="44069"/>
                </a:lnTo>
                <a:lnTo>
                  <a:pt x="490867" y="22987"/>
                </a:lnTo>
                <a:lnTo>
                  <a:pt x="441248" y="8509"/>
                </a:lnTo>
                <a:lnTo>
                  <a:pt x="388924" y="1015"/>
                </a:lnTo>
                <a:lnTo>
                  <a:pt x="361911" y="0"/>
                </a:lnTo>
                <a:close/>
              </a:path>
            </a:pathLst>
          </a:custGeom>
          <a:solidFill>
            <a:srgbClr val="7C45AD"/>
          </a:solidFill>
        </p:spPr>
        <p:txBody>
          <a:bodyPr wrap="square" lIns="0" tIns="0" rIns="0" bIns="0" rtlCol="0"/>
          <a:lstStyle/>
          <a:p>
            <a:endParaRPr/>
          </a:p>
        </p:txBody>
      </p:sp>
      <p:sp>
        <p:nvSpPr>
          <p:cNvPr id="8" name="object 8"/>
          <p:cNvSpPr/>
          <p:nvPr/>
        </p:nvSpPr>
        <p:spPr>
          <a:xfrm>
            <a:off x="523875" y="4248150"/>
            <a:ext cx="723900" cy="704850"/>
          </a:xfrm>
          <a:custGeom>
            <a:avLst/>
            <a:gdLst/>
            <a:ahLst/>
            <a:cxnLst/>
            <a:rect l="l" t="t" r="r" b="b"/>
            <a:pathLst>
              <a:path w="723900" h="704850">
                <a:moveTo>
                  <a:pt x="361911" y="0"/>
                </a:moveTo>
                <a:lnTo>
                  <a:pt x="308432" y="3810"/>
                </a:lnTo>
                <a:lnTo>
                  <a:pt x="257390" y="14858"/>
                </a:lnTo>
                <a:lnTo>
                  <a:pt x="209346" y="32766"/>
                </a:lnTo>
                <a:lnTo>
                  <a:pt x="164858" y="56768"/>
                </a:lnTo>
                <a:lnTo>
                  <a:pt x="124485" y="86360"/>
                </a:lnTo>
                <a:lnTo>
                  <a:pt x="88773" y="121157"/>
                </a:lnTo>
                <a:lnTo>
                  <a:pt x="58305" y="160527"/>
                </a:lnTo>
                <a:lnTo>
                  <a:pt x="33642" y="203835"/>
                </a:lnTo>
                <a:lnTo>
                  <a:pt x="15328" y="250570"/>
                </a:lnTo>
                <a:lnTo>
                  <a:pt x="3924" y="300227"/>
                </a:lnTo>
                <a:lnTo>
                  <a:pt x="0" y="352298"/>
                </a:lnTo>
                <a:lnTo>
                  <a:pt x="990" y="378587"/>
                </a:lnTo>
                <a:lnTo>
                  <a:pt x="8724" y="429513"/>
                </a:lnTo>
                <a:lnTo>
                  <a:pt x="23647" y="477900"/>
                </a:lnTo>
                <a:lnTo>
                  <a:pt x="45212" y="522986"/>
                </a:lnTo>
                <a:lnTo>
                  <a:pt x="72859" y="564388"/>
                </a:lnTo>
                <a:lnTo>
                  <a:pt x="106006" y="601472"/>
                </a:lnTo>
                <a:lnTo>
                  <a:pt x="144119" y="633730"/>
                </a:lnTo>
                <a:lnTo>
                  <a:pt x="186626" y="660654"/>
                </a:lnTo>
                <a:lnTo>
                  <a:pt x="232968" y="681608"/>
                </a:lnTo>
                <a:lnTo>
                  <a:pt x="282575" y="696087"/>
                </a:lnTo>
                <a:lnTo>
                  <a:pt x="334911" y="703707"/>
                </a:lnTo>
                <a:lnTo>
                  <a:pt x="361911" y="704595"/>
                </a:lnTo>
                <a:lnTo>
                  <a:pt x="388924" y="703707"/>
                </a:lnTo>
                <a:lnTo>
                  <a:pt x="441248" y="696087"/>
                </a:lnTo>
                <a:lnTo>
                  <a:pt x="490867" y="681608"/>
                </a:lnTo>
                <a:lnTo>
                  <a:pt x="537210" y="660654"/>
                </a:lnTo>
                <a:lnTo>
                  <a:pt x="579704" y="633730"/>
                </a:lnTo>
                <a:lnTo>
                  <a:pt x="617816" y="601472"/>
                </a:lnTo>
                <a:lnTo>
                  <a:pt x="650976" y="564388"/>
                </a:lnTo>
                <a:lnTo>
                  <a:pt x="678611" y="522986"/>
                </a:lnTo>
                <a:lnTo>
                  <a:pt x="700176" y="477900"/>
                </a:lnTo>
                <a:lnTo>
                  <a:pt x="715098" y="429513"/>
                </a:lnTo>
                <a:lnTo>
                  <a:pt x="722833" y="378587"/>
                </a:lnTo>
                <a:lnTo>
                  <a:pt x="723823" y="352298"/>
                </a:lnTo>
                <a:lnTo>
                  <a:pt x="722833" y="326008"/>
                </a:lnTo>
                <a:lnTo>
                  <a:pt x="715098" y="275081"/>
                </a:lnTo>
                <a:lnTo>
                  <a:pt x="700176" y="226822"/>
                </a:lnTo>
                <a:lnTo>
                  <a:pt x="678611" y="181610"/>
                </a:lnTo>
                <a:lnTo>
                  <a:pt x="650976" y="140335"/>
                </a:lnTo>
                <a:lnTo>
                  <a:pt x="617816" y="103250"/>
                </a:lnTo>
                <a:lnTo>
                  <a:pt x="579704" y="70866"/>
                </a:lnTo>
                <a:lnTo>
                  <a:pt x="537210" y="44068"/>
                </a:lnTo>
                <a:lnTo>
                  <a:pt x="490867" y="22987"/>
                </a:lnTo>
                <a:lnTo>
                  <a:pt x="441248" y="8508"/>
                </a:lnTo>
                <a:lnTo>
                  <a:pt x="388924" y="1016"/>
                </a:lnTo>
                <a:lnTo>
                  <a:pt x="361911" y="0"/>
                </a:lnTo>
                <a:close/>
              </a:path>
            </a:pathLst>
          </a:custGeom>
          <a:solidFill>
            <a:srgbClr val="7C45AD"/>
          </a:solidFill>
        </p:spPr>
        <p:txBody>
          <a:bodyPr wrap="square" lIns="0" tIns="0" rIns="0" bIns="0" rtlCol="0"/>
          <a:lstStyle/>
          <a:p>
            <a:endParaRPr/>
          </a:p>
        </p:txBody>
      </p:sp>
      <p:sp>
        <p:nvSpPr>
          <p:cNvPr id="9" name="object 9"/>
          <p:cNvSpPr txBox="1"/>
          <p:nvPr/>
        </p:nvSpPr>
        <p:spPr>
          <a:xfrm>
            <a:off x="1525905" y="2310130"/>
            <a:ext cx="3084830" cy="575310"/>
          </a:xfrm>
          <a:prstGeom prst="rect">
            <a:avLst/>
          </a:prstGeom>
        </p:spPr>
        <p:txBody>
          <a:bodyPr vert="horz" wrap="square" lIns="0" tIns="13335" rIns="0" bIns="0" rtlCol="0">
            <a:spAutoFit/>
          </a:bodyPr>
          <a:lstStyle/>
          <a:p>
            <a:pPr marL="12700">
              <a:lnSpc>
                <a:spcPct val="100000"/>
              </a:lnSpc>
              <a:spcBef>
                <a:spcPts val="105"/>
              </a:spcBef>
            </a:pPr>
            <a:r>
              <a:rPr sz="3600" b="1" spc="-25" dirty="0">
                <a:solidFill>
                  <a:srgbClr val="7C45AD"/>
                </a:solidFill>
                <a:latin typeface="Arial"/>
                <a:cs typeface="Arial"/>
              </a:rPr>
              <a:t>Specifications</a:t>
            </a:r>
            <a:endParaRPr sz="3600">
              <a:latin typeface="Arial"/>
              <a:cs typeface="Arial"/>
            </a:endParaRPr>
          </a:p>
        </p:txBody>
      </p:sp>
      <p:pic>
        <p:nvPicPr>
          <p:cNvPr id="10" name="object 10"/>
          <p:cNvPicPr/>
          <p:nvPr/>
        </p:nvPicPr>
        <p:blipFill>
          <a:blip r:embed="rId2" cstate="print"/>
          <a:stretch>
            <a:fillRect/>
          </a:stretch>
        </p:blipFill>
        <p:spPr>
          <a:xfrm>
            <a:off x="1533525" y="3181350"/>
            <a:ext cx="10010775" cy="828675"/>
          </a:xfrm>
          <a:prstGeom prst="rect">
            <a:avLst/>
          </a:prstGeom>
        </p:spPr>
      </p:pic>
      <p:pic>
        <p:nvPicPr>
          <p:cNvPr id="11" name="object 11"/>
          <p:cNvPicPr/>
          <p:nvPr/>
        </p:nvPicPr>
        <p:blipFill>
          <a:blip r:embed="rId2" cstate="print"/>
          <a:stretch>
            <a:fillRect/>
          </a:stretch>
        </p:blipFill>
        <p:spPr>
          <a:xfrm>
            <a:off x="1533525" y="4191000"/>
            <a:ext cx="10010775" cy="828675"/>
          </a:xfrm>
          <a:prstGeom prst="rect">
            <a:avLst/>
          </a:prstGeom>
        </p:spPr>
      </p:pic>
      <p:sp>
        <p:nvSpPr>
          <p:cNvPr id="12" name="object 12"/>
          <p:cNvSpPr txBox="1"/>
          <p:nvPr/>
        </p:nvSpPr>
        <p:spPr>
          <a:xfrm>
            <a:off x="1544955" y="4317110"/>
            <a:ext cx="5260340" cy="575310"/>
          </a:xfrm>
          <a:prstGeom prst="rect">
            <a:avLst/>
          </a:prstGeom>
        </p:spPr>
        <p:txBody>
          <a:bodyPr vert="horz" wrap="square" lIns="0" tIns="13335" rIns="0" bIns="0" rtlCol="0">
            <a:spAutoFit/>
          </a:bodyPr>
          <a:lstStyle/>
          <a:p>
            <a:pPr marL="12700">
              <a:lnSpc>
                <a:spcPct val="100000"/>
              </a:lnSpc>
              <a:spcBef>
                <a:spcPts val="105"/>
              </a:spcBef>
            </a:pPr>
            <a:r>
              <a:rPr sz="3600" b="1" dirty="0">
                <a:solidFill>
                  <a:srgbClr val="7C45AD"/>
                </a:solidFill>
                <a:latin typeface="Arial"/>
                <a:cs typeface="Arial"/>
              </a:rPr>
              <a:t>Low</a:t>
            </a:r>
            <a:r>
              <a:rPr sz="3600" b="1" spc="-60" dirty="0">
                <a:solidFill>
                  <a:srgbClr val="7C45AD"/>
                </a:solidFill>
                <a:latin typeface="Arial"/>
                <a:cs typeface="Arial"/>
              </a:rPr>
              <a:t> </a:t>
            </a:r>
            <a:r>
              <a:rPr sz="3600" b="1" dirty="0">
                <a:solidFill>
                  <a:srgbClr val="7C45AD"/>
                </a:solidFill>
                <a:latin typeface="Arial"/>
                <a:cs typeface="Arial"/>
              </a:rPr>
              <a:t>Level</a:t>
            </a:r>
            <a:r>
              <a:rPr sz="3600" b="1" spc="-40" dirty="0">
                <a:solidFill>
                  <a:srgbClr val="7C45AD"/>
                </a:solidFill>
                <a:latin typeface="Arial"/>
                <a:cs typeface="Arial"/>
              </a:rPr>
              <a:t> </a:t>
            </a:r>
            <a:r>
              <a:rPr sz="3600" b="1" dirty="0">
                <a:solidFill>
                  <a:srgbClr val="7C45AD"/>
                </a:solidFill>
                <a:latin typeface="Arial"/>
                <a:cs typeface="Arial"/>
              </a:rPr>
              <a:t>Block </a:t>
            </a:r>
            <a:r>
              <a:rPr sz="3600" b="1" spc="-10" dirty="0">
                <a:solidFill>
                  <a:srgbClr val="7C45AD"/>
                </a:solidFill>
                <a:latin typeface="Arial"/>
                <a:cs typeface="Arial"/>
              </a:rPr>
              <a:t>Design</a:t>
            </a:r>
            <a:endParaRPr sz="3600">
              <a:latin typeface="Arial"/>
              <a:cs typeface="Arial"/>
            </a:endParaRPr>
          </a:p>
        </p:txBody>
      </p:sp>
      <p:sp>
        <p:nvSpPr>
          <p:cNvPr id="13" name="object 13"/>
          <p:cNvSpPr/>
          <p:nvPr/>
        </p:nvSpPr>
        <p:spPr>
          <a:xfrm>
            <a:off x="552450" y="5267325"/>
            <a:ext cx="733425" cy="704850"/>
          </a:xfrm>
          <a:custGeom>
            <a:avLst/>
            <a:gdLst/>
            <a:ahLst/>
            <a:cxnLst/>
            <a:rect l="l" t="t" r="r" b="b"/>
            <a:pathLst>
              <a:path w="733425" h="704850">
                <a:moveTo>
                  <a:pt x="366674" y="0"/>
                </a:moveTo>
                <a:lnTo>
                  <a:pt x="312496" y="3809"/>
                </a:lnTo>
                <a:lnTo>
                  <a:pt x="260781" y="14859"/>
                </a:lnTo>
                <a:lnTo>
                  <a:pt x="212102" y="32765"/>
                </a:lnTo>
                <a:lnTo>
                  <a:pt x="167030" y="56768"/>
                </a:lnTo>
                <a:lnTo>
                  <a:pt x="126123" y="86359"/>
                </a:lnTo>
                <a:lnTo>
                  <a:pt x="89941" y="121158"/>
                </a:lnTo>
                <a:lnTo>
                  <a:pt x="59080" y="160528"/>
                </a:lnTo>
                <a:lnTo>
                  <a:pt x="34086" y="203834"/>
                </a:lnTo>
                <a:lnTo>
                  <a:pt x="15532" y="250571"/>
                </a:lnTo>
                <a:lnTo>
                  <a:pt x="3975" y="300228"/>
                </a:lnTo>
                <a:lnTo>
                  <a:pt x="0" y="352323"/>
                </a:lnTo>
                <a:lnTo>
                  <a:pt x="1003" y="378612"/>
                </a:lnTo>
                <a:lnTo>
                  <a:pt x="8839" y="429564"/>
                </a:lnTo>
                <a:lnTo>
                  <a:pt x="23964" y="477862"/>
                </a:lnTo>
                <a:lnTo>
                  <a:pt x="45808" y="522973"/>
                </a:lnTo>
                <a:lnTo>
                  <a:pt x="73812" y="564349"/>
                </a:lnTo>
                <a:lnTo>
                  <a:pt x="107403" y="601446"/>
                </a:lnTo>
                <a:lnTo>
                  <a:pt x="146011" y="633730"/>
                </a:lnTo>
                <a:lnTo>
                  <a:pt x="189077" y="660628"/>
                </a:lnTo>
                <a:lnTo>
                  <a:pt x="236029" y="681621"/>
                </a:lnTo>
                <a:lnTo>
                  <a:pt x="286296" y="696150"/>
                </a:lnTo>
                <a:lnTo>
                  <a:pt x="339318" y="703681"/>
                </a:lnTo>
                <a:lnTo>
                  <a:pt x="366674" y="704646"/>
                </a:lnTo>
                <a:lnTo>
                  <a:pt x="394042" y="703681"/>
                </a:lnTo>
                <a:lnTo>
                  <a:pt x="447052" y="696150"/>
                </a:lnTo>
                <a:lnTo>
                  <a:pt x="497319" y="681621"/>
                </a:lnTo>
                <a:lnTo>
                  <a:pt x="544271" y="660628"/>
                </a:lnTo>
                <a:lnTo>
                  <a:pt x="587336" y="633730"/>
                </a:lnTo>
                <a:lnTo>
                  <a:pt x="625944" y="601446"/>
                </a:lnTo>
                <a:lnTo>
                  <a:pt x="659536" y="564349"/>
                </a:lnTo>
                <a:lnTo>
                  <a:pt x="687539" y="522973"/>
                </a:lnTo>
                <a:lnTo>
                  <a:pt x="709383" y="477862"/>
                </a:lnTo>
                <a:lnTo>
                  <a:pt x="724535" y="429564"/>
                </a:lnTo>
                <a:lnTo>
                  <a:pt x="732409" y="378612"/>
                </a:lnTo>
                <a:lnTo>
                  <a:pt x="733297" y="352323"/>
                </a:lnTo>
                <a:lnTo>
                  <a:pt x="732409" y="326021"/>
                </a:lnTo>
                <a:lnTo>
                  <a:pt x="724535" y="275081"/>
                </a:lnTo>
                <a:lnTo>
                  <a:pt x="709383" y="226822"/>
                </a:lnTo>
                <a:lnTo>
                  <a:pt x="687539" y="181609"/>
                </a:lnTo>
                <a:lnTo>
                  <a:pt x="659536" y="140334"/>
                </a:lnTo>
                <a:lnTo>
                  <a:pt x="625944" y="103250"/>
                </a:lnTo>
                <a:lnTo>
                  <a:pt x="587336" y="70865"/>
                </a:lnTo>
                <a:lnTo>
                  <a:pt x="544271" y="44068"/>
                </a:lnTo>
                <a:lnTo>
                  <a:pt x="497319" y="22987"/>
                </a:lnTo>
                <a:lnTo>
                  <a:pt x="447052" y="8509"/>
                </a:lnTo>
                <a:lnTo>
                  <a:pt x="394042" y="1015"/>
                </a:lnTo>
                <a:lnTo>
                  <a:pt x="366674" y="0"/>
                </a:lnTo>
                <a:close/>
              </a:path>
            </a:pathLst>
          </a:custGeom>
          <a:solidFill>
            <a:srgbClr val="7C45AD"/>
          </a:solidFill>
        </p:spPr>
        <p:txBody>
          <a:bodyPr wrap="square" lIns="0" tIns="0" rIns="0" bIns="0" rtlCol="0"/>
          <a:lstStyle/>
          <a:p>
            <a:endParaRPr/>
          </a:p>
        </p:txBody>
      </p:sp>
      <p:sp>
        <p:nvSpPr>
          <p:cNvPr id="14" name="object 14"/>
          <p:cNvSpPr txBox="1"/>
          <p:nvPr/>
        </p:nvSpPr>
        <p:spPr>
          <a:xfrm>
            <a:off x="672147" y="1988883"/>
            <a:ext cx="439420" cy="4048760"/>
          </a:xfrm>
          <a:prstGeom prst="rect">
            <a:avLst/>
          </a:prstGeom>
        </p:spPr>
        <p:txBody>
          <a:bodyPr vert="horz" wrap="square" lIns="0" tIns="186690" rIns="0" bIns="0" rtlCol="0">
            <a:spAutoFit/>
          </a:bodyPr>
          <a:lstStyle/>
          <a:p>
            <a:pPr marL="21590">
              <a:lnSpc>
                <a:spcPct val="100000"/>
              </a:lnSpc>
              <a:spcBef>
                <a:spcPts val="1470"/>
              </a:spcBef>
            </a:pPr>
            <a:r>
              <a:rPr sz="5400" spc="-50" dirty="0">
                <a:solidFill>
                  <a:srgbClr val="FFFFFF"/>
                </a:solidFill>
                <a:latin typeface="Arial"/>
                <a:cs typeface="Arial"/>
              </a:rPr>
              <a:t>1</a:t>
            </a:r>
            <a:endParaRPr sz="5400">
              <a:latin typeface="Arial"/>
              <a:cs typeface="Arial"/>
            </a:endParaRPr>
          </a:p>
          <a:p>
            <a:pPr marL="21590">
              <a:lnSpc>
                <a:spcPct val="100000"/>
              </a:lnSpc>
              <a:spcBef>
                <a:spcPts val="1375"/>
              </a:spcBef>
            </a:pPr>
            <a:r>
              <a:rPr sz="5400" spc="-50" dirty="0">
                <a:solidFill>
                  <a:srgbClr val="FFFFFF"/>
                </a:solidFill>
                <a:latin typeface="Arial"/>
                <a:cs typeface="Arial"/>
              </a:rPr>
              <a:t>2</a:t>
            </a:r>
            <a:endParaRPr sz="5400">
              <a:latin typeface="Arial"/>
              <a:cs typeface="Arial"/>
            </a:endParaRPr>
          </a:p>
          <a:p>
            <a:pPr marL="12700">
              <a:lnSpc>
                <a:spcPct val="100000"/>
              </a:lnSpc>
              <a:spcBef>
                <a:spcPts val="1470"/>
              </a:spcBef>
            </a:pPr>
            <a:r>
              <a:rPr sz="5400" spc="-50" dirty="0">
                <a:solidFill>
                  <a:srgbClr val="FFFFFF"/>
                </a:solidFill>
                <a:latin typeface="Arial"/>
                <a:cs typeface="Arial"/>
              </a:rPr>
              <a:t>3</a:t>
            </a:r>
            <a:endParaRPr sz="5400">
              <a:latin typeface="Arial"/>
              <a:cs typeface="Arial"/>
            </a:endParaRPr>
          </a:p>
          <a:p>
            <a:pPr marL="44450">
              <a:lnSpc>
                <a:spcPct val="100000"/>
              </a:lnSpc>
              <a:spcBef>
                <a:spcPts val="1540"/>
              </a:spcBef>
            </a:pPr>
            <a:r>
              <a:rPr sz="5400" spc="-50" dirty="0">
                <a:solidFill>
                  <a:srgbClr val="FFFFFF"/>
                </a:solidFill>
                <a:latin typeface="Arial"/>
                <a:cs typeface="Arial"/>
              </a:rPr>
              <a:t>4</a:t>
            </a:r>
            <a:endParaRPr sz="5400">
              <a:latin typeface="Arial"/>
              <a:cs typeface="Arial"/>
            </a:endParaRPr>
          </a:p>
        </p:txBody>
      </p:sp>
      <p:pic>
        <p:nvPicPr>
          <p:cNvPr id="15" name="object 15"/>
          <p:cNvPicPr/>
          <p:nvPr/>
        </p:nvPicPr>
        <p:blipFill>
          <a:blip r:embed="rId2" cstate="print"/>
          <a:stretch>
            <a:fillRect/>
          </a:stretch>
        </p:blipFill>
        <p:spPr>
          <a:xfrm>
            <a:off x="1562100" y="5210175"/>
            <a:ext cx="10010775" cy="828675"/>
          </a:xfrm>
          <a:prstGeom prst="rect">
            <a:avLst/>
          </a:prstGeom>
        </p:spPr>
      </p:pic>
      <p:sp>
        <p:nvSpPr>
          <p:cNvPr id="16" name="object 16"/>
          <p:cNvSpPr txBox="1"/>
          <p:nvPr/>
        </p:nvSpPr>
        <p:spPr>
          <a:xfrm>
            <a:off x="1576705" y="5335587"/>
            <a:ext cx="7375525" cy="575310"/>
          </a:xfrm>
          <a:prstGeom prst="rect">
            <a:avLst/>
          </a:prstGeom>
        </p:spPr>
        <p:txBody>
          <a:bodyPr vert="horz" wrap="square" lIns="0" tIns="13335" rIns="0" bIns="0" rtlCol="0">
            <a:spAutoFit/>
          </a:bodyPr>
          <a:lstStyle/>
          <a:p>
            <a:pPr marL="12700">
              <a:lnSpc>
                <a:spcPct val="100000"/>
              </a:lnSpc>
              <a:spcBef>
                <a:spcPts val="105"/>
              </a:spcBef>
            </a:pPr>
            <a:r>
              <a:rPr sz="3600" b="1">
                <a:solidFill>
                  <a:srgbClr val="7C45AD"/>
                </a:solidFill>
                <a:latin typeface="Arial"/>
                <a:cs typeface="Arial"/>
              </a:rPr>
              <a:t>RTL</a:t>
            </a:r>
            <a:r>
              <a:rPr sz="3600" b="1" spc="-160">
                <a:solidFill>
                  <a:srgbClr val="7C45AD"/>
                </a:solidFill>
                <a:latin typeface="Arial"/>
                <a:cs typeface="Arial"/>
              </a:rPr>
              <a:t> </a:t>
            </a:r>
            <a:r>
              <a:rPr lang="en-US" sz="3600" b="1" spc="-10">
                <a:solidFill>
                  <a:srgbClr val="7C45AD"/>
                </a:solidFill>
                <a:latin typeface="Arial"/>
                <a:cs typeface="Arial"/>
              </a:rPr>
              <a:t>Verification</a:t>
            </a:r>
            <a:endParaRPr sz="3600">
              <a:latin typeface="Arial"/>
              <a:cs typeface="Arial"/>
            </a:endParaRPr>
          </a:p>
        </p:txBody>
      </p:sp>
      <p:sp>
        <p:nvSpPr>
          <p:cNvPr id="18" name="object 18"/>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19" name="object 19"/>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a:t>
            </a:fld>
            <a:endParaRPr spc="-25" dirty="0"/>
          </a:p>
        </p:txBody>
      </p:sp>
      <p:sp>
        <p:nvSpPr>
          <p:cNvPr id="20" name="object 20"/>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17" name="object 17"/>
          <p:cNvSpPr txBox="1"/>
          <p:nvPr/>
        </p:nvSpPr>
        <p:spPr>
          <a:xfrm>
            <a:off x="1569085" y="3303904"/>
            <a:ext cx="5289550" cy="575310"/>
          </a:xfrm>
          <a:prstGeom prst="rect">
            <a:avLst/>
          </a:prstGeom>
        </p:spPr>
        <p:txBody>
          <a:bodyPr vert="horz" wrap="square" lIns="0" tIns="13335" rIns="0" bIns="0" rtlCol="0">
            <a:spAutoFit/>
          </a:bodyPr>
          <a:lstStyle/>
          <a:p>
            <a:pPr marL="12700">
              <a:lnSpc>
                <a:spcPct val="100000"/>
              </a:lnSpc>
              <a:spcBef>
                <a:spcPts val="105"/>
              </a:spcBef>
            </a:pPr>
            <a:r>
              <a:rPr sz="3600" b="1" dirty="0">
                <a:solidFill>
                  <a:srgbClr val="7C45AD"/>
                </a:solidFill>
                <a:latin typeface="Arial"/>
                <a:cs typeface="Arial"/>
              </a:rPr>
              <a:t>High</a:t>
            </a:r>
            <a:r>
              <a:rPr sz="3600" b="1" spc="-175" dirty="0">
                <a:solidFill>
                  <a:srgbClr val="7C45AD"/>
                </a:solidFill>
                <a:latin typeface="Arial"/>
                <a:cs typeface="Arial"/>
              </a:rPr>
              <a:t> </a:t>
            </a:r>
            <a:r>
              <a:rPr sz="3600" b="1" dirty="0">
                <a:solidFill>
                  <a:srgbClr val="7C45AD"/>
                </a:solidFill>
                <a:latin typeface="Arial"/>
                <a:cs typeface="Arial"/>
              </a:rPr>
              <a:t>Level</a:t>
            </a:r>
            <a:r>
              <a:rPr sz="3600" b="1" spc="-165" dirty="0">
                <a:solidFill>
                  <a:srgbClr val="7C45AD"/>
                </a:solidFill>
                <a:latin typeface="Arial"/>
                <a:cs typeface="Arial"/>
              </a:rPr>
              <a:t> </a:t>
            </a:r>
            <a:r>
              <a:rPr sz="3600" b="1" dirty="0">
                <a:solidFill>
                  <a:srgbClr val="7C45AD"/>
                </a:solidFill>
                <a:latin typeface="Arial"/>
                <a:cs typeface="Arial"/>
              </a:rPr>
              <a:t>Block</a:t>
            </a:r>
            <a:r>
              <a:rPr sz="3600" b="1" spc="-185" dirty="0">
                <a:solidFill>
                  <a:srgbClr val="7C45AD"/>
                </a:solidFill>
                <a:latin typeface="Arial"/>
                <a:cs typeface="Arial"/>
              </a:rPr>
              <a:t> </a:t>
            </a:r>
            <a:r>
              <a:rPr sz="3600" b="1" spc="-10" dirty="0">
                <a:solidFill>
                  <a:srgbClr val="7C45AD"/>
                </a:solidFill>
                <a:latin typeface="Arial"/>
                <a:cs typeface="Arial"/>
              </a:rPr>
              <a:t>Design</a:t>
            </a:r>
            <a:endParaRPr sz="3600">
              <a:latin typeface="Arial"/>
              <a:cs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21017" y="2200274"/>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4" name="object 4"/>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a:t>
            </a:fld>
            <a:endParaRPr spc="-25" dirty="0"/>
          </a:p>
        </p:txBody>
      </p:sp>
      <p:sp>
        <p:nvSpPr>
          <p:cNvPr id="5" name="object 5"/>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4</a:t>
            </a:fld>
            <a:endParaRPr spc="-25" dirty="0"/>
          </a:p>
        </p:txBody>
      </p:sp>
      <p:sp>
        <p:nvSpPr>
          <p:cNvPr id="6" name="object 6"/>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7" name="object 3">
            <a:extLst>
              <a:ext uri="{FF2B5EF4-FFF2-40B4-BE49-F238E27FC236}">
                <a16:creationId xmlns:a16="http://schemas.microsoft.com/office/drawing/2014/main" id="{CA90AF8F-A1B1-B0EF-BD90-25C3457FA1F5}"/>
              </a:ext>
            </a:extLst>
          </p:cNvPr>
          <p:cNvSpPr txBox="1"/>
          <p:nvPr/>
        </p:nvSpPr>
        <p:spPr>
          <a:xfrm>
            <a:off x="457200" y="1121155"/>
            <a:ext cx="80260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a:t>
            </a:r>
            <a:r>
              <a:rPr sz="3000" b="1">
                <a:solidFill>
                  <a:srgbClr val="7C45AD"/>
                </a:solidFill>
                <a:latin typeface="Arial"/>
                <a:cs typeface="Arial"/>
              </a:rPr>
              <a:t>.1</a:t>
            </a:r>
            <a:r>
              <a:rPr lang="en-US" sz="3000" b="1">
                <a:solidFill>
                  <a:srgbClr val="7C45AD"/>
                </a:solidFill>
                <a:latin typeface="Arial"/>
                <a:cs typeface="Arial"/>
              </a:rPr>
              <a:t> Overview of the AMBA specification</a:t>
            </a:r>
          </a:p>
        </p:txBody>
      </p:sp>
      <p:sp>
        <p:nvSpPr>
          <p:cNvPr id="9" name="TextBox 8">
            <a:extLst>
              <a:ext uri="{FF2B5EF4-FFF2-40B4-BE49-F238E27FC236}">
                <a16:creationId xmlns:a16="http://schemas.microsoft.com/office/drawing/2014/main" id="{370CF898-9432-7BB6-6633-F407E9A3D23A}"/>
              </a:ext>
            </a:extLst>
          </p:cNvPr>
          <p:cNvSpPr txBox="1"/>
          <p:nvPr/>
        </p:nvSpPr>
        <p:spPr>
          <a:xfrm>
            <a:off x="508316" y="1905000"/>
            <a:ext cx="11033443" cy="646331"/>
          </a:xfrm>
          <a:prstGeom prst="rect">
            <a:avLst/>
          </a:prstGeom>
          <a:noFill/>
        </p:spPr>
        <p:txBody>
          <a:bodyPr wrap="square">
            <a:spAutoFit/>
          </a:bodyPr>
          <a:lstStyle/>
          <a:p>
            <a:pPr algn="just"/>
            <a:r>
              <a:rPr lang="en-US"/>
              <a:t>The Advanced Microcontroller Bus Architecture (AMBA) specification defines an on-chip communications standard for designing high-performance embedded microcontrollers. </a:t>
            </a:r>
          </a:p>
        </p:txBody>
      </p:sp>
      <p:sp>
        <p:nvSpPr>
          <p:cNvPr id="11" name="TextBox 10">
            <a:extLst>
              <a:ext uri="{FF2B5EF4-FFF2-40B4-BE49-F238E27FC236}">
                <a16:creationId xmlns:a16="http://schemas.microsoft.com/office/drawing/2014/main" id="{AE1AFCB2-CB93-363F-C556-64F9790378B6}"/>
              </a:ext>
            </a:extLst>
          </p:cNvPr>
          <p:cNvSpPr txBox="1"/>
          <p:nvPr/>
        </p:nvSpPr>
        <p:spPr>
          <a:xfrm>
            <a:off x="508315" y="2860046"/>
            <a:ext cx="11033443" cy="1477328"/>
          </a:xfrm>
          <a:prstGeom prst="rect">
            <a:avLst/>
          </a:prstGeom>
          <a:noFill/>
        </p:spPr>
        <p:txBody>
          <a:bodyPr wrap="square">
            <a:spAutoFit/>
          </a:bodyPr>
          <a:lstStyle/>
          <a:p>
            <a:r>
              <a:rPr lang="en-US"/>
              <a:t>Four distinct buses are defined within the AMBA specification: </a:t>
            </a:r>
          </a:p>
          <a:p>
            <a:pPr marL="285750" indent="-285750">
              <a:buFont typeface="Arial" panose="020B0604020202020204" pitchFamily="34" charset="0"/>
              <a:buChar char="•"/>
            </a:pPr>
            <a:r>
              <a:rPr lang="en-US"/>
              <a:t>The Advanced High-performance Bus (AHB) </a:t>
            </a:r>
          </a:p>
          <a:p>
            <a:pPr marL="285750" indent="-285750">
              <a:buFont typeface="Arial" panose="020B0604020202020204" pitchFamily="34" charset="0"/>
              <a:buChar char="•"/>
            </a:pPr>
            <a:r>
              <a:rPr lang="en-US"/>
              <a:t>The Advanced System Bus (ASB) </a:t>
            </a:r>
          </a:p>
          <a:p>
            <a:pPr marL="285750" indent="-285750">
              <a:buFont typeface="Arial" panose="020B0604020202020204" pitchFamily="34" charset="0"/>
              <a:buChar char="•"/>
            </a:pPr>
            <a:r>
              <a:rPr lang="en-US"/>
              <a:t>The Advanced Peripheral Bus (APB).</a:t>
            </a:r>
          </a:p>
          <a:p>
            <a:pPr marL="285750" indent="-285750">
              <a:buFont typeface="Arial" panose="020B0604020202020204" pitchFamily="34" charset="0"/>
              <a:buChar char="•"/>
            </a:pPr>
            <a:r>
              <a:rPr lang="en-US"/>
              <a:t>The Advanced eXtensible Interface (AXI)</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6882D64-296B-AE06-F3ED-A3F2DCA6316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0406709-AAAC-D022-4C7F-499D455EF526}"/>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5973D2DD-C4AE-ECBC-1339-AF01FB4C85C9}"/>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5</a:t>
            </a:fld>
            <a:endParaRPr spc="-25" dirty="0"/>
          </a:p>
        </p:txBody>
      </p:sp>
      <p:sp>
        <p:nvSpPr>
          <p:cNvPr id="6" name="object 6">
            <a:extLst>
              <a:ext uri="{FF2B5EF4-FFF2-40B4-BE49-F238E27FC236}">
                <a16:creationId xmlns:a16="http://schemas.microsoft.com/office/drawing/2014/main" id="{0D37DA53-6538-8EF1-6D4D-E6E6994C498D}"/>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CC2AF74A-0505-40E7-0992-BC4A047D838D}"/>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pic>
        <p:nvPicPr>
          <p:cNvPr id="7" name="Picture 6" descr="A diagram of a computer network&#10;&#10;AI-generated content may be incorrect.">
            <a:extLst>
              <a:ext uri="{FF2B5EF4-FFF2-40B4-BE49-F238E27FC236}">
                <a16:creationId xmlns:a16="http://schemas.microsoft.com/office/drawing/2014/main" id="{666DF2CB-F4DB-D5BA-07D7-4A9F73F0344E}"/>
              </a:ext>
            </a:extLst>
          </p:cNvPr>
          <p:cNvPicPr>
            <a:picLocks noChangeAspect="1"/>
          </p:cNvPicPr>
          <p:nvPr/>
        </p:nvPicPr>
        <p:blipFill>
          <a:blip r:embed="rId2"/>
          <a:stretch>
            <a:fillRect/>
          </a:stretch>
        </p:blipFill>
        <p:spPr>
          <a:xfrm>
            <a:off x="3354871" y="1731940"/>
            <a:ext cx="5482127" cy="2333550"/>
          </a:xfrm>
          <a:prstGeom prst="rect">
            <a:avLst/>
          </a:prstGeom>
        </p:spPr>
      </p:pic>
      <p:sp>
        <p:nvSpPr>
          <p:cNvPr id="10" name="object 3">
            <a:extLst>
              <a:ext uri="{FF2B5EF4-FFF2-40B4-BE49-F238E27FC236}">
                <a16:creationId xmlns:a16="http://schemas.microsoft.com/office/drawing/2014/main" id="{B7F44AE8-83E5-6CD3-DB7F-94A161121CFF}"/>
              </a:ext>
            </a:extLst>
          </p:cNvPr>
          <p:cNvSpPr txBox="1"/>
          <p:nvPr/>
        </p:nvSpPr>
        <p:spPr>
          <a:xfrm>
            <a:off x="457200" y="1121155"/>
            <a:ext cx="80260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a:t>
            </a:r>
            <a:r>
              <a:rPr sz="3000" b="1">
                <a:solidFill>
                  <a:srgbClr val="7C45AD"/>
                </a:solidFill>
                <a:latin typeface="Arial"/>
                <a:cs typeface="Arial"/>
              </a:rPr>
              <a:t>.1</a:t>
            </a:r>
            <a:r>
              <a:rPr lang="en-US" sz="3000" b="1">
                <a:solidFill>
                  <a:srgbClr val="7C45AD"/>
                </a:solidFill>
                <a:latin typeface="Arial"/>
                <a:cs typeface="Arial"/>
              </a:rPr>
              <a:t> Overview of the AMBA specification</a:t>
            </a:r>
          </a:p>
        </p:txBody>
      </p:sp>
      <p:graphicFrame>
        <p:nvGraphicFramePr>
          <p:cNvPr id="11" name="Table 10">
            <a:extLst>
              <a:ext uri="{FF2B5EF4-FFF2-40B4-BE49-F238E27FC236}">
                <a16:creationId xmlns:a16="http://schemas.microsoft.com/office/drawing/2014/main" id="{EF8FEA09-FD6B-2324-A111-EF7675A50F92}"/>
              </a:ext>
            </a:extLst>
          </p:cNvPr>
          <p:cNvGraphicFramePr>
            <a:graphicFrameLocks noGrp="1"/>
          </p:cNvGraphicFramePr>
          <p:nvPr>
            <p:extLst>
              <p:ext uri="{D42A27DB-BD31-4B8C-83A1-F6EECF244321}">
                <p14:modId xmlns:p14="http://schemas.microsoft.com/office/powerpoint/2010/main" val="3577031098"/>
              </p:ext>
            </p:extLst>
          </p:nvPr>
        </p:nvGraphicFramePr>
        <p:xfrm>
          <a:off x="820356" y="4173694"/>
          <a:ext cx="10551159" cy="2225040"/>
        </p:xfrm>
        <a:graphic>
          <a:graphicData uri="http://schemas.openxmlformats.org/drawingml/2006/table">
            <a:tbl>
              <a:tblPr firstRow="1" bandRow="1">
                <a:tableStyleId>{5C22544A-7EE6-4342-B048-85BDC9FD1C3A}</a:tableStyleId>
              </a:tblPr>
              <a:tblGrid>
                <a:gridCol w="3517053">
                  <a:extLst>
                    <a:ext uri="{9D8B030D-6E8A-4147-A177-3AD203B41FA5}">
                      <a16:colId xmlns:a16="http://schemas.microsoft.com/office/drawing/2014/main" val="1205175989"/>
                    </a:ext>
                  </a:extLst>
                </a:gridCol>
                <a:gridCol w="3517053">
                  <a:extLst>
                    <a:ext uri="{9D8B030D-6E8A-4147-A177-3AD203B41FA5}">
                      <a16:colId xmlns:a16="http://schemas.microsoft.com/office/drawing/2014/main" val="948741232"/>
                    </a:ext>
                  </a:extLst>
                </a:gridCol>
                <a:gridCol w="3517053">
                  <a:extLst>
                    <a:ext uri="{9D8B030D-6E8A-4147-A177-3AD203B41FA5}">
                      <a16:colId xmlns:a16="http://schemas.microsoft.com/office/drawing/2014/main" val="3842210722"/>
                    </a:ext>
                  </a:extLst>
                </a:gridCol>
              </a:tblGrid>
              <a:tr h="370840">
                <a:tc>
                  <a:txBody>
                    <a:bodyPr/>
                    <a:lstStyle/>
                    <a:p>
                      <a:pPr algn="ctr"/>
                      <a:r>
                        <a:rPr lang="en-US">
                          <a:solidFill>
                            <a:schemeClr val="bg1"/>
                          </a:solidFill>
                          <a:latin typeface="Arial" panose="020B0604020202020204" pitchFamily="34" charset="0"/>
                          <a:cs typeface="Arial" panose="020B0604020202020204" pitchFamily="34" charset="0"/>
                        </a:rPr>
                        <a:t>AMBA AHB</a:t>
                      </a:r>
                    </a:p>
                  </a:txBody>
                  <a:tcPr>
                    <a:solidFill>
                      <a:srgbClr val="7030A0"/>
                    </a:solidFill>
                  </a:tcPr>
                </a:tc>
                <a:tc>
                  <a:txBody>
                    <a:bodyPr/>
                    <a:lstStyle/>
                    <a:p>
                      <a:pPr algn="ctr"/>
                      <a:r>
                        <a:rPr lang="en-US">
                          <a:solidFill>
                            <a:schemeClr val="bg1"/>
                          </a:solidFill>
                          <a:latin typeface="Arial" panose="020B0604020202020204" pitchFamily="34" charset="0"/>
                          <a:cs typeface="Arial" panose="020B0604020202020204" pitchFamily="34" charset="0"/>
                        </a:rPr>
                        <a:t>AMBA ASB</a:t>
                      </a:r>
                    </a:p>
                  </a:txBody>
                  <a:tcPr>
                    <a:solidFill>
                      <a:srgbClr val="7030A0"/>
                    </a:solidFill>
                  </a:tcPr>
                </a:tc>
                <a:tc>
                  <a:txBody>
                    <a:bodyPr/>
                    <a:lstStyle/>
                    <a:p>
                      <a:pPr algn="ctr"/>
                      <a:r>
                        <a:rPr lang="en-US">
                          <a:solidFill>
                            <a:schemeClr val="bg1"/>
                          </a:solidFill>
                          <a:latin typeface="Arial" panose="020B0604020202020204" pitchFamily="34" charset="0"/>
                          <a:cs typeface="Arial" panose="020B0604020202020204" pitchFamily="34" charset="0"/>
                        </a:rPr>
                        <a:t>AMBA APB</a:t>
                      </a:r>
                    </a:p>
                  </a:txBody>
                  <a:tcPr>
                    <a:solidFill>
                      <a:srgbClr val="7030A0"/>
                    </a:solidFill>
                  </a:tcPr>
                </a:tc>
                <a:extLst>
                  <a:ext uri="{0D108BD9-81ED-4DB2-BD59-A6C34878D82A}">
                    <a16:rowId xmlns:a16="http://schemas.microsoft.com/office/drawing/2014/main" val="2965510425"/>
                  </a:ext>
                </a:extLst>
              </a:tr>
              <a:tr h="370840">
                <a:tc>
                  <a:txBody>
                    <a:bodyPr/>
                    <a:lstStyle/>
                    <a:p>
                      <a:r>
                        <a:rPr lang="en-US">
                          <a:latin typeface="Arial" panose="020B0604020202020204" pitchFamily="34" charset="0"/>
                          <a:cs typeface="Arial" panose="020B0604020202020204" pitchFamily="34" charset="0"/>
                        </a:rPr>
                        <a:t>High performance</a:t>
                      </a:r>
                    </a:p>
                  </a:txBody>
                  <a:tcPr/>
                </a:tc>
                <a:tc>
                  <a:txBody>
                    <a:bodyPr/>
                    <a:lstStyle/>
                    <a:p>
                      <a:r>
                        <a:rPr lang="en-US">
                          <a:latin typeface="Arial" panose="020B0604020202020204" pitchFamily="34" charset="0"/>
                          <a:cs typeface="Arial" panose="020B0604020202020204" pitchFamily="34" charset="0"/>
                        </a:rPr>
                        <a:t>High performance</a:t>
                      </a:r>
                    </a:p>
                  </a:txBody>
                  <a:tcPr/>
                </a:tc>
                <a:tc>
                  <a:txBody>
                    <a:bodyPr/>
                    <a:lstStyle/>
                    <a:p>
                      <a:r>
                        <a:rPr lang="en-US">
                          <a:latin typeface="Arial" panose="020B0604020202020204" pitchFamily="34" charset="0"/>
                          <a:cs typeface="Arial" panose="020B0604020202020204" pitchFamily="34" charset="0"/>
                        </a:rPr>
                        <a:t>Low power</a:t>
                      </a:r>
                    </a:p>
                  </a:txBody>
                  <a:tcPr/>
                </a:tc>
                <a:extLst>
                  <a:ext uri="{0D108BD9-81ED-4DB2-BD59-A6C34878D82A}">
                    <a16:rowId xmlns:a16="http://schemas.microsoft.com/office/drawing/2014/main" val="3700784814"/>
                  </a:ext>
                </a:extLst>
              </a:tr>
              <a:tr h="370840">
                <a:tc>
                  <a:txBody>
                    <a:bodyPr/>
                    <a:lstStyle/>
                    <a:p>
                      <a:r>
                        <a:rPr lang="en-US">
                          <a:latin typeface="Arial" panose="020B0604020202020204" pitchFamily="34" charset="0"/>
                          <a:cs typeface="Arial" panose="020B0604020202020204" pitchFamily="34" charset="0"/>
                        </a:rPr>
                        <a:t>Pipelined operation</a:t>
                      </a:r>
                    </a:p>
                  </a:txBody>
                  <a:tcPr/>
                </a:tc>
                <a:tc>
                  <a:txBody>
                    <a:bodyPr/>
                    <a:lstStyle/>
                    <a:p>
                      <a:r>
                        <a:rPr lang="en-US">
                          <a:latin typeface="Arial" panose="020B0604020202020204" pitchFamily="34" charset="0"/>
                          <a:cs typeface="Arial" panose="020B0604020202020204" pitchFamily="34" charset="0"/>
                        </a:rPr>
                        <a:t>Pipelined operation</a:t>
                      </a:r>
                    </a:p>
                  </a:txBody>
                  <a:tcPr/>
                </a:tc>
                <a:tc>
                  <a:txBody>
                    <a:bodyPr/>
                    <a:lstStyle/>
                    <a:p>
                      <a:r>
                        <a:rPr lang="en-US">
                          <a:latin typeface="Arial" panose="020B0604020202020204" pitchFamily="34" charset="0"/>
                          <a:cs typeface="Arial" panose="020B0604020202020204" pitchFamily="34" charset="0"/>
                        </a:rPr>
                        <a:t>Latched address and control</a:t>
                      </a:r>
                    </a:p>
                  </a:txBody>
                  <a:tcPr/>
                </a:tc>
                <a:extLst>
                  <a:ext uri="{0D108BD9-81ED-4DB2-BD59-A6C34878D82A}">
                    <a16:rowId xmlns:a16="http://schemas.microsoft.com/office/drawing/2014/main" val="2058006778"/>
                  </a:ext>
                </a:extLst>
              </a:tr>
              <a:tr h="370840">
                <a:tc>
                  <a:txBody>
                    <a:bodyPr/>
                    <a:lstStyle/>
                    <a:p>
                      <a:r>
                        <a:rPr lang="en-US">
                          <a:latin typeface="Arial" panose="020B0604020202020204" pitchFamily="34" charset="0"/>
                          <a:cs typeface="Arial" panose="020B0604020202020204" pitchFamily="34" charset="0"/>
                        </a:rPr>
                        <a:t>Multiple bus masters</a:t>
                      </a:r>
                    </a:p>
                  </a:txBody>
                  <a:tcPr/>
                </a:tc>
                <a:tc>
                  <a:txBody>
                    <a:bodyPr/>
                    <a:lstStyle/>
                    <a:p>
                      <a:r>
                        <a:rPr lang="en-US">
                          <a:latin typeface="Arial" panose="020B0604020202020204" pitchFamily="34" charset="0"/>
                          <a:cs typeface="Arial" panose="020B0604020202020204" pitchFamily="34" charset="0"/>
                        </a:rPr>
                        <a:t>Multiple bus masters</a:t>
                      </a:r>
                    </a:p>
                  </a:txBody>
                  <a:tcPr/>
                </a:tc>
                <a:tc>
                  <a:txBody>
                    <a:bodyPr/>
                    <a:lstStyle/>
                    <a:p>
                      <a:r>
                        <a:rPr lang="en-US">
                          <a:latin typeface="Arial" panose="020B0604020202020204" pitchFamily="34" charset="0"/>
                          <a:cs typeface="Arial" panose="020B0604020202020204" pitchFamily="34" charset="0"/>
                        </a:rPr>
                        <a:t>Simple interface</a:t>
                      </a:r>
                    </a:p>
                  </a:txBody>
                  <a:tcPr/>
                </a:tc>
                <a:extLst>
                  <a:ext uri="{0D108BD9-81ED-4DB2-BD59-A6C34878D82A}">
                    <a16:rowId xmlns:a16="http://schemas.microsoft.com/office/drawing/2014/main" val="302855955"/>
                  </a:ext>
                </a:extLst>
              </a:tr>
              <a:tr h="370840">
                <a:tc>
                  <a:txBody>
                    <a:bodyPr/>
                    <a:lstStyle/>
                    <a:p>
                      <a:r>
                        <a:rPr lang="en-US">
                          <a:latin typeface="Arial" panose="020B0604020202020204" pitchFamily="34" charset="0"/>
                          <a:cs typeface="Arial" panose="020B0604020202020204" pitchFamily="34" charset="0"/>
                        </a:rPr>
                        <a:t>Burst transfers</a:t>
                      </a:r>
                    </a:p>
                  </a:txBody>
                  <a:tcPr/>
                </a:tc>
                <a:tc>
                  <a:txBody>
                    <a:bodyPr/>
                    <a:lstStyle/>
                    <a:p>
                      <a:endParaRPr lang="en-US">
                        <a:latin typeface="Arial" panose="020B0604020202020204" pitchFamily="34" charset="0"/>
                        <a:cs typeface="Arial" panose="020B0604020202020204" pitchFamily="34" charset="0"/>
                      </a:endParaRPr>
                    </a:p>
                  </a:txBody>
                  <a:tcPr/>
                </a:tc>
                <a:tc>
                  <a:txBody>
                    <a:bodyPr/>
                    <a:lstStyle/>
                    <a:p>
                      <a:r>
                        <a:rPr lang="en-US">
                          <a:latin typeface="Arial" panose="020B0604020202020204" pitchFamily="34" charset="0"/>
                          <a:cs typeface="Arial" panose="020B0604020202020204" pitchFamily="34" charset="0"/>
                        </a:rPr>
                        <a:t>Suitable for many peripherals</a:t>
                      </a:r>
                    </a:p>
                  </a:txBody>
                  <a:tcPr/>
                </a:tc>
                <a:extLst>
                  <a:ext uri="{0D108BD9-81ED-4DB2-BD59-A6C34878D82A}">
                    <a16:rowId xmlns:a16="http://schemas.microsoft.com/office/drawing/2014/main" val="2842609111"/>
                  </a:ext>
                </a:extLst>
              </a:tr>
              <a:tr h="370840">
                <a:tc>
                  <a:txBody>
                    <a:bodyPr/>
                    <a:lstStyle/>
                    <a:p>
                      <a:r>
                        <a:rPr lang="en-US">
                          <a:latin typeface="Arial" panose="020B0604020202020204" pitchFamily="34" charset="0"/>
                          <a:cs typeface="Arial" panose="020B0604020202020204" pitchFamily="34" charset="0"/>
                        </a:rPr>
                        <a:t>Split transactions</a:t>
                      </a:r>
                    </a:p>
                  </a:txBody>
                  <a:tcPr/>
                </a:tc>
                <a:tc>
                  <a:txBody>
                    <a:bodyPr/>
                    <a:lstStyle/>
                    <a:p>
                      <a:endParaRPr lang="en-US">
                        <a:latin typeface="Arial" panose="020B0604020202020204" pitchFamily="34" charset="0"/>
                        <a:cs typeface="Arial" panose="020B0604020202020204" pitchFamily="34" charset="0"/>
                      </a:endParaRPr>
                    </a:p>
                  </a:txBody>
                  <a:tcPr/>
                </a:tc>
                <a:tc>
                  <a:txBody>
                    <a:bodyPr/>
                    <a:lstStyle/>
                    <a:p>
                      <a:endParaRPr lang="en-US">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793419668"/>
                  </a:ext>
                </a:extLst>
              </a:tr>
            </a:tbl>
          </a:graphicData>
        </a:graphic>
      </p:graphicFrame>
    </p:spTree>
    <p:extLst>
      <p:ext uri="{BB962C8B-B14F-4D97-AF65-F5344CB8AC3E}">
        <p14:creationId xmlns:p14="http://schemas.microsoft.com/office/powerpoint/2010/main" val="36770483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1786253-47BB-7673-7EB4-192BD2E93E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947DC8-A7DB-A658-973E-3AF4DA008590}"/>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CFA55BEF-06C6-DEB0-1334-B092948F9F7C}"/>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6</a:t>
            </a:fld>
            <a:endParaRPr spc="-25" dirty="0"/>
          </a:p>
        </p:txBody>
      </p:sp>
      <p:sp>
        <p:nvSpPr>
          <p:cNvPr id="6" name="object 6">
            <a:extLst>
              <a:ext uri="{FF2B5EF4-FFF2-40B4-BE49-F238E27FC236}">
                <a16:creationId xmlns:a16="http://schemas.microsoft.com/office/drawing/2014/main" id="{66321DB0-A283-6FCA-D2CB-98F51F0D8FA4}"/>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3D0569AC-20A4-51BE-F3D8-D20BFB18EDE8}"/>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2C0267B7-7BB2-F54F-2E1B-C146C71E4EFC}"/>
              </a:ext>
            </a:extLst>
          </p:cNvPr>
          <p:cNvSpPr txBox="1"/>
          <p:nvPr/>
        </p:nvSpPr>
        <p:spPr>
          <a:xfrm>
            <a:off x="457200" y="1121155"/>
            <a:ext cx="10896600" cy="936795"/>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1.2 Key features of the AMBA Advanced Peripheral Bus (APB)</a:t>
            </a:r>
          </a:p>
        </p:txBody>
      </p:sp>
      <p:sp>
        <p:nvSpPr>
          <p:cNvPr id="11" name="TextBox 10">
            <a:extLst>
              <a:ext uri="{FF2B5EF4-FFF2-40B4-BE49-F238E27FC236}">
                <a16:creationId xmlns:a16="http://schemas.microsoft.com/office/drawing/2014/main" id="{16B9ADF1-5153-190E-207F-9AF90A0149BC}"/>
              </a:ext>
            </a:extLst>
          </p:cNvPr>
          <p:cNvSpPr txBox="1"/>
          <p:nvPr/>
        </p:nvSpPr>
        <p:spPr>
          <a:xfrm>
            <a:off x="457200" y="2448331"/>
            <a:ext cx="11039538" cy="646331"/>
          </a:xfrm>
          <a:prstGeom prst="rect">
            <a:avLst/>
          </a:prstGeom>
          <a:noFill/>
        </p:spPr>
        <p:txBody>
          <a:bodyPr wrap="square">
            <a:spAutoFit/>
          </a:bodyPr>
          <a:lstStyle/>
          <a:p>
            <a:pPr algn="just"/>
            <a:r>
              <a:rPr lang="en-US" b="1"/>
              <a:t>Low-cost interface: </a:t>
            </a:r>
            <a:r>
              <a:rPr lang="en-US"/>
              <a:t>APB is designed with a simple architecture that minimizes hardware resources and implementation cost.</a:t>
            </a:r>
          </a:p>
        </p:txBody>
      </p:sp>
      <p:sp>
        <p:nvSpPr>
          <p:cNvPr id="14" name="TextBox 13">
            <a:extLst>
              <a:ext uri="{FF2B5EF4-FFF2-40B4-BE49-F238E27FC236}">
                <a16:creationId xmlns:a16="http://schemas.microsoft.com/office/drawing/2014/main" id="{6F5AF708-94B5-BDA7-CDCC-8DF26A47E5E8}"/>
              </a:ext>
            </a:extLst>
          </p:cNvPr>
          <p:cNvSpPr txBox="1"/>
          <p:nvPr/>
        </p:nvSpPr>
        <p:spPr>
          <a:xfrm>
            <a:off x="457199" y="4480180"/>
            <a:ext cx="10991469" cy="369332"/>
          </a:xfrm>
          <a:prstGeom prst="rect">
            <a:avLst/>
          </a:prstGeom>
          <a:noFill/>
        </p:spPr>
        <p:txBody>
          <a:bodyPr wrap="square">
            <a:spAutoFit/>
          </a:bodyPr>
          <a:lstStyle/>
          <a:p>
            <a:pPr algn="just"/>
            <a:r>
              <a:rPr lang="en-US" b="1"/>
              <a:t>Non-pipelined operation: </a:t>
            </a:r>
            <a:r>
              <a:rPr lang="en-US"/>
              <a:t>Transfers are performed sequentially without overlapping phases.</a:t>
            </a:r>
          </a:p>
        </p:txBody>
      </p:sp>
      <p:sp>
        <p:nvSpPr>
          <p:cNvPr id="16" name="TextBox 15">
            <a:extLst>
              <a:ext uri="{FF2B5EF4-FFF2-40B4-BE49-F238E27FC236}">
                <a16:creationId xmlns:a16="http://schemas.microsoft.com/office/drawing/2014/main" id="{2C94EB7B-3133-A09D-4ED7-BCA30F57217A}"/>
              </a:ext>
            </a:extLst>
          </p:cNvPr>
          <p:cNvSpPr txBox="1"/>
          <p:nvPr/>
        </p:nvSpPr>
        <p:spPr>
          <a:xfrm>
            <a:off x="457200" y="3986251"/>
            <a:ext cx="10991469" cy="369332"/>
          </a:xfrm>
          <a:prstGeom prst="rect">
            <a:avLst/>
          </a:prstGeom>
          <a:noFill/>
        </p:spPr>
        <p:txBody>
          <a:bodyPr wrap="square">
            <a:spAutoFit/>
          </a:bodyPr>
          <a:lstStyle/>
          <a:p>
            <a:pPr algn="just"/>
            <a:r>
              <a:rPr lang="en-US" b="1"/>
              <a:t>Synchronous protocol: </a:t>
            </a:r>
            <a:r>
              <a:rPr lang="en-US"/>
              <a:t>All APB transactions are synchronized to the system clock.</a:t>
            </a:r>
          </a:p>
        </p:txBody>
      </p:sp>
      <p:sp>
        <p:nvSpPr>
          <p:cNvPr id="18" name="TextBox 17">
            <a:extLst>
              <a:ext uri="{FF2B5EF4-FFF2-40B4-BE49-F238E27FC236}">
                <a16:creationId xmlns:a16="http://schemas.microsoft.com/office/drawing/2014/main" id="{237AE57B-4DFF-A037-8807-6A394CE70525}"/>
              </a:ext>
            </a:extLst>
          </p:cNvPr>
          <p:cNvSpPr txBox="1"/>
          <p:nvPr/>
        </p:nvSpPr>
        <p:spPr>
          <a:xfrm>
            <a:off x="457200" y="3215323"/>
            <a:ext cx="11039537" cy="646331"/>
          </a:xfrm>
          <a:prstGeom prst="rect">
            <a:avLst/>
          </a:prstGeom>
          <a:noFill/>
        </p:spPr>
        <p:txBody>
          <a:bodyPr wrap="square">
            <a:spAutoFit/>
          </a:bodyPr>
          <a:lstStyle/>
          <a:p>
            <a:pPr algn="just"/>
            <a:r>
              <a:rPr lang="en-US" b="1"/>
              <a:t>Low power consumption: </a:t>
            </a:r>
            <a:r>
              <a:rPr lang="en-US"/>
              <a:t>The non-pipelined and simple transfer mechanism helps reduce power usage, making APB suitable for peripheral devices.</a:t>
            </a:r>
          </a:p>
        </p:txBody>
      </p:sp>
      <p:sp>
        <p:nvSpPr>
          <p:cNvPr id="20" name="TextBox 19">
            <a:extLst>
              <a:ext uri="{FF2B5EF4-FFF2-40B4-BE49-F238E27FC236}">
                <a16:creationId xmlns:a16="http://schemas.microsoft.com/office/drawing/2014/main" id="{B049E362-A72B-6985-8ED4-A3A7E2AE577B}"/>
              </a:ext>
            </a:extLst>
          </p:cNvPr>
          <p:cNvSpPr txBox="1"/>
          <p:nvPr/>
        </p:nvSpPr>
        <p:spPr>
          <a:xfrm>
            <a:off x="457199" y="4974109"/>
            <a:ext cx="10845483" cy="646331"/>
          </a:xfrm>
          <a:prstGeom prst="rect">
            <a:avLst/>
          </a:prstGeom>
          <a:noFill/>
        </p:spPr>
        <p:txBody>
          <a:bodyPr wrap="square">
            <a:spAutoFit/>
          </a:bodyPr>
          <a:lstStyle/>
          <a:p>
            <a:r>
              <a:rPr lang="en-US" b="1"/>
              <a:t>Low bandwidth, optimized for control register access</a:t>
            </a:r>
            <a:br>
              <a:rPr lang="en-US"/>
            </a:br>
            <a:r>
              <a:rPr lang="en-US"/>
              <a:t>APB is intended for accessing programmable control registers rather than high-throughput data transfers.</a:t>
            </a:r>
          </a:p>
        </p:txBody>
      </p:sp>
    </p:spTree>
    <p:extLst>
      <p:ext uri="{BB962C8B-B14F-4D97-AF65-F5344CB8AC3E}">
        <p14:creationId xmlns:p14="http://schemas.microsoft.com/office/powerpoint/2010/main" val="16079159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01E7DA4-7E0B-CDAB-C410-48E948CA15D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D523BC0-5974-6219-9A2A-A4116E284D4F}"/>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6F012E1B-8592-4420-EFDB-E270C36EEA9E}"/>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7</a:t>
            </a:fld>
            <a:endParaRPr spc="-25" dirty="0"/>
          </a:p>
        </p:txBody>
      </p:sp>
      <p:sp>
        <p:nvSpPr>
          <p:cNvPr id="6" name="object 6">
            <a:extLst>
              <a:ext uri="{FF2B5EF4-FFF2-40B4-BE49-F238E27FC236}">
                <a16:creationId xmlns:a16="http://schemas.microsoft.com/office/drawing/2014/main" id="{B650AA2A-E55E-C99C-CF68-929A0EFE2D5B}"/>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E88A8688-CC09-6462-134A-92FF6A02A50C}"/>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922603F0-CF53-A40D-CDF1-9D6313228E08}"/>
              </a:ext>
            </a:extLst>
          </p:cNvPr>
          <p:cNvSpPr txBox="1"/>
          <p:nvPr/>
        </p:nvSpPr>
        <p:spPr>
          <a:xfrm>
            <a:off x="457200" y="1121155"/>
            <a:ext cx="10896600" cy="936795"/>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1.2 Key features of the AMBA Advanced Peripheral Bus (APB)</a:t>
            </a:r>
          </a:p>
        </p:txBody>
      </p:sp>
      <p:sp>
        <p:nvSpPr>
          <p:cNvPr id="10" name="TextBox 9">
            <a:extLst>
              <a:ext uri="{FF2B5EF4-FFF2-40B4-BE49-F238E27FC236}">
                <a16:creationId xmlns:a16="http://schemas.microsoft.com/office/drawing/2014/main" id="{FD973811-9A2A-9008-DD9D-2A27C7FF0385}"/>
              </a:ext>
            </a:extLst>
          </p:cNvPr>
          <p:cNvSpPr txBox="1"/>
          <p:nvPr/>
        </p:nvSpPr>
        <p:spPr>
          <a:xfrm>
            <a:off x="441961" y="2280319"/>
            <a:ext cx="10845483" cy="646331"/>
          </a:xfrm>
          <a:prstGeom prst="rect">
            <a:avLst/>
          </a:prstGeom>
          <a:noFill/>
        </p:spPr>
        <p:txBody>
          <a:bodyPr wrap="square">
            <a:spAutoFit/>
          </a:bodyPr>
          <a:lstStyle/>
          <a:p>
            <a:r>
              <a:rPr lang="en-US" b="1"/>
              <a:t>Designed for simple peripheral devices: </a:t>
            </a:r>
            <a:r>
              <a:rPr lang="en-US"/>
              <a:t>Commonly used for peripherals such as GPIO, Timers, UART, SPI, and I2C.</a:t>
            </a:r>
          </a:p>
        </p:txBody>
      </p:sp>
      <p:sp>
        <p:nvSpPr>
          <p:cNvPr id="12" name="TextBox 11">
            <a:extLst>
              <a:ext uri="{FF2B5EF4-FFF2-40B4-BE49-F238E27FC236}">
                <a16:creationId xmlns:a16="http://schemas.microsoft.com/office/drawing/2014/main" id="{3D64C4BB-72A0-B0FC-CA68-6D1DEB0C97E8}"/>
              </a:ext>
            </a:extLst>
          </p:cNvPr>
          <p:cNvSpPr txBox="1"/>
          <p:nvPr/>
        </p:nvSpPr>
        <p:spPr>
          <a:xfrm>
            <a:off x="457200" y="3028508"/>
            <a:ext cx="10845483" cy="646331"/>
          </a:xfrm>
          <a:prstGeom prst="rect">
            <a:avLst/>
          </a:prstGeom>
          <a:noFill/>
        </p:spPr>
        <p:txBody>
          <a:bodyPr wrap="square">
            <a:spAutoFit/>
          </a:bodyPr>
          <a:lstStyle/>
          <a:p>
            <a:r>
              <a:rPr lang="en-US" b="1"/>
              <a:t>Accessed through an APB bridge: </a:t>
            </a:r>
            <a:r>
              <a:rPr lang="en-US"/>
              <a:t>APB peripherals are typically connected to the main system bus through a bridge (e.g., AXI-to-APB bridge).</a:t>
            </a:r>
          </a:p>
        </p:txBody>
      </p:sp>
      <p:sp>
        <p:nvSpPr>
          <p:cNvPr id="14" name="TextBox 13">
            <a:extLst>
              <a:ext uri="{FF2B5EF4-FFF2-40B4-BE49-F238E27FC236}">
                <a16:creationId xmlns:a16="http://schemas.microsoft.com/office/drawing/2014/main" id="{6B77F043-0AF1-8D61-6A7C-F7C17C6E770A}"/>
              </a:ext>
            </a:extLst>
          </p:cNvPr>
          <p:cNvSpPr txBox="1"/>
          <p:nvPr/>
        </p:nvSpPr>
        <p:spPr>
          <a:xfrm>
            <a:off x="441960" y="3772732"/>
            <a:ext cx="10845483" cy="923330"/>
          </a:xfrm>
          <a:prstGeom prst="rect">
            <a:avLst/>
          </a:prstGeom>
          <a:noFill/>
        </p:spPr>
        <p:txBody>
          <a:bodyPr wrap="square">
            <a:spAutoFit/>
          </a:bodyPr>
          <a:lstStyle/>
          <a:p>
            <a:r>
              <a:rPr lang="en-US" b="1"/>
              <a:t>Clear Requester–Completer model: </a:t>
            </a:r>
          </a:p>
          <a:p>
            <a:pPr marL="285750" indent="-285750">
              <a:buFont typeface="Arial" panose="020B0604020202020204" pitchFamily="34" charset="0"/>
              <a:buChar char="•"/>
            </a:pPr>
            <a:r>
              <a:rPr lang="en-US"/>
              <a:t>The APB bridge acts as the Requester, initiating transactions.</a:t>
            </a:r>
          </a:p>
          <a:p>
            <a:pPr marL="285750" indent="-285750">
              <a:buFont typeface="Arial" panose="020B0604020202020204" pitchFamily="34" charset="0"/>
              <a:buChar char="•"/>
            </a:pPr>
            <a:r>
              <a:rPr lang="en-US"/>
              <a:t>The peripheral device acts as the Completer, responding to requests.</a:t>
            </a:r>
          </a:p>
        </p:txBody>
      </p:sp>
      <p:sp>
        <p:nvSpPr>
          <p:cNvPr id="16" name="TextBox 15">
            <a:extLst>
              <a:ext uri="{FF2B5EF4-FFF2-40B4-BE49-F238E27FC236}">
                <a16:creationId xmlns:a16="http://schemas.microsoft.com/office/drawing/2014/main" id="{1DBDB9A1-4280-C492-DA9A-3D11205D566C}"/>
              </a:ext>
            </a:extLst>
          </p:cNvPr>
          <p:cNvSpPr txBox="1"/>
          <p:nvPr/>
        </p:nvSpPr>
        <p:spPr>
          <a:xfrm>
            <a:off x="457200" y="4800051"/>
            <a:ext cx="10845482" cy="646331"/>
          </a:xfrm>
          <a:prstGeom prst="rect">
            <a:avLst/>
          </a:prstGeom>
          <a:noFill/>
        </p:spPr>
        <p:txBody>
          <a:bodyPr wrap="square">
            <a:spAutoFit/>
          </a:bodyPr>
          <a:lstStyle/>
          <a:p>
            <a:r>
              <a:rPr lang="en-US" b="1"/>
              <a:t>Well-suited for AMBA-based multi-bus systems: </a:t>
            </a:r>
            <a:r>
              <a:rPr lang="en-US"/>
              <a:t>APB integrates seamlessly with other AMBA buses such as AXI and AHB via bridges.</a:t>
            </a:r>
          </a:p>
        </p:txBody>
      </p:sp>
    </p:spTree>
    <p:extLst>
      <p:ext uri="{BB962C8B-B14F-4D97-AF65-F5344CB8AC3E}">
        <p14:creationId xmlns:p14="http://schemas.microsoft.com/office/powerpoint/2010/main" val="19025610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9747103-6A17-9123-84C6-A3488924840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46F9C3-7494-F075-A86D-35BD3A7E19EE}"/>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BAED7F4F-3B7F-8380-DC7B-22FC768ADCF1}"/>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8</a:t>
            </a:fld>
            <a:endParaRPr spc="-25" dirty="0"/>
          </a:p>
        </p:txBody>
      </p:sp>
      <p:sp>
        <p:nvSpPr>
          <p:cNvPr id="6" name="object 6">
            <a:extLst>
              <a:ext uri="{FF2B5EF4-FFF2-40B4-BE49-F238E27FC236}">
                <a16:creationId xmlns:a16="http://schemas.microsoft.com/office/drawing/2014/main" id="{9C63AA79-7301-E7DD-6A98-0AF3D5781656}"/>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1E97B973-3ED0-541B-5662-0B7B9DF9EB31}"/>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28C111CD-3E8F-A2CA-198F-12D1D4248A7A}"/>
              </a:ext>
            </a:extLst>
          </p:cNvPr>
          <p:cNvSpPr txBox="1"/>
          <p:nvPr/>
        </p:nvSpPr>
        <p:spPr>
          <a:xfrm>
            <a:off x="457200" y="1121155"/>
            <a:ext cx="10896600" cy="936795"/>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1.2 Key features of the AMBA Advanced Peripheral Bus (APB)</a:t>
            </a:r>
          </a:p>
        </p:txBody>
      </p:sp>
      <p:pic>
        <p:nvPicPr>
          <p:cNvPr id="2050" name="Picture 2">
            <a:extLst>
              <a:ext uri="{FF2B5EF4-FFF2-40B4-BE49-F238E27FC236}">
                <a16:creationId xmlns:a16="http://schemas.microsoft.com/office/drawing/2014/main" id="{9439A7AF-7C1F-5090-CE38-4C48CF6C6C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03009" y="2382430"/>
            <a:ext cx="5238750" cy="3143250"/>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69721514-894E-32A7-90F6-4298B722C63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600" y="2956430"/>
            <a:ext cx="3733800" cy="19952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725219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A756E88-6EDD-0257-5D83-DC3F1B0EEAD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E0826BE-5264-4524-E675-7D809FED6536}"/>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65AE973B-74F3-3611-4844-A4C5E0DE5907}"/>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9</a:t>
            </a:fld>
            <a:endParaRPr spc="-25" dirty="0"/>
          </a:p>
        </p:txBody>
      </p:sp>
      <p:sp>
        <p:nvSpPr>
          <p:cNvPr id="6" name="object 6">
            <a:extLst>
              <a:ext uri="{FF2B5EF4-FFF2-40B4-BE49-F238E27FC236}">
                <a16:creationId xmlns:a16="http://schemas.microsoft.com/office/drawing/2014/main" id="{FF062086-A449-10EC-3815-640F13343080}"/>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2A86713C-F2B0-9BF2-DA10-AA9E69570A6F}"/>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E876C778-EE6A-16B7-71D3-439656D4F892}"/>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AMBA ABP signals</a:t>
            </a:r>
          </a:p>
        </p:txBody>
      </p:sp>
      <p:sp>
        <p:nvSpPr>
          <p:cNvPr id="10" name="TextBox 9">
            <a:extLst>
              <a:ext uri="{FF2B5EF4-FFF2-40B4-BE49-F238E27FC236}">
                <a16:creationId xmlns:a16="http://schemas.microsoft.com/office/drawing/2014/main" id="{D69F1E3F-9A65-A775-3F64-BF7EBE2CEBEF}"/>
              </a:ext>
            </a:extLst>
          </p:cNvPr>
          <p:cNvSpPr txBox="1"/>
          <p:nvPr/>
        </p:nvSpPr>
        <p:spPr>
          <a:xfrm>
            <a:off x="3048698" y="6117945"/>
            <a:ext cx="6094476"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Block Diagram &amp; Signal Description of APB</a:t>
            </a:r>
          </a:p>
        </p:txBody>
      </p:sp>
      <p:pic>
        <p:nvPicPr>
          <p:cNvPr id="1026" name="Picture 2">
            <a:extLst>
              <a:ext uri="{FF2B5EF4-FFF2-40B4-BE49-F238E27FC236}">
                <a16:creationId xmlns:a16="http://schemas.microsoft.com/office/drawing/2014/main" id="{75BFB7FB-4A18-7010-7702-F05283F9519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76871" y="1656737"/>
            <a:ext cx="6238130" cy="44612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425379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B62E2F4-F156-20E2-A23C-6E2857B55AC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833B424-C935-3EF5-5961-9FD4EA4BE0A0}"/>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CDF6C973-71F7-47A0-DC30-24D79FAD7CB1}"/>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10</a:t>
            </a:fld>
            <a:endParaRPr spc="-25" dirty="0"/>
          </a:p>
        </p:txBody>
      </p:sp>
      <p:sp>
        <p:nvSpPr>
          <p:cNvPr id="6" name="object 6">
            <a:extLst>
              <a:ext uri="{FF2B5EF4-FFF2-40B4-BE49-F238E27FC236}">
                <a16:creationId xmlns:a16="http://schemas.microsoft.com/office/drawing/2014/main" id="{0CC7A37C-9016-C419-A149-364F24FB0826}"/>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A86FBCD9-CFCD-390B-7F27-C61FDD32840A}"/>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7D4253BF-250C-7DE3-63FD-B0D624A5B6EB}"/>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AMBA ABP signals</a:t>
            </a:r>
          </a:p>
        </p:txBody>
      </p:sp>
      <p:graphicFrame>
        <p:nvGraphicFramePr>
          <p:cNvPr id="7" name="Table 6">
            <a:extLst>
              <a:ext uri="{FF2B5EF4-FFF2-40B4-BE49-F238E27FC236}">
                <a16:creationId xmlns:a16="http://schemas.microsoft.com/office/drawing/2014/main" id="{0EEF7FC7-1F40-AF54-11BB-EB9C34D02B25}"/>
              </a:ext>
            </a:extLst>
          </p:cNvPr>
          <p:cNvGraphicFramePr>
            <a:graphicFrameLocks noGrp="1"/>
          </p:cNvGraphicFramePr>
          <p:nvPr>
            <p:extLst>
              <p:ext uri="{D42A27DB-BD31-4B8C-83A1-F6EECF244321}">
                <p14:modId xmlns:p14="http://schemas.microsoft.com/office/powerpoint/2010/main" val="4219473064"/>
              </p:ext>
            </p:extLst>
          </p:nvPr>
        </p:nvGraphicFramePr>
        <p:xfrm>
          <a:off x="508317" y="1837178"/>
          <a:ext cx="11033444" cy="3881120"/>
        </p:xfrm>
        <a:graphic>
          <a:graphicData uri="http://schemas.openxmlformats.org/drawingml/2006/table">
            <a:tbl>
              <a:tblPr firstRow="1" bandRow="1">
                <a:tableStyleId>{5C22544A-7EE6-4342-B048-85BDC9FD1C3A}</a:tableStyleId>
              </a:tblPr>
              <a:tblGrid>
                <a:gridCol w="1777683">
                  <a:extLst>
                    <a:ext uri="{9D8B030D-6E8A-4147-A177-3AD203B41FA5}">
                      <a16:colId xmlns:a16="http://schemas.microsoft.com/office/drawing/2014/main" val="1108912286"/>
                    </a:ext>
                  </a:extLst>
                </a:gridCol>
                <a:gridCol w="1600200">
                  <a:extLst>
                    <a:ext uri="{9D8B030D-6E8A-4147-A177-3AD203B41FA5}">
                      <a16:colId xmlns:a16="http://schemas.microsoft.com/office/drawing/2014/main" val="2272246613"/>
                    </a:ext>
                  </a:extLst>
                </a:gridCol>
                <a:gridCol w="1600200">
                  <a:extLst>
                    <a:ext uri="{9D8B030D-6E8A-4147-A177-3AD203B41FA5}">
                      <a16:colId xmlns:a16="http://schemas.microsoft.com/office/drawing/2014/main" val="10821907"/>
                    </a:ext>
                  </a:extLst>
                </a:gridCol>
                <a:gridCol w="6055361">
                  <a:extLst>
                    <a:ext uri="{9D8B030D-6E8A-4147-A177-3AD203B41FA5}">
                      <a16:colId xmlns:a16="http://schemas.microsoft.com/office/drawing/2014/main" val="3160994262"/>
                    </a:ext>
                  </a:extLst>
                </a:gridCol>
              </a:tblGrid>
              <a:tr h="370840">
                <a:tc>
                  <a:txBody>
                    <a:bodyPr/>
                    <a:lstStyle/>
                    <a:p>
                      <a:pPr algn="ctr"/>
                      <a:r>
                        <a:rPr lang="en-US" sz="1600">
                          <a:solidFill>
                            <a:schemeClr val="bg1"/>
                          </a:solidFill>
                          <a:latin typeface="Arial" panose="020B0604020202020204" pitchFamily="34" charset="0"/>
                          <a:cs typeface="Arial" panose="020B0604020202020204" pitchFamily="34" charset="0"/>
                        </a:rPr>
                        <a:t>Signal</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Source</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Width</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Description</a:t>
                      </a:r>
                    </a:p>
                  </a:txBody>
                  <a:tcPr>
                    <a:solidFill>
                      <a:srgbClr val="7030A0"/>
                    </a:solidFill>
                  </a:tcPr>
                </a:tc>
                <a:extLst>
                  <a:ext uri="{0D108BD9-81ED-4DB2-BD59-A6C34878D82A}">
                    <a16:rowId xmlns:a16="http://schemas.microsoft.com/office/drawing/2014/main" val="3816104531"/>
                  </a:ext>
                </a:extLst>
              </a:tr>
              <a:tr h="370840">
                <a:tc>
                  <a:txBody>
                    <a:bodyPr/>
                    <a:lstStyle/>
                    <a:p>
                      <a:pPr algn="ctr"/>
                      <a:r>
                        <a:rPr lang="en-US" sz="1600">
                          <a:latin typeface="Arial" panose="020B0604020202020204" pitchFamily="34" charset="0"/>
                          <a:cs typeface="Arial" panose="020B0604020202020204" pitchFamily="34" charset="0"/>
                        </a:rPr>
                        <a:t>PCLK</a:t>
                      </a: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Clock Source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algn="just"/>
                      <a:r>
                        <a:rPr lang="en-US" sz="1600">
                          <a:latin typeface="Arial" panose="020B0604020202020204" pitchFamily="34" charset="0"/>
                          <a:cs typeface="Arial" panose="020B0604020202020204" pitchFamily="34" charset="0"/>
                        </a:rPr>
                        <a:t>Clock. The rising edge of PCLK times all transfer on the APB</a:t>
                      </a:r>
                    </a:p>
                  </a:txBody>
                  <a:tcPr/>
                </a:tc>
                <a:extLst>
                  <a:ext uri="{0D108BD9-81ED-4DB2-BD59-A6C34878D82A}">
                    <a16:rowId xmlns:a16="http://schemas.microsoft.com/office/drawing/2014/main" val="2693422610"/>
                  </a:ext>
                </a:extLst>
              </a:tr>
              <a:tr h="370840">
                <a:tc>
                  <a:txBody>
                    <a:bodyPr/>
                    <a:lstStyle/>
                    <a:p>
                      <a:pPr algn="ctr"/>
                      <a:r>
                        <a:rPr lang="en-US" sz="1600">
                          <a:latin typeface="Arial" panose="020B0604020202020204" pitchFamily="34" charset="0"/>
                          <a:cs typeface="Arial" panose="020B0604020202020204" pitchFamily="34" charset="0"/>
                        </a:rPr>
                        <a:t>PRESETn</a:t>
                      </a: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System Bus</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algn="just"/>
                      <a:r>
                        <a:rPr lang="en-US" sz="1600">
                          <a:latin typeface="Arial" panose="020B0604020202020204" pitchFamily="34" charset="0"/>
                          <a:cs typeface="Arial" panose="020B0604020202020204" pitchFamily="34" charset="0"/>
                        </a:rPr>
                        <a:t>Reset. The APB reset signal is active LOW. This signal is normally connected directly to the system bus reset signal.</a:t>
                      </a:r>
                    </a:p>
                  </a:txBody>
                  <a:tcPr/>
                </a:tc>
                <a:extLst>
                  <a:ext uri="{0D108BD9-81ED-4DB2-BD59-A6C34878D82A}">
                    <a16:rowId xmlns:a16="http://schemas.microsoft.com/office/drawing/2014/main" val="363023051"/>
                  </a:ext>
                </a:extLst>
              </a:tr>
              <a:tr h="370840">
                <a:tc>
                  <a:txBody>
                    <a:bodyPr/>
                    <a:lstStyle/>
                    <a:p>
                      <a:pPr algn="ctr"/>
                      <a:r>
                        <a:rPr lang="en-US" sz="1600">
                          <a:latin typeface="Arial" panose="020B0604020202020204" pitchFamily="34" charset="0"/>
                          <a:cs typeface="Arial" panose="020B0604020202020204" pitchFamily="34" charset="0"/>
                        </a:rPr>
                        <a:t>PADDR</a:t>
                      </a: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ADDR_WIDTH</a:t>
                      </a:r>
                    </a:p>
                  </a:txBody>
                  <a:tcPr/>
                </a:tc>
                <a:tc>
                  <a:txBody>
                    <a:bodyPr/>
                    <a:lstStyle/>
                    <a:p>
                      <a:pPr algn="just"/>
                      <a:r>
                        <a:rPr lang="en-US" sz="1600">
                          <a:latin typeface="Arial" panose="020B0604020202020204" pitchFamily="34" charset="0"/>
                          <a:cs typeface="Arial" panose="020B0604020202020204" pitchFamily="34" charset="0"/>
                        </a:rPr>
                        <a:t>Address. This is APB address bus. It can be up to 32 bits wide and is driven by the peripheral bus bridge unit.</a:t>
                      </a:r>
                    </a:p>
                  </a:txBody>
                  <a:tcPr/>
                </a:tc>
                <a:extLst>
                  <a:ext uri="{0D108BD9-81ED-4DB2-BD59-A6C34878D82A}">
                    <a16:rowId xmlns:a16="http://schemas.microsoft.com/office/drawing/2014/main" val="1648389343"/>
                  </a:ext>
                </a:extLst>
              </a:tr>
              <a:tr h="370840">
                <a:tc>
                  <a:txBody>
                    <a:bodyPr/>
                    <a:lstStyle/>
                    <a:p>
                      <a:pPr algn="ctr"/>
                      <a:r>
                        <a:rPr lang="en-US" sz="1600">
                          <a:latin typeface="Arial" panose="020B0604020202020204" pitchFamily="34" charset="0"/>
                          <a:cs typeface="Arial" panose="020B0604020202020204" pitchFamily="34" charset="0"/>
                        </a:rPr>
                        <a:t>PPROT</a:t>
                      </a: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3</a:t>
                      </a:r>
                    </a:p>
                  </a:txBody>
                  <a:tcPr/>
                </a:tc>
                <a:tc>
                  <a:txBody>
                    <a:bodyPr/>
                    <a:lstStyle/>
                    <a:p>
                      <a:pPr algn="just"/>
                      <a:r>
                        <a:rPr lang="en-US" sz="1600">
                          <a:latin typeface="Arial" panose="020B0604020202020204" pitchFamily="34" charset="0"/>
                          <a:cs typeface="Arial" panose="020B0604020202020204" pitchFamily="34" charset="0"/>
                        </a:rPr>
                        <a:t>Protection type. This signal indicates the normal, privileged, or secure protection level of the transaction and whether the transaction is a data access or an instruction access.</a:t>
                      </a:r>
                    </a:p>
                  </a:txBody>
                  <a:tcPr/>
                </a:tc>
                <a:extLst>
                  <a:ext uri="{0D108BD9-81ED-4DB2-BD59-A6C34878D82A}">
                    <a16:rowId xmlns:a16="http://schemas.microsoft.com/office/drawing/2014/main" val="3605326436"/>
                  </a:ext>
                </a:extLst>
              </a:tr>
              <a:tr h="370840">
                <a:tc>
                  <a:txBody>
                    <a:bodyPr/>
                    <a:lstStyle/>
                    <a:p>
                      <a:pPr algn="ctr"/>
                      <a:r>
                        <a:rPr lang="en-US" sz="1600">
                          <a:latin typeface="Arial" panose="020B0604020202020204" pitchFamily="34" charset="0"/>
                          <a:cs typeface="Arial" panose="020B0604020202020204" pitchFamily="34" charset="0"/>
                        </a:rPr>
                        <a:t>PSELx</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en-US" sz="1600" b="0" i="0">
                          <a:solidFill>
                            <a:schemeClr val="dk1"/>
                          </a:solidFill>
                          <a:effectLst/>
                          <a:latin typeface="Arial" panose="020B0604020202020204" pitchFamily="34" charset="0"/>
                          <a:ea typeface="+mn-ea"/>
                          <a:cs typeface="Arial" panose="020B0604020202020204" pitchFamily="34" charset="0"/>
                        </a:rPr>
                        <a:t>Slave select signal, there will be one PSEL signal for each slave connected to master.</a:t>
                      </a:r>
                      <a:r>
                        <a:rPr lang="en-US" sz="1600">
                          <a:latin typeface="Arial" panose="020B0604020202020204" pitchFamily="34" charset="0"/>
                          <a:cs typeface="Arial" panose="020B0604020202020204" pitchFamily="34" charset="0"/>
                        </a:rPr>
                        <a:t>. It’s an active high signal. </a:t>
                      </a:r>
                      <a:endParaRPr lang="en-IN" sz="160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79113978"/>
                  </a:ext>
                </a:extLst>
              </a:tr>
              <a:tr h="370840">
                <a:tc>
                  <a:txBody>
                    <a:bodyPr/>
                    <a:lstStyle/>
                    <a:p>
                      <a:pPr algn="ctr"/>
                      <a:r>
                        <a:rPr lang="en-US" sz="1600" dirty="0">
                          <a:solidFill>
                            <a:schemeClr val="tx1"/>
                          </a:solidFill>
                          <a:latin typeface="Arial" panose="020B0604020202020204" pitchFamily="34" charset="0"/>
                          <a:cs typeface="Arial" panose="020B0604020202020204" pitchFamily="34" charset="0"/>
                        </a:rPr>
                        <a:t>PENABLE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Enable. It indicates the 2</a:t>
                      </a:r>
                      <a:r>
                        <a:rPr lang="en-US" sz="1600" baseline="30000">
                          <a:latin typeface="Arial" panose="020B0604020202020204" pitchFamily="34" charset="0"/>
                          <a:cs typeface="Arial" panose="020B0604020202020204" pitchFamily="34" charset="0"/>
                        </a:rPr>
                        <a:t>nd</a:t>
                      </a:r>
                      <a:r>
                        <a:rPr lang="en-US" sz="1600">
                          <a:latin typeface="Arial" panose="020B0604020202020204" pitchFamily="34" charset="0"/>
                          <a:cs typeface="Arial" panose="020B0604020202020204" pitchFamily="34" charset="0"/>
                        </a:rPr>
                        <a:t> cycle of a data transfer. It’s an active high signal. </a:t>
                      </a:r>
                      <a:endParaRPr lang="en-IN" sz="160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90504135"/>
                  </a:ext>
                </a:extLst>
              </a:tr>
            </a:tbl>
          </a:graphicData>
        </a:graphic>
      </p:graphicFrame>
    </p:spTree>
    <p:extLst>
      <p:ext uri="{BB962C8B-B14F-4D97-AF65-F5344CB8AC3E}">
        <p14:creationId xmlns:p14="http://schemas.microsoft.com/office/powerpoint/2010/main" val="1931989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3A3CE4EB-5929-3210-5DFD-B9073063FE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2988452-65E6-FECE-CD15-F6358AC83D75}"/>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766A2FBB-B89F-0263-7DE2-2F0175DE84DB}"/>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11</a:t>
            </a:fld>
            <a:endParaRPr spc="-25" dirty="0"/>
          </a:p>
        </p:txBody>
      </p:sp>
      <p:sp>
        <p:nvSpPr>
          <p:cNvPr id="6" name="object 6">
            <a:extLst>
              <a:ext uri="{FF2B5EF4-FFF2-40B4-BE49-F238E27FC236}">
                <a16:creationId xmlns:a16="http://schemas.microsoft.com/office/drawing/2014/main" id="{33A2FA04-4D07-FCA9-8396-86ADBA357030}"/>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3D854076-DAB2-DAC5-B931-2963C69D152A}"/>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39AEF0B1-57D7-48F2-9ADD-79E78416C246}"/>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AMBA ABP signals</a:t>
            </a:r>
          </a:p>
        </p:txBody>
      </p:sp>
      <p:graphicFrame>
        <p:nvGraphicFramePr>
          <p:cNvPr id="7" name="Table 6">
            <a:extLst>
              <a:ext uri="{FF2B5EF4-FFF2-40B4-BE49-F238E27FC236}">
                <a16:creationId xmlns:a16="http://schemas.microsoft.com/office/drawing/2014/main" id="{B5C71BB4-2DCD-839E-93FA-CCA2B1F9C8FA}"/>
              </a:ext>
            </a:extLst>
          </p:cNvPr>
          <p:cNvGraphicFramePr>
            <a:graphicFrameLocks noGrp="1"/>
          </p:cNvGraphicFramePr>
          <p:nvPr>
            <p:extLst>
              <p:ext uri="{D42A27DB-BD31-4B8C-83A1-F6EECF244321}">
                <p14:modId xmlns:p14="http://schemas.microsoft.com/office/powerpoint/2010/main" val="1441610703"/>
              </p:ext>
            </p:extLst>
          </p:nvPr>
        </p:nvGraphicFramePr>
        <p:xfrm>
          <a:off x="579214" y="1884540"/>
          <a:ext cx="11033444" cy="4368800"/>
        </p:xfrm>
        <a:graphic>
          <a:graphicData uri="http://schemas.openxmlformats.org/drawingml/2006/table">
            <a:tbl>
              <a:tblPr firstRow="1" bandRow="1">
                <a:tableStyleId>{5C22544A-7EE6-4342-B048-85BDC9FD1C3A}</a:tableStyleId>
              </a:tblPr>
              <a:tblGrid>
                <a:gridCol w="1777683">
                  <a:extLst>
                    <a:ext uri="{9D8B030D-6E8A-4147-A177-3AD203B41FA5}">
                      <a16:colId xmlns:a16="http://schemas.microsoft.com/office/drawing/2014/main" val="1108912286"/>
                    </a:ext>
                  </a:extLst>
                </a:gridCol>
                <a:gridCol w="1600200">
                  <a:extLst>
                    <a:ext uri="{9D8B030D-6E8A-4147-A177-3AD203B41FA5}">
                      <a16:colId xmlns:a16="http://schemas.microsoft.com/office/drawing/2014/main" val="2272246613"/>
                    </a:ext>
                  </a:extLst>
                </a:gridCol>
                <a:gridCol w="1600200">
                  <a:extLst>
                    <a:ext uri="{9D8B030D-6E8A-4147-A177-3AD203B41FA5}">
                      <a16:colId xmlns:a16="http://schemas.microsoft.com/office/drawing/2014/main" val="10821907"/>
                    </a:ext>
                  </a:extLst>
                </a:gridCol>
                <a:gridCol w="6055361">
                  <a:extLst>
                    <a:ext uri="{9D8B030D-6E8A-4147-A177-3AD203B41FA5}">
                      <a16:colId xmlns:a16="http://schemas.microsoft.com/office/drawing/2014/main" val="3160994262"/>
                    </a:ext>
                  </a:extLst>
                </a:gridCol>
              </a:tblGrid>
              <a:tr h="370840">
                <a:tc>
                  <a:txBody>
                    <a:bodyPr/>
                    <a:lstStyle/>
                    <a:p>
                      <a:pPr algn="ctr"/>
                      <a:r>
                        <a:rPr lang="en-US" sz="1600">
                          <a:solidFill>
                            <a:schemeClr val="bg1"/>
                          </a:solidFill>
                          <a:latin typeface="Arial" panose="020B0604020202020204" pitchFamily="34" charset="0"/>
                          <a:cs typeface="Arial" panose="020B0604020202020204" pitchFamily="34" charset="0"/>
                        </a:rPr>
                        <a:t>Signal</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Source</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Width</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Description</a:t>
                      </a:r>
                    </a:p>
                  </a:txBody>
                  <a:tcPr>
                    <a:solidFill>
                      <a:srgbClr val="7030A0"/>
                    </a:solidFill>
                  </a:tcPr>
                </a:tc>
                <a:extLst>
                  <a:ext uri="{0D108BD9-81ED-4DB2-BD59-A6C34878D82A}">
                    <a16:rowId xmlns:a16="http://schemas.microsoft.com/office/drawing/2014/main" val="3816104531"/>
                  </a:ext>
                </a:extLst>
              </a:tr>
              <a:tr h="370840">
                <a:tc>
                  <a:txBody>
                    <a:bodyPr/>
                    <a:lstStyle/>
                    <a:p>
                      <a:pPr algn="ctr"/>
                      <a:r>
                        <a:rPr lang="en-US" sz="1600">
                          <a:latin typeface="Arial" panose="020B0604020202020204" pitchFamily="34" charset="0"/>
                          <a:cs typeface="Arial" panose="020B0604020202020204" pitchFamily="34" charset="0"/>
                        </a:rPr>
                        <a:t>PWRITE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r>
                        <a:rPr lang="en-US" sz="1600">
                          <a:latin typeface="Arial" panose="020B0604020202020204" pitchFamily="34" charset="0"/>
                          <a:cs typeface="Arial" panose="020B0604020202020204" pitchFamily="34" charset="0"/>
                        </a:rPr>
                        <a:t>Direction. PWRITE indicates an APB write access when HIGH and an APB read access when LOW.</a:t>
                      </a:r>
                    </a:p>
                  </a:txBody>
                  <a:tcPr/>
                </a:tc>
                <a:extLst>
                  <a:ext uri="{0D108BD9-81ED-4DB2-BD59-A6C34878D82A}">
                    <a16:rowId xmlns:a16="http://schemas.microsoft.com/office/drawing/2014/main" val="4131091150"/>
                  </a:ext>
                </a:extLst>
              </a:tr>
              <a:tr h="370840">
                <a:tc>
                  <a:txBody>
                    <a:bodyPr/>
                    <a:lstStyle/>
                    <a:p>
                      <a:pPr algn="ctr"/>
                      <a:r>
                        <a:rPr lang="en-IN" sz="1600">
                          <a:solidFill>
                            <a:schemeClr val="tx1"/>
                          </a:solidFill>
                          <a:latin typeface="Arial" panose="020B0604020202020204" pitchFamily="34" charset="0"/>
                          <a:cs typeface="Arial" panose="020B0604020202020204" pitchFamily="34" charset="0"/>
                        </a:rPr>
                        <a:t>PWDATA</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a:solidFill>
                            <a:schemeClr val="tx1"/>
                          </a:solidFill>
                          <a:latin typeface="Arial" panose="020B0604020202020204" pitchFamily="34" charset="0"/>
                          <a:cs typeface="Arial" panose="020B0604020202020204" pitchFamily="34" charset="0"/>
                        </a:rPr>
                        <a:t>APB bridge</a:t>
                      </a:r>
                      <a:endParaRPr lang="en-IN" sz="160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DATA_WIDTH</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IN" sz="1600">
                          <a:solidFill>
                            <a:schemeClr val="tx1"/>
                          </a:solidFill>
                          <a:latin typeface="Arial" panose="020B0604020202020204" pitchFamily="34" charset="0"/>
                          <a:cs typeface="Arial" panose="020B0604020202020204" pitchFamily="34" charset="0"/>
                        </a:rPr>
                        <a:t>Write data. </a:t>
                      </a:r>
                      <a:r>
                        <a:rPr lang="en-US" sz="1600" b="0" i="0">
                          <a:solidFill>
                            <a:schemeClr val="dk1"/>
                          </a:solidFill>
                          <a:effectLst/>
                          <a:latin typeface="Arial" panose="020B0604020202020204" pitchFamily="34" charset="0"/>
                          <a:ea typeface="+mn-ea"/>
                          <a:cs typeface="Arial" panose="020B0604020202020204" pitchFamily="34" charset="0"/>
                        </a:rPr>
                        <a:t>Write data bus from Master to Slave, can be up to 32 bit wide</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93422610"/>
                  </a:ext>
                </a:extLst>
              </a:tr>
              <a:tr h="370840">
                <a:tc>
                  <a:txBody>
                    <a:bodyPr/>
                    <a:lstStyle/>
                    <a:p>
                      <a:pPr algn="ctr"/>
                      <a:r>
                        <a:rPr lang="en-IN" sz="1600">
                          <a:solidFill>
                            <a:schemeClr val="tx1"/>
                          </a:solidFill>
                          <a:latin typeface="Arial" panose="020B0604020202020204" pitchFamily="34" charset="0"/>
                          <a:cs typeface="Arial" panose="020B0604020202020204" pitchFamily="34" charset="0"/>
                        </a:rPr>
                        <a:t>PSTRB</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60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DATA_WIDTH/8</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a:latin typeface="Arial" panose="020B0604020202020204" pitchFamily="34" charset="0"/>
                          <a:cs typeface="Arial" panose="020B0604020202020204" pitchFamily="34" charset="0"/>
                        </a:rPr>
                        <a:t>Write strobe. PSTRB indicates which byte lanes to update during a write transfer. There is one write strobe for each 8 bits of the write data bus. PSTRB[n] corresponds to PWDATA[(8n + 7):(8n)]. PSTRB must not be active during a read transfer.</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3023051"/>
                  </a:ext>
                </a:extLst>
              </a:tr>
              <a:tr h="370840">
                <a:tc>
                  <a:txBody>
                    <a:bodyPr/>
                    <a:lstStyle/>
                    <a:p>
                      <a:pPr algn="ctr"/>
                      <a:r>
                        <a:rPr lang="en-US" sz="1600" dirty="0">
                          <a:solidFill>
                            <a:schemeClr val="tx1"/>
                          </a:solidFill>
                          <a:latin typeface="Arial" panose="020B0604020202020204" pitchFamily="34" charset="0"/>
                          <a:cs typeface="Arial" panose="020B0604020202020204" pitchFamily="34" charset="0"/>
                        </a:rPr>
                        <a:t>PREADY</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Slave Interface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1</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b="0" i="0">
                          <a:solidFill>
                            <a:schemeClr val="dk1"/>
                          </a:solidFill>
                          <a:effectLst/>
                          <a:latin typeface="Arial" panose="020B0604020202020204" pitchFamily="34" charset="0"/>
                          <a:ea typeface="+mn-ea"/>
                          <a:cs typeface="Arial" panose="020B0604020202020204" pitchFamily="34" charset="0"/>
                        </a:rPr>
                        <a:t>It is used by the slave to include wait states in the transfer. i.e. whenever slave is not ready to complete the transaction, it will request the master for some time by de-asserting the PREADY.</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8389343"/>
                  </a:ext>
                </a:extLst>
              </a:tr>
              <a:tr h="370840">
                <a:tc>
                  <a:txBody>
                    <a:bodyPr/>
                    <a:lstStyle/>
                    <a:p>
                      <a:pPr algn="ctr"/>
                      <a:r>
                        <a:rPr lang="en-US" sz="1600" dirty="0">
                          <a:solidFill>
                            <a:schemeClr val="tx1"/>
                          </a:solidFill>
                          <a:latin typeface="Arial" panose="020B0604020202020204" pitchFamily="34" charset="0"/>
                          <a:cs typeface="Arial" panose="020B0604020202020204" pitchFamily="34" charset="0"/>
                        </a:rPr>
                        <a:t>PSLVERR</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Slave Interface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1</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b="0" i="0">
                          <a:solidFill>
                            <a:schemeClr val="dk1"/>
                          </a:solidFill>
                          <a:effectLst/>
                          <a:latin typeface="Arial" panose="020B0604020202020204" pitchFamily="34" charset="0"/>
                          <a:ea typeface="+mn-ea"/>
                          <a:cs typeface="Arial" panose="020B0604020202020204" pitchFamily="34" charset="0"/>
                        </a:rPr>
                        <a:t>Indicates the Success or failure of the transfer. HIGH indicates failure and LOW indicates Success</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05326436"/>
                  </a:ext>
                </a:extLst>
              </a:tr>
              <a:tr h="370840">
                <a:tc>
                  <a:txBody>
                    <a:bodyPr/>
                    <a:lstStyle/>
                    <a:p>
                      <a:pPr algn="ctr"/>
                      <a:r>
                        <a:rPr lang="en-US" sz="1600" dirty="0">
                          <a:solidFill>
                            <a:schemeClr val="tx1"/>
                          </a:solidFill>
                          <a:latin typeface="Arial" panose="020B0604020202020204" pitchFamily="34" charset="0"/>
                          <a:cs typeface="Arial" panose="020B0604020202020204" pitchFamily="34" charset="0"/>
                        </a:rPr>
                        <a:t>PRDATA</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Slave Interface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DATA_WIDTH</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b="0" i="0">
                          <a:solidFill>
                            <a:schemeClr val="dk1"/>
                          </a:solidFill>
                          <a:effectLst/>
                          <a:latin typeface="Arial" panose="020B0604020202020204" pitchFamily="34" charset="0"/>
                          <a:ea typeface="+mn-ea"/>
                          <a:cs typeface="Arial" panose="020B0604020202020204" pitchFamily="34" charset="0"/>
                        </a:rPr>
                        <a:t>Read data us from Slave to Master, can be up to 32 bit wide</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79113978"/>
                  </a:ext>
                </a:extLst>
              </a:tr>
            </a:tbl>
          </a:graphicData>
        </a:graphic>
      </p:graphicFrame>
    </p:spTree>
    <p:extLst>
      <p:ext uri="{BB962C8B-B14F-4D97-AF65-F5344CB8AC3E}">
        <p14:creationId xmlns:p14="http://schemas.microsoft.com/office/powerpoint/2010/main" val="17016392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712190B-2F6F-72E7-3F18-C3336A0FC3C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5E3BCA9-DEA2-7C44-58AB-DBF0FF45C7E7}"/>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C1D177D9-47FB-441C-C1A6-D962E330B5FA}"/>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12</a:t>
            </a:fld>
            <a:endParaRPr spc="-25" dirty="0"/>
          </a:p>
        </p:txBody>
      </p:sp>
      <p:sp>
        <p:nvSpPr>
          <p:cNvPr id="6" name="object 6">
            <a:extLst>
              <a:ext uri="{FF2B5EF4-FFF2-40B4-BE49-F238E27FC236}">
                <a16:creationId xmlns:a16="http://schemas.microsoft.com/office/drawing/2014/main" id="{D9C5477C-FC30-E6C8-0CB0-F5B04E672832}"/>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670A9512-A778-4772-EAE5-CCEF00DC3DEA}"/>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5D7C0D84-A737-7738-8B8A-393FE89F15AB}"/>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APB Transfers – Write transfers</a:t>
            </a:r>
          </a:p>
        </p:txBody>
      </p:sp>
      <p:pic>
        <p:nvPicPr>
          <p:cNvPr id="8" name="Picture 7" descr="A diagram of a computer program&#10;&#10;AI-generated content may be incorrect.">
            <a:extLst>
              <a:ext uri="{FF2B5EF4-FFF2-40B4-BE49-F238E27FC236}">
                <a16:creationId xmlns:a16="http://schemas.microsoft.com/office/drawing/2014/main" id="{9E832978-0B3C-5343-0930-7540C02FE289}"/>
              </a:ext>
            </a:extLst>
          </p:cNvPr>
          <p:cNvPicPr>
            <a:picLocks noChangeAspect="1"/>
          </p:cNvPicPr>
          <p:nvPr/>
        </p:nvPicPr>
        <p:blipFill>
          <a:blip r:embed="rId2"/>
          <a:stretch>
            <a:fillRect/>
          </a:stretch>
        </p:blipFill>
        <p:spPr>
          <a:xfrm>
            <a:off x="6791123" y="2544030"/>
            <a:ext cx="5272783" cy="3192815"/>
          </a:xfrm>
          <a:prstGeom prst="rect">
            <a:avLst/>
          </a:prstGeom>
        </p:spPr>
      </p:pic>
      <p:sp>
        <p:nvSpPr>
          <p:cNvPr id="10" name="TextBox 9">
            <a:extLst>
              <a:ext uri="{FF2B5EF4-FFF2-40B4-BE49-F238E27FC236}">
                <a16:creationId xmlns:a16="http://schemas.microsoft.com/office/drawing/2014/main" id="{4DC855C2-91B7-B770-419B-8279C7BF3828}"/>
              </a:ext>
            </a:extLst>
          </p:cNvPr>
          <p:cNvSpPr txBox="1"/>
          <p:nvPr/>
        </p:nvSpPr>
        <p:spPr>
          <a:xfrm>
            <a:off x="508317" y="1661817"/>
            <a:ext cx="4343400" cy="369332"/>
          </a:xfrm>
          <a:prstGeom prst="rect">
            <a:avLst/>
          </a:prstGeom>
          <a:noFill/>
        </p:spPr>
        <p:txBody>
          <a:bodyPr wrap="square">
            <a:spAutoFit/>
          </a:bodyPr>
          <a:lstStyle/>
          <a:p>
            <a:r>
              <a:rPr lang="en-US" b="1"/>
              <a:t>WRITE Transfer – Without Wait States</a:t>
            </a:r>
          </a:p>
        </p:txBody>
      </p:sp>
      <p:sp>
        <p:nvSpPr>
          <p:cNvPr id="12" name="TextBox 11">
            <a:extLst>
              <a:ext uri="{FF2B5EF4-FFF2-40B4-BE49-F238E27FC236}">
                <a16:creationId xmlns:a16="http://schemas.microsoft.com/office/drawing/2014/main" id="{FFCF357B-8BCD-B34C-323C-66E211741B7B}"/>
              </a:ext>
            </a:extLst>
          </p:cNvPr>
          <p:cNvSpPr txBox="1"/>
          <p:nvPr/>
        </p:nvSpPr>
        <p:spPr>
          <a:xfrm>
            <a:off x="438912" y="2141362"/>
            <a:ext cx="6373493" cy="4524315"/>
          </a:xfrm>
          <a:prstGeom prst="rect">
            <a:avLst/>
          </a:prstGeom>
          <a:noFill/>
        </p:spPr>
        <p:txBody>
          <a:bodyPr wrap="square">
            <a:spAutoFit/>
          </a:bodyPr>
          <a:lstStyle/>
          <a:p>
            <a:pPr marL="285750" indent="-285750"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At T1, a write transfer with address </a:t>
            </a:r>
            <a:r>
              <a:rPr lang="en-US" b="1" i="0">
                <a:solidFill>
                  <a:srgbClr val="222222"/>
                </a:solidFill>
                <a:effectLst/>
                <a:latin typeface="Arial" panose="020B0604020202020204" pitchFamily="34" charset="0"/>
                <a:cs typeface="Arial" panose="020B0604020202020204" pitchFamily="34" charset="0"/>
              </a:rPr>
              <a:t>PADDR,PWDATA,PWRITE and PSEL </a:t>
            </a:r>
            <a:r>
              <a:rPr lang="en-US" b="0" i="0">
                <a:solidFill>
                  <a:srgbClr val="222222"/>
                </a:solidFill>
                <a:effectLst/>
                <a:latin typeface="Arial" panose="020B0604020202020204" pitchFamily="34" charset="0"/>
                <a:cs typeface="Arial" panose="020B0604020202020204" pitchFamily="34" charset="0"/>
              </a:rPr>
              <a:t>starts.</a:t>
            </a:r>
          </a:p>
          <a:p>
            <a:pPr marL="285750" indent="-285750"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They will registered at the next rising edge of </a:t>
            </a:r>
            <a:r>
              <a:rPr lang="en-US" b="1" i="0">
                <a:solidFill>
                  <a:srgbClr val="222222"/>
                </a:solidFill>
                <a:effectLst/>
                <a:latin typeface="Arial" panose="020B0604020202020204" pitchFamily="34" charset="0"/>
                <a:cs typeface="Arial" panose="020B0604020202020204" pitchFamily="34" charset="0"/>
              </a:rPr>
              <a:t>PCLK</a:t>
            </a:r>
            <a:r>
              <a:rPr lang="en-US" b="0" i="0">
                <a:solidFill>
                  <a:srgbClr val="222222"/>
                </a:solidFill>
                <a:effectLst/>
                <a:latin typeface="Arial" panose="020B0604020202020204" pitchFamily="34" charset="0"/>
                <a:cs typeface="Arial" panose="020B0604020202020204" pitchFamily="34" charset="0"/>
              </a:rPr>
              <a:t>, T2.</a:t>
            </a:r>
          </a:p>
          <a:p>
            <a:pPr marL="285750" indent="-285750"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This is Setup Phase of Transfer.</a:t>
            </a:r>
          </a:p>
          <a:p>
            <a:pPr marL="285750" indent="-285750"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After T2, </a:t>
            </a:r>
            <a:r>
              <a:rPr lang="en-US" b="1" i="0">
                <a:solidFill>
                  <a:srgbClr val="222222"/>
                </a:solidFill>
                <a:effectLst/>
                <a:latin typeface="Arial" panose="020B0604020202020204" pitchFamily="34" charset="0"/>
                <a:cs typeface="Arial" panose="020B0604020202020204" pitchFamily="34" charset="0"/>
              </a:rPr>
              <a:t>PENABLE</a:t>
            </a:r>
            <a:r>
              <a:rPr lang="en-US" b="0" i="0">
                <a:solidFill>
                  <a:srgbClr val="222222"/>
                </a:solidFill>
                <a:effectLst/>
                <a:latin typeface="Arial" panose="020B0604020202020204" pitchFamily="34" charset="0"/>
                <a:cs typeface="Arial" panose="020B0604020202020204" pitchFamily="34" charset="0"/>
              </a:rPr>
              <a:t> and </a:t>
            </a:r>
            <a:r>
              <a:rPr lang="en-US" b="1" i="0">
                <a:solidFill>
                  <a:srgbClr val="222222"/>
                </a:solidFill>
                <a:effectLst/>
                <a:latin typeface="Arial" panose="020B0604020202020204" pitchFamily="34" charset="0"/>
                <a:cs typeface="Arial" panose="020B0604020202020204" pitchFamily="34" charset="0"/>
              </a:rPr>
              <a:t>PREADY</a:t>
            </a:r>
            <a:r>
              <a:rPr lang="en-US" b="0" i="0">
                <a:solidFill>
                  <a:srgbClr val="222222"/>
                </a:solidFill>
                <a:effectLst/>
                <a:latin typeface="Arial" panose="020B0604020202020204" pitchFamily="34" charset="0"/>
                <a:cs typeface="Arial" panose="020B0604020202020204" pitchFamily="34" charset="0"/>
              </a:rPr>
              <a:t> are registered at the rising edge of </a:t>
            </a:r>
            <a:r>
              <a:rPr lang="en-US" b="1" i="0">
                <a:solidFill>
                  <a:srgbClr val="222222"/>
                </a:solidFill>
                <a:effectLst/>
                <a:latin typeface="Arial" panose="020B0604020202020204" pitchFamily="34" charset="0"/>
                <a:cs typeface="Arial" panose="020B0604020202020204" pitchFamily="34" charset="0"/>
              </a:rPr>
              <a:t>PCLK</a:t>
            </a:r>
            <a:r>
              <a:rPr lang="en-US" b="0" i="0">
                <a:solidFill>
                  <a:srgbClr val="222222"/>
                </a:solidFill>
                <a:effectLst/>
                <a:latin typeface="Arial" panose="020B0604020202020204" pitchFamily="34" charset="0"/>
                <a:cs typeface="Arial" panose="020B0604020202020204" pitchFamily="34" charset="0"/>
              </a:rPr>
              <a:t>.</a:t>
            </a:r>
          </a:p>
          <a:p>
            <a:pPr marL="285750" indent="-285750"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When asserted, </a:t>
            </a:r>
            <a:r>
              <a:rPr lang="en-US" b="1" i="0">
                <a:solidFill>
                  <a:srgbClr val="222222"/>
                </a:solidFill>
                <a:effectLst/>
                <a:latin typeface="Arial" panose="020B0604020202020204" pitchFamily="34" charset="0"/>
                <a:cs typeface="Arial" panose="020B0604020202020204" pitchFamily="34" charset="0"/>
              </a:rPr>
              <a:t>PENABLE</a:t>
            </a:r>
            <a:r>
              <a:rPr lang="en-US" b="0" i="0">
                <a:solidFill>
                  <a:srgbClr val="222222"/>
                </a:solidFill>
                <a:effectLst/>
                <a:latin typeface="Arial" panose="020B0604020202020204" pitchFamily="34" charset="0"/>
                <a:cs typeface="Arial" panose="020B0604020202020204" pitchFamily="34" charset="0"/>
              </a:rPr>
              <a:t> indicates starting of ACCESS Phase</a:t>
            </a:r>
          </a:p>
          <a:p>
            <a:pPr marL="285750" indent="-285750"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When asserted, </a:t>
            </a:r>
            <a:r>
              <a:rPr lang="en-US" b="1" i="0">
                <a:solidFill>
                  <a:srgbClr val="222222"/>
                </a:solidFill>
                <a:effectLst/>
                <a:latin typeface="Arial" panose="020B0604020202020204" pitchFamily="34" charset="0"/>
                <a:cs typeface="Arial" panose="020B0604020202020204" pitchFamily="34" charset="0"/>
              </a:rPr>
              <a:t>PREADY</a:t>
            </a:r>
            <a:r>
              <a:rPr lang="en-US" b="0" i="0">
                <a:solidFill>
                  <a:srgbClr val="222222"/>
                </a:solidFill>
                <a:effectLst/>
                <a:latin typeface="Arial" panose="020B0604020202020204" pitchFamily="34" charset="0"/>
                <a:cs typeface="Arial" panose="020B0604020202020204" pitchFamily="34" charset="0"/>
              </a:rPr>
              <a:t> indicates that slave can complete the transfer at the next rising edige of </a:t>
            </a:r>
            <a:r>
              <a:rPr lang="en-US" b="1" i="0">
                <a:solidFill>
                  <a:srgbClr val="222222"/>
                </a:solidFill>
                <a:effectLst/>
                <a:latin typeface="Arial" panose="020B0604020202020204" pitchFamily="34" charset="0"/>
                <a:cs typeface="Arial" panose="020B0604020202020204" pitchFamily="34" charset="0"/>
              </a:rPr>
              <a:t>PCLK</a:t>
            </a:r>
            <a:r>
              <a:rPr lang="en-US" b="0" i="0">
                <a:solidFill>
                  <a:srgbClr val="222222"/>
                </a:solidFill>
                <a:effectLst/>
                <a:latin typeface="Arial" panose="020B0604020202020204" pitchFamily="34" charset="0"/>
                <a:cs typeface="Arial" panose="020B0604020202020204" pitchFamily="34" charset="0"/>
              </a:rPr>
              <a:t>.</a:t>
            </a:r>
          </a:p>
          <a:p>
            <a:pPr marL="285750" indent="-285750" algn="l">
              <a:buFont typeface="Arial" panose="020B0604020202020204" pitchFamily="34" charset="0"/>
              <a:buChar char="•"/>
            </a:pPr>
            <a:r>
              <a:rPr lang="en-US" b="1" i="0">
                <a:solidFill>
                  <a:srgbClr val="222222"/>
                </a:solidFill>
                <a:effectLst/>
                <a:latin typeface="Arial" panose="020B0604020202020204" pitchFamily="34" charset="0"/>
                <a:cs typeface="Arial" panose="020B0604020202020204" pitchFamily="34" charset="0"/>
              </a:rPr>
              <a:t>PADDR, PDATA </a:t>
            </a:r>
            <a:r>
              <a:rPr lang="en-US" b="0" i="0">
                <a:solidFill>
                  <a:srgbClr val="222222"/>
                </a:solidFill>
                <a:effectLst/>
                <a:latin typeface="Arial" panose="020B0604020202020204" pitchFamily="34" charset="0"/>
                <a:cs typeface="Arial" panose="020B0604020202020204" pitchFamily="34" charset="0"/>
              </a:rPr>
              <a:t>and control signals all should remain valid till the transfer completes at T3.</a:t>
            </a:r>
          </a:p>
          <a:p>
            <a:pPr marL="285750" indent="-285750" algn="l">
              <a:buFont typeface="Arial" panose="020B0604020202020204" pitchFamily="34" charset="0"/>
              <a:buChar char="•"/>
            </a:pPr>
            <a:r>
              <a:rPr lang="en-US" b="1" i="0">
                <a:solidFill>
                  <a:srgbClr val="222222"/>
                </a:solidFill>
                <a:effectLst/>
                <a:latin typeface="Arial" panose="020B0604020202020204" pitchFamily="34" charset="0"/>
                <a:cs typeface="Arial" panose="020B0604020202020204" pitchFamily="34" charset="0"/>
              </a:rPr>
              <a:t>PENABLE</a:t>
            </a:r>
            <a:r>
              <a:rPr lang="en-US" b="0" i="0">
                <a:solidFill>
                  <a:srgbClr val="222222"/>
                </a:solidFill>
                <a:effectLst/>
                <a:latin typeface="Arial" panose="020B0604020202020204" pitchFamily="34" charset="0"/>
                <a:cs typeface="Arial" panose="020B0604020202020204" pitchFamily="34" charset="0"/>
              </a:rPr>
              <a:t> signal will be de-asserted at the end of transfer.</a:t>
            </a:r>
          </a:p>
          <a:p>
            <a:pPr marL="285750" indent="-285750" algn="l">
              <a:buFont typeface="Arial" panose="020B0604020202020204" pitchFamily="34" charset="0"/>
              <a:buChar char="•"/>
            </a:pPr>
            <a:r>
              <a:rPr lang="en-US" b="1" i="0">
                <a:solidFill>
                  <a:srgbClr val="222222"/>
                </a:solidFill>
                <a:effectLst/>
                <a:latin typeface="Arial" panose="020B0604020202020204" pitchFamily="34" charset="0"/>
                <a:cs typeface="Arial" panose="020B0604020202020204" pitchFamily="34" charset="0"/>
              </a:rPr>
              <a:t>PSEL</a:t>
            </a:r>
            <a:r>
              <a:rPr lang="en-US" b="0" i="0">
                <a:solidFill>
                  <a:srgbClr val="222222"/>
                </a:solidFill>
                <a:effectLst/>
                <a:latin typeface="Arial" panose="020B0604020202020204" pitchFamily="34" charset="0"/>
                <a:cs typeface="Arial" panose="020B0604020202020204" pitchFamily="34" charset="0"/>
              </a:rPr>
              <a:t> is also de-asserted, if next transfer is not to the same slave.</a:t>
            </a:r>
          </a:p>
        </p:txBody>
      </p:sp>
    </p:spTree>
    <p:extLst>
      <p:ext uri="{BB962C8B-B14F-4D97-AF65-F5344CB8AC3E}">
        <p14:creationId xmlns:p14="http://schemas.microsoft.com/office/powerpoint/2010/main" val="14728383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208AF2E-40F9-2201-E467-D6C0201C921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FEF4D6A-9DA7-9557-7A15-52742D0688EF}"/>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0208295F-CE53-1903-9667-24EA94E4C90A}"/>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13</a:t>
            </a:fld>
            <a:endParaRPr spc="-25" dirty="0"/>
          </a:p>
        </p:txBody>
      </p:sp>
      <p:sp>
        <p:nvSpPr>
          <p:cNvPr id="6" name="object 6">
            <a:extLst>
              <a:ext uri="{FF2B5EF4-FFF2-40B4-BE49-F238E27FC236}">
                <a16:creationId xmlns:a16="http://schemas.microsoft.com/office/drawing/2014/main" id="{58FA83A0-8F9E-EE8B-08F9-E027AD8AE0F4}"/>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0758A185-44F3-86BA-C90E-2082FD52AD45}"/>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76D206C8-2921-0718-5869-A252AE9EA325}"/>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APB Transfers – Write transfers</a:t>
            </a:r>
          </a:p>
        </p:txBody>
      </p:sp>
      <p:sp>
        <p:nvSpPr>
          <p:cNvPr id="8" name="TextBox 7">
            <a:extLst>
              <a:ext uri="{FF2B5EF4-FFF2-40B4-BE49-F238E27FC236}">
                <a16:creationId xmlns:a16="http://schemas.microsoft.com/office/drawing/2014/main" id="{E7887106-65C3-3879-F237-2BEC52FE683B}"/>
              </a:ext>
            </a:extLst>
          </p:cNvPr>
          <p:cNvSpPr txBox="1"/>
          <p:nvPr/>
        </p:nvSpPr>
        <p:spPr>
          <a:xfrm>
            <a:off x="457200" y="2389181"/>
            <a:ext cx="5334000" cy="3416320"/>
          </a:xfrm>
          <a:prstGeom prst="rect">
            <a:avLst/>
          </a:prstGeom>
          <a:noFill/>
        </p:spPr>
        <p:txBody>
          <a:bodyPr wrap="square">
            <a:spAutoFit/>
          </a:bodyPr>
          <a:lstStyle/>
          <a:p>
            <a:pPr marL="285750" indent="-285750"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During the ACCESS Phase, when </a:t>
            </a:r>
            <a:r>
              <a:rPr lang="en-US" b="1" i="0">
                <a:solidFill>
                  <a:srgbClr val="222222"/>
                </a:solidFill>
                <a:effectLst/>
                <a:latin typeface="Arial" panose="020B0604020202020204" pitchFamily="34" charset="0"/>
                <a:cs typeface="Arial" panose="020B0604020202020204" pitchFamily="34" charset="0"/>
              </a:rPr>
              <a:t>PENABLE</a:t>
            </a:r>
            <a:r>
              <a:rPr lang="en-US" b="0" i="0">
                <a:solidFill>
                  <a:srgbClr val="222222"/>
                </a:solidFill>
                <a:effectLst/>
                <a:latin typeface="Arial" panose="020B0604020202020204" pitchFamily="34" charset="0"/>
                <a:cs typeface="Arial" panose="020B0604020202020204" pitchFamily="34" charset="0"/>
              </a:rPr>
              <a:t> is high, the slave extends the transfer by driving </a:t>
            </a:r>
            <a:r>
              <a:rPr lang="en-US" b="1" i="0">
                <a:solidFill>
                  <a:srgbClr val="222222"/>
                </a:solidFill>
                <a:effectLst/>
                <a:latin typeface="Arial" panose="020B0604020202020204" pitchFamily="34" charset="0"/>
                <a:cs typeface="Arial" panose="020B0604020202020204" pitchFamily="34" charset="0"/>
              </a:rPr>
              <a:t>PREADY</a:t>
            </a:r>
            <a:r>
              <a:rPr lang="en-US" b="0" i="0">
                <a:solidFill>
                  <a:srgbClr val="222222"/>
                </a:solidFill>
                <a:effectLst/>
                <a:latin typeface="Arial" panose="020B0604020202020204" pitchFamily="34" charset="0"/>
                <a:cs typeface="Arial" panose="020B0604020202020204" pitchFamily="34" charset="0"/>
              </a:rPr>
              <a:t> low.</a:t>
            </a:r>
          </a:p>
          <a:p>
            <a:pPr marL="285750" indent="-285750"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The </a:t>
            </a:r>
            <a:r>
              <a:rPr lang="en-US" b="1" i="0">
                <a:solidFill>
                  <a:srgbClr val="222222"/>
                </a:solidFill>
                <a:effectLst/>
                <a:latin typeface="Arial" panose="020B0604020202020204" pitchFamily="34" charset="0"/>
                <a:cs typeface="Arial" panose="020B0604020202020204" pitchFamily="34" charset="0"/>
              </a:rPr>
              <a:t>PADDR, PWRITE, PSEL, PENABLE, PWDATA, PSTRB, PPROT </a:t>
            </a:r>
            <a:r>
              <a:rPr lang="en-US" b="0" i="0">
                <a:solidFill>
                  <a:srgbClr val="222222"/>
                </a:solidFill>
                <a:effectLst/>
                <a:latin typeface="Arial" panose="020B0604020202020204" pitchFamily="34" charset="0"/>
                <a:cs typeface="Arial" panose="020B0604020202020204" pitchFamily="34" charset="0"/>
              </a:rPr>
              <a:t>signals should remain unchanged while </a:t>
            </a:r>
            <a:r>
              <a:rPr lang="en-US" b="1" i="0">
                <a:solidFill>
                  <a:srgbClr val="222222"/>
                </a:solidFill>
                <a:effectLst/>
                <a:latin typeface="Arial" panose="020B0604020202020204" pitchFamily="34" charset="0"/>
                <a:cs typeface="Arial" panose="020B0604020202020204" pitchFamily="34" charset="0"/>
              </a:rPr>
              <a:t>PREADY</a:t>
            </a:r>
            <a:r>
              <a:rPr lang="en-US" b="0" i="0">
                <a:solidFill>
                  <a:srgbClr val="222222"/>
                </a:solidFill>
                <a:effectLst/>
                <a:latin typeface="Arial" panose="020B0604020202020204" pitchFamily="34" charset="0"/>
                <a:cs typeface="Arial" panose="020B0604020202020204" pitchFamily="34" charset="0"/>
              </a:rPr>
              <a:t> is low</a:t>
            </a:r>
          </a:p>
          <a:p>
            <a:pPr marL="285750" indent="-285750" algn="l">
              <a:buFont typeface="Arial" panose="020B0604020202020204" pitchFamily="34" charset="0"/>
              <a:buChar char="•"/>
            </a:pPr>
            <a:r>
              <a:rPr lang="en-US" b="1" i="0">
                <a:solidFill>
                  <a:srgbClr val="222222"/>
                </a:solidFill>
                <a:effectLst/>
                <a:latin typeface="Arial" panose="020B0604020202020204" pitchFamily="34" charset="0"/>
                <a:cs typeface="Arial" panose="020B0604020202020204" pitchFamily="34" charset="0"/>
              </a:rPr>
              <a:t>PREADY</a:t>
            </a:r>
            <a:r>
              <a:rPr lang="en-US" b="0" i="0">
                <a:solidFill>
                  <a:srgbClr val="222222"/>
                </a:solidFill>
                <a:effectLst/>
                <a:latin typeface="Arial" panose="020B0604020202020204" pitchFamily="34" charset="0"/>
                <a:cs typeface="Arial" panose="020B0604020202020204" pitchFamily="34" charset="0"/>
              </a:rPr>
              <a:t> can take any value when </a:t>
            </a:r>
            <a:r>
              <a:rPr lang="en-US" b="1" i="0">
                <a:solidFill>
                  <a:srgbClr val="222222"/>
                </a:solidFill>
                <a:effectLst/>
                <a:latin typeface="Arial" panose="020B0604020202020204" pitchFamily="34" charset="0"/>
                <a:cs typeface="Arial" panose="020B0604020202020204" pitchFamily="34" charset="0"/>
              </a:rPr>
              <a:t>PENABLE</a:t>
            </a:r>
            <a:r>
              <a:rPr lang="en-US" b="0" i="0">
                <a:solidFill>
                  <a:srgbClr val="222222"/>
                </a:solidFill>
                <a:effectLst/>
                <a:latin typeface="Arial" panose="020B0604020202020204" pitchFamily="34" charset="0"/>
                <a:cs typeface="Arial" panose="020B0604020202020204" pitchFamily="34" charset="0"/>
              </a:rPr>
              <a:t> is low.</a:t>
            </a:r>
          </a:p>
          <a:p>
            <a:pPr marL="285750" indent="-285750"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It is recommended that the address and write signals are not changed immediately after a transfer, but remain stable until another access occurs.</a:t>
            </a:r>
          </a:p>
        </p:txBody>
      </p:sp>
      <p:sp>
        <p:nvSpPr>
          <p:cNvPr id="9" name="TextBox 8">
            <a:extLst>
              <a:ext uri="{FF2B5EF4-FFF2-40B4-BE49-F238E27FC236}">
                <a16:creationId xmlns:a16="http://schemas.microsoft.com/office/drawing/2014/main" id="{4411A5C5-260B-F88C-83FC-7D0ECC5D975B}"/>
              </a:ext>
            </a:extLst>
          </p:cNvPr>
          <p:cNvSpPr txBox="1"/>
          <p:nvPr/>
        </p:nvSpPr>
        <p:spPr>
          <a:xfrm>
            <a:off x="508317" y="1661817"/>
            <a:ext cx="4343400" cy="369332"/>
          </a:xfrm>
          <a:prstGeom prst="rect">
            <a:avLst/>
          </a:prstGeom>
          <a:noFill/>
        </p:spPr>
        <p:txBody>
          <a:bodyPr wrap="square">
            <a:spAutoFit/>
          </a:bodyPr>
          <a:lstStyle/>
          <a:p>
            <a:r>
              <a:rPr lang="en-US" b="1"/>
              <a:t>WRITE Transfer – With Wait States</a:t>
            </a:r>
          </a:p>
        </p:txBody>
      </p:sp>
      <p:pic>
        <p:nvPicPr>
          <p:cNvPr id="10" name="Picture 9">
            <a:extLst>
              <a:ext uri="{FF2B5EF4-FFF2-40B4-BE49-F238E27FC236}">
                <a16:creationId xmlns:a16="http://schemas.microsoft.com/office/drawing/2014/main" id="{BB02F5BD-C897-6F4C-6A68-0EBC28BB27A2}"/>
              </a:ext>
            </a:extLst>
          </p:cNvPr>
          <p:cNvPicPr>
            <a:picLocks noChangeAspect="1"/>
          </p:cNvPicPr>
          <p:nvPr/>
        </p:nvPicPr>
        <p:blipFill>
          <a:blip r:embed="rId2"/>
          <a:stretch>
            <a:fillRect/>
          </a:stretch>
        </p:blipFill>
        <p:spPr>
          <a:xfrm>
            <a:off x="5757427" y="2389181"/>
            <a:ext cx="6234749" cy="2868619"/>
          </a:xfrm>
          <a:prstGeom prst="rect">
            <a:avLst/>
          </a:prstGeom>
        </p:spPr>
      </p:pic>
    </p:spTree>
    <p:extLst>
      <p:ext uri="{BB962C8B-B14F-4D97-AF65-F5344CB8AC3E}">
        <p14:creationId xmlns:p14="http://schemas.microsoft.com/office/powerpoint/2010/main" val="40905052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741D64E-A528-1C9C-1145-D96828CBFE4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4BE3DE9-EF8F-B2CD-5133-90A9FB19C8AB}"/>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E8C2AD3D-882A-EB46-B78D-2A0938509E5E}"/>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14</a:t>
            </a:fld>
            <a:endParaRPr spc="-25" dirty="0"/>
          </a:p>
        </p:txBody>
      </p:sp>
      <p:sp>
        <p:nvSpPr>
          <p:cNvPr id="6" name="object 6">
            <a:extLst>
              <a:ext uri="{FF2B5EF4-FFF2-40B4-BE49-F238E27FC236}">
                <a16:creationId xmlns:a16="http://schemas.microsoft.com/office/drawing/2014/main" id="{A160E858-4A78-EF7D-035A-8BB7E48F7BE2}"/>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5D0E04BA-A457-45A7-76AE-D3240F0A9F55}"/>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D3B6D4F6-0C85-8A6C-292A-2DCA5B68792B}"/>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APB Transfers – Write strobes</a:t>
            </a:r>
          </a:p>
        </p:txBody>
      </p:sp>
      <p:pic>
        <p:nvPicPr>
          <p:cNvPr id="8" name="Picture 7" descr="A black text on a white background&#10;&#10;AI-generated content may be incorrect.">
            <a:extLst>
              <a:ext uri="{FF2B5EF4-FFF2-40B4-BE49-F238E27FC236}">
                <a16:creationId xmlns:a16="http://schemas.microsoft.com/office/drawing/2014/main" id="{006031B3-2232-BFBF-F659-C1477AD0567E}"/>
              </a:ext>
            </a:extLst>
          </p:cNvPr>
          <p:cNvPicPr>
            <a:picLocks noChangeAspect="1"/>
          </p:cNvPicPr>
          <p:nvPr/>
        </p:nvPicPr>
        <p:blipFill>
          <a:blip r:embed="rId2"/>
          <a:stretch>
            <a:fillRect/>
          </a:stretch>
        </p:blipFill>
        <p:spPr>
          <a:xfrm>
            <a:off x="2155833" y="3734777"/>
            <a:ext cx="7499334" cy="1275103"/>
          </a:xfrm>
          <a:prstGeom prst="rect">
            <a:avLst/>
          </a:prstGeom>
        </p:spPr>
      </p:pic>
      <p:sp>
        <p:nvSpPr>
          <p:cNvPr id="10" name="TextBox 9">
            <a:extLst>
              <a:ext uri="{FF2B5EF4-FFF2-40B4-BE49-F238E27FC236}">
                <a16:creationId xmlns:a16="http://schemas.microsoft.com/office/drawing/2014/main" id="{A8677040-4D26-3C5C-7032-84C347552D34}"/>
              </a:ext>
            </a:extLst>
          </p:cNvPr>
          <p:cNvSpPr txBox="1"/>
          <p:nvPr/>
        </p:nvSpPr>
        <p:spPr>
          <a:xfrm>
            <a:off x="418337" y="1974517"/>
            <a:ext cx="11123422" cy="1477328"/>
          </a:xfrm>
          <a:prstGeom prst="rect">
            <a:avLst/>
          </a:prstGeom>
          <a:noFill/>
        </p:spPr>
        <p:txBody>
          <a:bodyPr wrap="square">
            <a:spAutoFit/>
          </a:bodyPr>
          <a:lstStyle/>
          <a:p>
            <a:pPr marL="285750" indent="-285750">
              <a:buFont typeface="Arial" panose="020B0604020202020204" pitchFamily="34" charset="0"/>
              <a:buChar char="•"/>
            </a:pPr>
            <a:r>
              <a:rPr lang="en-US" b="1"/>
              <a:t>PSTRB</a:t>
            </a:r>
            <a:r>
              <a:rPr lang="en-US"/>
              <a:t> enables sparse data transfer on the write data bus. Each </a:t>
            </a:r>
            <a:r>
              <a:rPr lang="en-US" b="1"/>
              <a:t>PSTRB</a:t>
            </a:r>
            <a:r>
              <a:rPr lang="en-US"/>
              <a:t> corresponds to 1 byte of the write data bus. When asserted HIGH, </a:t>
            </a:r>
            <a:r>
              <a:rPr lang="en-US" b="1"/>
              <a:t>PSTRB</a:t>
            </a:r>
            <a:r>
              <a:rPr lang="en-US"/>
              <a:t> indicates that the corresponding byte lane of the write data bus contains valid information. </a:t>
            </a:r>
          </a:p>
          <a:p>
            <a:pPr marL="285750" indent="-285750">
              <a:buFont typeface="Arial" panose="020B0604020202020204" pitchFamily="34" charset="0"/>
              <a:buChar char="•"/>
            </a:pPr>
            <a:r>
              <a:rPr lang="en-US"/>
              <a:t>There is one write strobe for each 8 bits of the write data bus, so </a:t>
            </a:r>
            <a:r>
              <a:rPr lang="en-US" b="1"/>
              <a:t>PSTRB[n]</a:t>
            </a:r>
            <a:r>
              <a:rPr lang="en-US"/>
              <a:t> corresponds to </a:t>
            </a:r>
            <a:r>
              <a:rPr lang="en-US" b="1"/>
              <a:t>PWDATA[(8n + 7):(8n)]. </a:t>
            </a:r>
          </a:p>
        </p:txBody>
      </p:sp>
    </p:spTree>
    <p:extLst>
      <p:ext uri="{BB962C8B-B14F-4D97-AF65-F5344CB8AC3E}">
        <p14:creationId xmlns:p14="http://schemas.microsoft.com/office/powerpoint/2010/main" val="37488013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5CCB81D-58A7-1090-A317-9AE954DBBE0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0D16283-1496-7579-8AD0-A91053B3AC35}"/>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8614AAF9-73F0-7961-EB1C-74CFC2EE1CB2}"/>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15</a:t>
            </a:fld>
            <a:endParaRPr spc="-25" dirty="0"/>
          </a:p>
        </p:txBody>
      </p:sp>
      <p:sp>
        <p:nvSpPr>
          <p:cNvPr id="6" name="object 6">
            <a:extLst>
              <a:ext uri="{FF2B5EF4-FFF2-40B4-BE49-F238E27FC236}">
                <a16:creationId xmlns:a16="http://schemas.microsoft.com/office/drawing/2014/main" id="{58C0ED6D-9D93-5101-3004-D41887182798}"/>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BA536062-195E-31E3-C24D-DD67380F1284}"/>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7A6E6724-C32C-B0D9-D2C7-4774772AECCA}"/>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APB Transfers – Write strobes</a:t>
            </a:r>
          </a:p>
        </p:txBody>
      </p:sp>
      <p:sp>
        <p:nvSpPr>
          <p:cNvPr id="8" name="TextBox 7">
            <a:extLst>
              <a:ext uri="{FF2B5EF4-FFF2-40B4-BE49-F238E27FC236}">
                <a16:creationId xmlns:a16="http://schemas.microsoft.com/office/drawing/2014/main" id="{D7D17CC8-DBA1-14C8-D8FE-34AACE818FD1}"/>
              </a:ext>
            </a:extLst>
          </p:cNvPr>
          <p:cNvSpPr txBox="1"/>
          <p:nvPr/>
        </p:nvSpPr>
        <p:spPr>
          <a:xfrm>
            <a:off x="457200" y="1905000"/>
            <a:ext cx="10896600" cy="923330"/>
          </a:xfrm>
          <a:prstGeom prst="rect">
            <a:avLst/>
          </a:prstGeom>
          <a:noFill/>
        </p:spPr>
        <p:txBody>
          <a:bodyPr wrap="square">
            <a:spAutoFit/>
          </a:bodyPr>
          <a:lstStyle/>
          <a:p>
            <a:r>
              <a:rPr lang="en-US" b="1"/>
              <a:t>PSTRB</a:t>
            </a:r>
            <a:r>
              <a:rPr lang="en-US"/>
              <a:t> is an optional signal. An APB peripheral might support a limited set of access types, which must be documented for the programmer. This means that all combinations of </a:t>
            </a:r>
            <a:r>
              <a:rPr lang="en-US" b="1"/>
              <a:t>PSTRB</a:t>
            </a:r>
            <a:r>
              <a:rPr lang="en-US"/>
              <a:t> presence might be compatible, if this document states that sparse writes are not supported.</a:t>
            </a:r>
          </a:p>
        </p:txBody>
      </p:sp>
      <p:graphicFrame>
        <p:nvGraphicFramePr>
          <p:cNvPr id="9" name="Table 8">
            <a:extLst>
              <a:ext uri="{FF2B5EF4-FFF2-40B4-BE49-F238E27FC236}">
                <a16:creationId xmlns:a16="http://schemas.microsoft.com/office/drawing/2014/main" id="{68D2FEAF-BB1C-3AFE-4008-CB1C1CCF3C07}"/>
              </a:ext>
            </a:extLst>
          </p:cNvPr>
          <p:cNvGraphicFramePr>
            <a:graphicFrameLocks noGrp="1"/>
          </p:cNvGraphicFramePr>
          <p:nvPr>
            <p:extLst>
              <p:ext uri="{D42A27DB-BD31-4B8C-83A1-F6EECF244321}">
                <p14:modId xmlns:p14="http://schemas.microsoft.com/office/powerpoint/2010/main" val="1159340634"/>
              </p:ext>
            </p:extLst>
          </p:nvPr>
        </p:nvGraphicFramePr>
        <p:xfrm>
          <a:off x="1513394" y="3137045"/>
          <a:ext cx="9165083" cy="2016760"/>
        </p:xfrm>
        <a:graphic>
          <a:graphicData uri="http://schemas.openxmlformats.org/drawingml/2006/table">
            <a:tbl>
              <a:tblPr firstRow="1" bandRow="1">
                <a:tableStyleId>{5C22544A-7EE6-4342-B048-85BDC9FD1C3A}</a:tableStyleId>
              </a:tblPr>
              <a:tblGrid>
                <a:gridCol w="1990045">
                  <a:extLst>
                    <a:ext uri="{9D8B030D-6E8A-4147-A177-3AD203B41FA5}">
                      <a16:colId xmlns:a16="http://schemas.microsoft.com/office/drawing/2014/main" val="1108912286"/>
                    </a:ext>
                  </a:extLst>
                </a:gridCol>
                <a:gridCol w="3445597">
                  <a:extLst>
                    <a:ext uri="{9D8B030D-6E8A-4147-A177-3AD203B41FA5}">
                      <a16:colId xmlns:a16="http://schemas.microsoft.com/office/drawing/2014/main" val="2272246613"/>
                    </a:ext>
                  </a:extLst>
                </a:gridCol>
                <a:gridCol w="3729441">
                  <a:extLst>
                    <a:ext uri="{9D8B030D-6E8A-4147-A177-3AD203B41FA5}">
                      <a16:colId xmlns:a16="http://schemas.microsoft.com/office/drawing/2014/main" val="10821907"/>
                    </a:ext>
                  </a:extLst>
                </a:gridCol>
              </a:tblGrid>
              <a:tr h="370840">
                <a:tc>
                  <a:txBody>
                    <a:bodyPr/>
                    <a:lstStyle/>
                    <a:p>
                      <a:pPr algn="ctr"/>
                      <a:r>
                        <a:rPr lang="en-US" sz="1600">
                          <a:solidFill>
                            <a:schemeClr val="bg1"/>
                          </a:solidFill>
                          <a:latin typeface="Arial" panose="020B0604020202020204" pitchFamily="34" charset="0"/>
                          <a:cs typeface="Arial" panose="020B0604020202020204" pitchFamily="34" charset="0"/>
                        </a:rPr>
                        <a:t>PSTRB</a:t>
                      </a:r>
                    </a:p>
                  </a:txBody>
                  <a:tcPr>
                    <a:solidFill>
                      <a:srgbClr val="7030A0"/>
                    </a:solidFill>
                  </a:tcPr>
                </a:tc>
                <a:tc>
                  <a:txBody>
                    <a:bodyPr/>
                    <a:lstStyle/>
                    <a:p>
                      <a:pPr algn="ctr"/>
                      <a:r>
                        <a:rPr lang="en-US" sz="1600">
                          <a:latin typeface="Arial" panose="020B0604020202020204" pitchFamily="34" charset="0"/>
                          <a:cs typeface="Arial" panose="020B0604020202020204" pitchFamily="34" charset="0"/>
                        </a:rPr>
                        <a:t>Completer: signal not present</a:t>
                      </a:r>
                      <a:endParaRPr lang="en-US" sz="1600">
                        <a:solidFill>
                          <a:schemeClr val="bg1"/>
                        </a:solidFill>
                        <a:latin typeface="Arial" panose="020B0604020202020204" pitchFamily="34" charset="0"/>
                        <a:cs typeface="Arial" panose="020B0604020202020204" pitchFamily="34" charset="0"/>
                      </a:endParaRPr>
                    </a:p>
                  </a:txBody>
                  <a:tcPr>
                    <a:solidFill>
                      <a:srgbClr val="7030A0"/>
                    </a:solidFill>
                  </a:tcPr>
                </a:tc>
                <a:tc>
                  <a:txBody>
                    <a:bodyPr/>
                    <a:lstStyle/>
                    <a:p>
                      <a:pPr algn="ctr"/>
                      <a:r>
                        <a:rPr lang="en-US" sz="1600">
                          <a:latin typeface="Arial" panose="020B0604020202020204" pitchFamily="34" charset="0"/>
                          <a:cs typeface="Arial" panose="020B0604020202020204" pitchFamily="34" charset="0"/>
                        </a:rPr>
                        <a:t>Completer: signal present</a:t>
                      </a:r>
                      <a:endParaRPr lang="en-US" sz="1600">
                        <a:solidFill>
                          <a:schemeClr val="bg1"/>
                        </a:solidFill>
                        <a:latin typeface="Arial" panose="020B0604020202020204" pitchFamily="34" charset="0"/>
                        <a:cs typeface="Arial" panose="020B0604020202020204" pitchFamily="34" charset="0"/>
                      </a:endParaRPr>
                    </a:p>
                  </a:txBody>
                  <a:tcPr>
                    <a:solidFill>
                      <a:srgbClr val="7030A0"/>
                    </a:solidFill>
                  </a:tcPr>
                </a:tc>
                <a:extLst>
                  <a:ext uri="{0D108BD9-81ED-4DB2-BD59-A6C34878D82A}">
                    <a16:rowId xmlns:a16="http://schemas.microsoft.com/office/drawing/2014/main" val="3816104531"/>
                  </a:ext>
                </a:extLst>
              </a:tr>
              <a:tr h="370840">
                <a:tc>
                  <a:txBody>
                    <a:bodyPr/>
                    <a:lstStyle/>
                    <a:p>
                      <a:pPr algn="l"/>
                      <a:r>
                        <a:rPr lang="en-US" sz="1600">
                          <a:latin typeface="Arial" panose="020B0604020202020204" pitchFamily="34" charset="0"/>
                          <a:cs typeface="Arial" panose="020B0604020202020204" pitchFamily="34" charset="0"/>
                        </a:rPr>
                        <a:t>Requester: signal not present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Compatible. Sparse writes are not supported. </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a:latin typeface="Arial" panose="020B0604020202020204" pitchFamily="34" charset="0"/>
                          <a:cs typeface="Arial" panose="020B0604020202020204" pitchFamily="34" charset="0"/>
                        </a:rPr>
                        <a:t>Compatible. All write data byte lanes are valid for a write. Tie the PSTRB inputs to the PWRITE output from the Requester.</a:t>
                      </a:r>
                    </a:p>
                  </a:txBody>
                  <a:tcPr/>
                </a:tc>
                <a:extLst>
                  <a:ext uri="{0D108BD9-81ED-4DB2-BD59-A6C34878D82A}">
                    <a16:rowId xmlns:a16="http://schemas.microsoft.com/office/drawing/2014/main" val="4131091150"/>
                  </a:ext>
                </a:extLst>
              </a:tr>
              <a:tr h="370840">
                <a:tc>
                  <a:txBody>
                    <a:bodyPr/>
                    <a:lstStyle/>
                    <a:p>
                      <a:pPr algn="l"/>
                      <a:r>
                        <a:rPr lang="en-US" sz="1600">
                          <a:latin typeface="Arial" panose="020B0604020202020204" pitchFamily="34" charset="0"/>
                          <a:cs typeface="Arial" panose="020B0604020202020204" pitchFamily="34" charset="0"/>
                        </a:rPr>
                        <a:t>Requester: signal present</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Compatible. Sparse writes are not supported. </a:t>
                      </a:r>
                      <a:endParaRPr lang="en-IN" sz="160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a:latin typeface="Arial" panose="020B0604020202020204" pitchFamily="34" charset="0"/>
                          <a:cs typeface="Arial" panose="020B0604020202020204" pitchFamily="34" charset="0"/>
                        </a:rPr>
                        <a:t>Compatible.</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93422610"/>
                  </a:ext>
                </a:extLst>
              </a:tr>
            </a:tbl>
          </a:graphicData>
        </a:graphic>
      </p:graphicFrame>
    </p:spTree>
    <p:extLst>
      <p:ext uri="{BB962C8B-B14F-4D97-AF65-F5344CB8AC3E}">
        <p14:creationId xmlns:p14="http://schemas.microsoft.com/office/powerpoint/2010/main" val="97778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62EA167-D6BB-1D4B-CFBC-7DED1AFCE59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09B56BA-513E-56FB-FD28-FB496D95C1AF}"/>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723A5E84-84AC-40D7-7124-414A5225A221}"/>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16</a:t>
            </a:fld>
            <a:endParaRPr spc="-25" dirty="0"/>
          </a:p>
        </p:txBody>
      </p:sp>
      <p:sp>
        <p:nvSpPr>
          <p:cNvPr id="6" name="object 6">
            <a:extLst>
              <a:ext uri="{FF2B5EF4-FFF2-40B4-BE49-F238E27FC236}">
                <a16:creationId xmlns:a16="http://schemas.microsoft.com/office/drawing/2014/main" id="{1DDAAC54-28D4-FA55-2E7B-DB98F4AB8949}"/>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BC907D03-1C16-B64E-4C20-42B2DAB66DF0}"/>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BF45FF72-54DD-079B-B243-C1E1C885F602}"/>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APB Transfers – Read transfers</a:t>
            </a:r>
          </a:p>
        </p:txBody>
      </p:sp>
      <p:pic>
        <p:nvPicPr>
          <p:cNvPr id="8" name="Picture 7" descr="A diagram of a diagram&#10;&#10;AI-generated content may be incorrect.">
            <a:extLst>
              <a:ext uri="{FF2B5EF4-FFF2-40B4-BE49-F238E27FC236}">
                <a16:creationId xmlns:a16="http://schemas.microsoft.com/office/drawing/2014/main" id="{7B095D39-98FC-7FBF-8E06-81A487909CA6}"/>
              </a:ext>
            </a:extLst>
          </p:cNvPr>
          <p:cNvPicPr>
            <a:picLocks noChangeAspect="1"/>
          </p:cNvPicPr>
          <p:nvPr/>
        </p:nvPicPr>
        <p:blipFill>
          <a:blip r:embed="rId2"/>
          <a:stretch>
            <a:fillRect/>
          </a:stretch>
        </p:blipFill>
        <p:spPr>
          <a:xfrm>
            <a:off x="6248400" y="2051202"/>
            <a:ext cx="5758493" cy="3531451"/>
          </a:xfrm>
          <a:prstGeom prst="rect">
            <a:avLst/>
          </a:prstGeom>
        </p:spPr>
      </p:pic>
      <p:sp>
        <p:nvSpPr>
          <p:cNvPr id="12" name="TextBox 11">
            <a:extLst>
              <a:ext uri="{FF2B5EF4-FFF2-40B4-BE49-F238E27FC236}">
                <a16:creationId xmlns:a16="http://schemas.microsoft.com/office/drawing/2014/main" id="{A6A18D48-E6D3-3346-6FAD-C1BEC7B7FCC9}"/>
              </a:ext>
            </a:extLst>
          </p:cNvPr>
          <p:cNvSpPr txBox="1"/>
          <p:nvPr/>
        </p:nvSpPr>
        <p:spPr>
          <a:xfrm>
            <a:off x="514413" y="2229345"/>
            <a:ext cx="6094476" cy="3693319"/>
          </a:xfrm>
          <a:prstGeom prst="rect">
            <a:avLst/>
          </a:prstGeom>
          <a:noFill/>
        </p:spPr>
        <p:txBody>
          <a:bodyPr wrap="square">
            <a:spAutoFit/>
          </a:bodyPr>
          <a:lstStyle/>
          <a:p>
            <a:pPr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At T1, a READ transfer with address </a:t>
            </a:r>
            <a:r>
              <a:rPr lang="en-US" b="1" i="0">
                <a:solidFill>
                  <a:srgbClr val="222222"/>
                </a:solidFill>
                <a:effectLst/>
                <a:latin typeface="Arial" panose="020B0604020202020204" pitchFamily="34" charset="0"/>
                <a:cs typeface="Arial" panose="020B0604020202020204" pitchFamily="34" charset="0"/>
              </a:rPr>
              <a:t>PADDR, PWRITE </a:t>
            </a:r>
            <a:r>
              <a:rPr lang="en-US" b="0" i="0">
                <a:solidFill>
                  <a:srgbClr val="222222"/>
                </a:solidFill>
                <a:effectLst/>
                <a:latin typeface="Arial" panose="020B0604020202020204" pitchFamily="34" charset="0"/>
                <a:cs typeface="Arial" panose="020B0604020202020204" pitchFamily="34" charset="0"/>
              </a:rPr>
              <a:t>and </a:t>
            </a:r>
            <a:r>
              <a:rPr lang="en-US" b="1" i="0">
                <a:solidFill>
                  <a:srgbClr val="222222"/>
                </a:solidFill>
                <a:effectLst/>
                <a:latin typeface="Arial" panose="020B0604020202020204" pitchFamily="34" charset="0"/>
                <a:cs typeface="Arial" panose="020B0604020202020204" pitchFamily="34" charset="0"/>
              </a:rPr>
              <a:t>PSEL</a:t>
            </a:r>
            <a:r>
              <a:rPr lang="en-US" b="0" i="0">
                <a:solidFill>
                  <a:srgbClr val="222222"/>
                </a:solidFill>
                <a:effectLst/>
                <a:latin typeface="Arial" panose="020B0604020202020204" pitchFamily="34" charset="0"/>
                <a:cs typeface="Arial" panose="020B0604020202020204" pitchFamily="34" charset="0"/>
              </a:rPr>
              <a:t> starts.</a:t>
            </a:r>
          </a:p>
          <a:p>
            <a:pPr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They will be registered at rising edge of </a:t>
            </a:r>
            <a:r>
              <a:rPr lang="en-US" b="1" i="0">
                <a:solidFill>
                  <a:srgbClr val="222222"/>
                </a:solidFill>
                <a:effectLst/>
                <a:latin typeface="Arial" panose="020B0604020202020204" pitchFamily="34" charset="0"/>
                <a:cs typeface="Arial" panose="020B0604020202020204" pitchFamily="34" charset="0"/>
              </a:rPr>
              <a:t>PCLK</a:t>
            </a:r>
            <a:r>
              <a:rPr lang="en-US" b="0" i="0">
                <a:solidFill>
                  <a:srgbClr val="222222"/>
                </a:solidFill>
                <a:effectLst/>
                <a:latin typeface="Arial" panose="020B0604020202020204" pitchFamily="34" charset="0"/>
                <a:cs typeface="Arial" panose="020B0604020202020204" pitchFamily="34" charset="0"/>
              </a:rPr>
              <a:t>.</a:t>
            </a:r>
          </a:p>
          <a:p>
            <a:pPr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This is SETUP Phase of the transfer.</a:t>
            </a:r>
          </a:p>
          <a:p>
            <a:pPr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After T2, </a:t>
            </a:r>
            <a:r>
              <a:rPr lang="en-US" b="1" i="0">
                <a:solidFill>
                  <a:srgbClr val="222222"/>
                </a:solidFill>
                <a:effectLst/>
                <a:latin typeface="Arial" panose="020B0604020202020204" pitchFamily="34" charset="0"/>
                <a:cs typeface="Arial" panose="020B0604020202020204" pitchFamily="34" charset="0"/>
              </a:rPr>
              <a:t>PENABLE and PREADY </a:t>
            </a:r>
            <a:r>
              <a:rPr lang="en-US" b="0" i="0">
                <a:solidFill>
                  <a:srgbClr val="222222"/>
                </a:solidFill>
                <a:effectLst/>
                <a:latin typeface="Arial" panose="020B0604020202020204" pitchFamily="34" charset="0"/>
                <a:cs typeface="Arial" panose="020B0604020202020204" pitchFamily="34" charset="0"/>
              </a:rPr>
              <a:t>are registered at the rising edge of </a:t>
            </a:r>
            <a:r>
              <a:rPr lang="en-US" b="1" i="0">
                <a:solidFill>
                  <a:srgbClr val="222222"/>
                </a:solidFill>
                <a:effectLst/>
                <a:latin typeface="Arial" panose="020B0604020202020204" pitchFamily="34" charset="0"/>
                <a:cs typeface="Arial" panose="020B0604020202020204" pitchFamily="34" charset="0"/>
              </a:rPr>
              <a:t>PCLK</a:t>
            </a:r>
            <a:r>
              <a:rPr lang="en-US" b="0" i="0">
                <a:solidFill>
                  <a:srgbClr val="222222"/>
                </a:solidFill>
                <a:effectLst/>
                <a:latin typeface="Arial" panose="020B0604020202020204" pitchFamily="34" charset="0"/>
                <a:cs typeface="Arial" panose="020B0604020202020204" pitchFamily="34" charset="0"/>
              </a:rPr>
              <a:t>.</a:t>
            </a:r>
          </a:p>
          <a:p>
            <a:pPr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When asserted, </a:t>
            </a:r>
            <a:r>
              <a:rPr lang="en-US" b="1" i="0">
                <a:solidFill>
                  <a:srgbClr val="222222"/>
                </a:solidFill>
                <a:effectLst/>
                <a:latin typeface="Arial" panose="020B0604020202020204" pitchFamily="34" charset="0"/>
                <a:cs typeface="Arial" panose="020B0604020202020204" pitchFamily="34" charset="0"/>
              </a:rPr>
              <a:t>PENABLE</a:t>
            </a:r>
            <a:r>
              <a:rPr lang="en-US" b="0" i="0">
                <a:solidFill>
                  <a:srgbClr val="222222"/>
                </a:solidFill>
                <a:effectLst/>
                <a:latin typeface="Arial" panose="020B0604020202020204" pitchFamily="34" charset="0"/>
                <a:cs typeface="Arial" panose="020B0604020202020204" pitchFamily="34" charset="0"/>
              </a:rPr>
              <a:t> indicates the starting of ACCESS phase.</a:t>
            </a:r>
          </a:p>
          <a:p>
            <a:pPr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When asserted, </a:t>
            </a:r>
            <a:r>
              <a:rPr lang="en-US" b="1" i="0">
                <a:solidFill>
                  <a:srgbClr val="222222"/>
                </a:solidFill>
                <a:effectLst/>
                <a:latin typeface="Arial" panose="020B0604020202020204" pitchFamily="34" charset="0"/>
                <a:cs typeface="Arial" panose="020B0604020202020204" pitchFamily="34" charset="0"/>
              </a:rPr>
              <a:t>PREADY</a:t>
            </a:r>
            <a:r>
              <a:rPr lang="en-US" b="0" i="0">
                <a:solidFill>
                  <a:srgbClr val="222222"/>
                </a:solidFill>
                <a:effectLst/>
                <a:latin typeface="Arial" panose="020B0604020202020204" pitchFamily="34" charset="0"/>
                <a:cs typeface="Arial" panose="020B0604020202020204" pitchFamily="34" charset="0"/>
              </a:rPr>
              <a:t> indicates that slave can complete the transfer at next rising edge of </a:t>
            </a:r>
            <a:r>
              <a:rPr lang="en-US" b="1" i="0">
                <a:solidFill>
                  <a:srgbClr val="222222"/>
                </a:solidFill>
                <a:effectLst/>
                <a:latin typeface="Arial" panose="020B0604020202020204" pitchFamily="34" charset="0"/>
                <a:cs typeface="Arial" panose="020B0604020202020204" pitchFamily="34" charset="0"/>
              </a:rPr>
              <a:t>PCLK</a:t>
            </a:r>
            <a:r>
              <a:rPr lang="en-US" b="0" i="0">
                <a:solidFill>
                  <a:srgbClr val="222222"/>
                </a:solidFill>
                <a:effectLst/>
                <a:latin typeface="Arial" panose="020B0604020202020204" pitchFamily="34" charset="0"/>
                <a:cs typeface="Arial" panose="020B0604020202020204" pitchFamily="34" charset="0"/>
              </a:rPr>
              <a:t> by providing the data on </a:t>
            </a:r>
            <a:r>
              <a:rPr lang="en-US" b="1" i="0">
                <a:solidFill>
                  <a:srgbClr val="222222"/>
                </a:solidFill>
                <a:effectLst/>
                <a:latin typeface="Arial" panose="020B0604020202020204" pitchFamily="34" charset="0"/>
                <a:cs typeface="Arial" panose="020B0604020202020204" pitchFamily="34" charset="0"/>
              </a:rPr>
              <a:t>PRDATA</a:t>
            </a:r>
            <a:r>
              <a:rPr lang="en-US" b="0" i="0">
                <a:solidFill>
                  <a:srgbClr val="222222"/>
                </a:solidFill>
                <a:effectLst/>
                <a:latin typeface="Arial" panose="020B0604020202020204" pitchFamily="34" charset="0"/>
                <a:cs typeface="Arial" panose="020B0604020202020204" pitchFamily="34" charset="0"/>
              </a:rPr>
              <a:t>.</a:t>
            </a:r>
          </a:p>
          <a:p>
            <a:pPr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Slave must provide the data before the end of read transfer. i.e. before T3.</a:t>
            </a:r>
          </a:p>
        </p:txBody>
      </p:sp>
      <p:sp>
        <p:nvSpPr>
          <p:cNvPr id="13" name="TextBox 12">
            <a:extLst>
              <a:ext uri="{FF2B5EF4-FFF2-40B4-BE49-F238E27FC236}">
                <a16:creationId xmlns:a16="http://schemas.microsoft.com/office/drawing/2014/main" id="{F17A4553-5FE5-512F-BDA1-EB13CC75171D}"/>
              </a:ext>
            </a:extLst>
          </p:cNvPr>
          <p:cNvSpPr txBox="1"/>
          <p:nvPr/>
        </p:nvSpPr>
        <p:spPr>
          <a:xfrm>
            <a:off x="508317" y="1661817"/>
            <a:ext cx="4343400" cy="369332"/>
          </a:xfrm>
          <a:prstGeom prst="rect">
            <a:avLst/>
          </a:prstGeom>
          <a:noFill/>
        </p:spPr>
        <p:txBody>
          <a:bodyPr wrap="square">
            <a:spAutoFit/>
          </a:bodyPr>
          <a:lstStyle/>
          <a:p>
            <a:r>
              <a:rPr lang="en-US" b="1"/>
              <a:t>Read Transfer – Without Wait States</a:t>
            </a:r>
          </a:p>
        </p:txBody>
      </p:sp>
    </p:spTree>
    <p:extLst>
      <p:ext uri="{BB962C8B-B14F-4D97-AF65-F5344CB8AC3E}">
        <p14:creationId xmlns:p14="http://schemas.microsoft.com/office/powerpoint/2010/main" val="42743816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762E7F4-81DA-07E9-FB68-B43D73053A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EE635E7-0F58-B053-2B20-1F77E1C3706C}"/>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B0414486-75A7-3FCA-5BA9-A54C7E54D518}"/>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17</a:t>
            </a:fld>
            <a:endParaRPr spc="-25" dirty="0"/>
          </a:p>
        </p:txBody>
      </p:sp>
      <p:sp>
        <p:nvSpPr>
          <p:cNvPr id="6" name="object 6">
            <a:extLst>
              <a:ext uri="{FF2B5EF4-FFF2-40B4-BE49-F238E27FC236}">
                <a16:creationId xmlns:a16="http://schemas.microsoft.com/office/drawing/2014/main" id="{37CAA126-9174-5350-F2FD-47944A5B3666}"/>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342EF294-2A3A-F960-4AAC-5A853F970113}"/>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2D2D3190-4352-3964-0D8C-3E24A01B152E}"/>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APB Transfers – Read transfers</a:t>
            </a:r>
          </a:p>
        </p:txBody>
      </p:sp>
      <p:sp>
        <p:nvSpPr>
          <p:cNvPr id="7" name="TextBox 6">
            <a:extLst>
              <a:ext uri="{FF2B5EF4-FFF2-40B4-BE49-F238E27FC236}">
                <a16:creationId xmlns:a16="http://schemas.microsoft.com/office/drawing/2014/main" id="{7C304EB0-CC61-2079-A801-C605564661AB}"/>
              </a:ext>
            </a:extLst>
          </p:cNvPr>
          <p:cNvSpPr txBox="1"/>
          <p:nvPr/>
        </p:nvSpPr>
        <p:spPr>
          <a:xfrm>
            <a:off x="508317" y="1661817"/>
            <a:ext cx="4343400" cy="369332"/>
          </a:xfrm>
          <a:prstGeom prst="rect">
            <a:avLst/>
          </a:prstGeom>
          <a:noFill/>
        </p:spPr>
        <p:txBody>
          <a:bodyPr wrap="square">
            <a:spAutoFit/>
          </a:bodyPr>
          <a:lstStyle/>
          <a:p>
            <a:r>
              <a:rPr lang="en-US" b="1"/>
              <a:t>Read Transfer – With Wait States</a:t>
            </a:r>
          </a:p>
        </p:txBody>
      </p:sp>
      <p:pic>
        <p:nvPicPr>
          <p:cNvPr id="9" name="Picture 8" descr="A diagram of a diagram&#10;&#10;AI-generated content may be incorrect.">
            <a:extLst>
              <a:ext uri="{FF2B5EF4-FFF2-40B4-BE49-F238E27FC236}">
                <a16:creationId xmlns:a16="http://schemas.microsoft.com/office/drawing/2014/main" id="{514D1365-CE45-700E-E1C3-7006C8B27428}"/>
              </a:ext>
            </a:extLst>
          </p:cNvPr>
          <p:cNvPicPr>
            <a:picLocks noChangeAspect="1"/>
          </p:cNvPicPr>
          <p:nvPr/>
        </p:nvPicPr>
        <p:blipFill>
          <a:blip r:embed="rId2"/>
          <a:stretch>
            <a:fillRect/>
          </a:stretch>
        </p:blipFill>
        <p:spPr>
          <a:xfrm>
            <a:off x="5486400" y="2627743"/>
            <a:ext cx="6387191" cy="2677491"/>
          </a:xfrm>
          <a:prstGeom prst="rect">
            <a:avLst/>
          </a:prstGeom>
        </p:spPr>
      </p:pic>
      <p:sp>
        <p:nvSpPr>
          <p:cNvPr id="11" name="TextBox 10">
            <a:extLst>
              <a:ext uri="{FF2B5EF4-FFF2-40B4-BE49-F238E27FC236}">
                <a16:creationId xmlns:a16="http://schemas.microsoft.com/office/drawing/2014/main" id="{AE09E441-8DF9-B2F2-2463-DA22F527CE3E}"/>
              </a:ext>
            </a:extLst>
          </p:cNvPr>
          <p:cNvSpPr txBox="1"/>
          <p:nvPr/>
        </p:nvSpPr>
        <p:spPr>
          <a:xfrm>
            <a:off x="508317" y="3124200"/>
            <a:ext cx="4978083" cy="1754326"/>
          </a:xfrm>
          <a:prstGeom prst="rect">
            <a:avLst/>
          </a:prstGeom>
          <a:noFill/>
        </p:spPr>
        <p:txBody>
          <a:bodyPr wrap="square">
            <a:spAutoFit/>
          </a:bodyPr>
          <a:lstStyle/>
          <a:p>
            <a:pPr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During the ACCESS Phase, when </a:t>
            </a:r>
            <a:r>
              <a:rPr lang="en-US" b="1" i="0">
                <a:solidFill>
                  <a:srgbClr val="222222"/>
                </a:solidFill>
                <a:effectLst/>
                <a:latin typeface="Arial" panose="020B0604020202020204" pitchFamily="34" charset="0"/>
                <a:cs typeface="Arial" panose="020B0604020202020204" pitchFamily="34" charset="0"/>
              </a:rPr>
              <a:t>PENABLE</a:t>
            </a:r>
            <a:r>
              <a:rPr lang="en-US" b="0" i="0">
                <a:solidFill>
                  <a:srgbClr val="222222"/>
                </a:solidFill>
                <a:effectLst/>
                <a:latin typeface="Arial" panose="020B0604020202020204" pitchFamily="34" charset="0"/>
                <a:cs typeface="Arial" panose="020B0604020202020204" pitchFamily="34" charset="0"/>
              </a:rPr>
              <a:t> is high, the slave extends the transfer by driving </a:t>
            </a:r>
            <a:r>
              <a:rPr lang="en-US" b="1" i="0">
                <a:solidFill>
                  <a:srgbClr val="222222"/>
                </a:solidFill>
                <a:effectLst/>
                <a:latin typeface="Arial" panose="020B0604020202020204" pitchFamily="34" charset="0"/>
                <a:cs typeface="Arial" panose="020B0604020202020204" pitchFamily="34" charset="0"/>
              </a:rPr>
              <a:t>PREADY</a:t>
            </a:r>
            <a:r>
              <a:rPr lang="en-US" b="0" i="0">
                <a:solidFill>
                  <a:srgbClr val="222222"/>
                </a:solidFill>
                <a:effectLst/>
                <a:latin typeface="Arial" panose="020B0604020202020204" pitchFamily="34" charset="0"/>
                <a:cs typeface="Arial" panose="020B0604020202020204" pitchFamily="34" charset="0"/>
              </a:rPr>
              <a:t> low.</a:t>
            </a:r>
          </a:p>
          <a:p>
            <a:pPr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The </a:t>
            </a:r>
            <a:r>
              <a:rPr lang="en-US" b="1" i="0">
                <a:solidFill>
                  <a:srgbClr val="222222"/>
                </a:solidFill>
                <a:effectLst/>
                <a:latin typeface="Arial" panose="020B0604020202020204" pitchFamily="34" charset="0"/>
                <a:cs typeface="Arial" panose="020B0604020202020204" pitchFamily="34" charset="0"/>
              </a:rPr>
              <a:t>PADDR, PWRITE, PSEL, PENABLE, PPROT</a:t>
            </a:r>
            <a:r>
              <a:rPr lang="en-US" b="0" i="0">
                <a:solidFill>
                  <a:srgbClr val="222222"/>
                </a:solidFill>
                <a:effectLst/>
                <a:latin typeface="Arial" panose="020B0604020202020204" pitchFamily="34" charset="0"/>
                <a:cs typeface="Arial" panose="020B0604020202020204" pitchFamily="34" charset="0"/>
              </a:rPr>
              <a:t> signals should remain unchanged while </a:t>
            </a:r>
            <a:r>
              <a:rPr lang="en-US" b="1" i="0">
                <a:solidFill>
                  <a:srgbClr val="222222"/>
                </a:solidFill>
                <a:effectLst/>
                <a:latin typeface="Arial" panose="020B0604020202020204" pitchFamily="34" charset="0"/>
                <a:cs typeface="Arial" panose="020B0604020202020204" pitchFamily="34" charset="0"/>
              </a:rPr>
              <a:t>PREADY</a:t>
            </a:r>
            <a:r>
              <a:rPr lang="en-US" b="0" i="0">
                <a:solidFill>
                  <a:srgbClr val="222222"/>
                </a:solidFill>
                <a:effectLst/>
                <a:latin typeface="Arial" panose="020B0604020202020204" pitchFamily="34" charset="0"/>
                <a:cs typeface="Arial" panose="020B0604020202020204" pitchFamily="34" charset="0"/>
              </a:rPr>
              <a:t> is low</a:t>
            </a:r>
          </a:p>
        </p:txBody>
      </p:sp>
    </p:spTree>
    <p:extLst>
      <p:ext uri="{BB962C8B-B14F-4D97-AF65-F5344CB8AC3E}">
        <p14:creationId xmlns:p14="http://schemas.microsoft.com/office/powerpoint/2010/main" val="25904730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B05D810-D143-AB53-0A7E-610C7D88892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676D142-B358-C843-CB6C-80CAB159B02A}"/>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2553357B-6FB8-E69A-F1B5-801C4CEF69FA}"/>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18</a:t>
            </a:fld>
            <a:endParaRPr spc="-25" dirty="0"/>
          </a:p>
        </p:txBody>
      </p:sp>
      <p:sp>
        <p:nvSpPr>
          <p:cNvPr id="6" name="object 6">
            <a:extLst>
              <a:ext uri="{FF2B5EF4-FFF2-40B4-BE49-F238E27FC236}">
                <a16:creationId xmlns:a16="http://schemas.microsoft.com/office/drawing/2014/main" id="{BAC5DE8E-87B8-3773-9D40-68FCFACB9CC6}"/>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5A7A284E-8DCA-41F4-B3EC-DAF66ACE56F8}"/>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A6718797-D2F3-F54E-970B-8A5343E1627E}"/>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APB Transfers – Error response</a:t>
            </a:r>
          </a:p>
        </p:txBody>
      </p:sp>
      <p:sp>
        <p:nvSpPr>
          <p:cNvPr id="8" name="TextBox 7">
            <a:extLst>
              <a:ext uri="{FF2B5EF4-FFF2-40B4-BE49-F238E27FC236}">
                <a16:creationId xmlns:a16="http://schemas.microsoft.com/office/drawing/2014/main" id="{467901FB-A764-6109-C627-F6358AB05A85}"/>
              </a:ext>
            </a:extLst>
          </p:cNvPr>
          <p:cNvSpPr txBox="1"/>
          <p:nvPr/>
        </p:nvSpPr>
        <p:spPr>
          <a:xfrm>
            <a:off x="508317" y="2209800"/>
            <a:ext cx="11033442" cy="2308324"/>
          </a:xfrm>
          <a:prstGeom prst="rect">
            <a:avLst/>
          </a:prstGeom>
          <a:noFill/>
        </p:spPr>
        <p:txBody>
          <a:bodyPr wrap="square">
            <a:spAutoFit/>
          </a:bodyPr>
          <a:lstStyle/>
          <a:p>
            <a:pPr algn="l">
              <a:buNone/>
            </a:pPr>
            <a:r>
              <a:rPr lang="en-US" b="0" i="0">
                <a:solidFill>
                  <a:srgbClr val="222222"/>
                </a:solidFill>
                <a:effectLst/>
                <a:latin typeface="Arial" panose="020B0604020202020204" pitchFamily="34" charset="0"/>
                <a:cs typeface="Arial" panose="020B0604020202020204" pitchFamily="34" charset="0"/>
              </a:rPr>
              <a:t>Whenever there is a problem in the transfer, Slave indicates the error response for the transfer by asserting the </a:t>
            </a:r>
            <a:r>
              <a:rPr lang="en-US" b="1" i="0">
                <a:solidFill>
                  <a:srgbClr val="222222"/>
                </a:solidFill>
                <a:effectLst/>
                <a:latin typeface="Arial" panose="020B0604020202020204" pitchFamily="34" charset="0"/>
                <a:cs typeface="Arial" panose="020B0604020202020204" pitchFamily="34" charset="0"/>
              </a:rPr>
              <a:t>PSLVERR</a:t>
            </a:r>
            <a:r>
              <a:rPr lang="en-US" b="0" i="0">
                <a:solidFill>
                  <a:srgbClr val="222222"/>
                </a:solidFill>
                <a:effectLst/>
                <a:latin typeface="Arial" panose="020B0604020202020204" pitchFamily="34" charset="0"/>
                <a:cs typeface="Arial" panose="020B0604020202020204" pitchFamily="34" charset="0"/>
              </a:rPr>
              <a:t> signal. </a:t>
            </a:r>
            <a:r>
              <a:rPr lang="en-US" b="1" i="0">
                <a:solidFill>
                  <a:srgbClr val="222222"/>
                </a:solidFill>
                <a:effectLst/>
                <a:latin typeface="Arial" panose="020B0604020202020204" pitchFamily="34" charset="0"/>
                <a:cs typeface="Arial" panose="020B0604020202020204" pitchFamily="34" charset="0"/>
              </a:rPr>
              <a:t>PSLVERR</a:t>
            </a:r>
            <a:r>
              <a:rPr lang="en-US" b="0" i="0">
                <a:solidFill>
                  <a:srgbClr val="222222"/>
                </a:solidFill>
                <a:effectLst/>
                <a:latin typeface="Arial" panose="020B0604020202020204" pitchFamily="34" charset="0"/>
                <a:cs typeface="Arial" panose="020B0604020202020204" pitchFamily="34" charset="0"/>
              </a:rPr>
              <a:t> is only considered valid during the last cycle f and APB transfer, when </a:t>
            </a:r>
            <a:r>
              <a:rPr lang="en-US" b="1" i="0">
                <a:solidFill>
                  <a:srgbClr val="222222"/>
                </a:solidFill>
                <a:effectLst/>
                <a:latin typeface="Arial" panose="020B0604020202020204" pitchFamily="34" charset="0"/>
                <a:cs typeface="Arial" panose="020B0604020202020204" pitchFamily="34" charset="0"/>
              </a:rPr>
              <a:t>PSEL, PENABLE and PREADY</a:t>
            </a:r>
            <a:r>
              <a:rPr lang="en-US" b="0" i="0">
                <a:solidFill>
                  <a:srgbClr val="222222"/>
                </a:solidFill>
                <a:effectLst/>
                <a:latin typeface="Arial" panose="020B0604020202020204" pitchFamily="34" charset="0"/>
                <a:cs typeface="Arial" panose="020B0604020202020204" pitchFamily="34" charset="0"/>
              </a:rPr>
              <a:t> are all HIGH. It is recommended, but not mandatory that you drive </a:t>
            </a:r>
            <a:r>
              <a:rPr lang="en-US" b="1" i="0">
                <a:solidFill>
                  <a:srgbClr val="222222"/>
                </a:solidFill>
                <a:effectLst/>
                <a:latin typeface="Arial" panose="020B0604020202020204" pitchFamily="34" charset="0"/>
                <a:cs typeface="Arial" panose="020B0604020202020204" pitchFamily="34" charset="0"/>
              </a:rPr>
              <a:t>PSLVERR</a:t>
            </a:r>
            <a:r>
              <a:rPr lang="en-US" b="0" i="0">
                <a:solidFill>
                  <a:srgbClr val="222222"/>
                </a:solidFill>
                <a:effectLst/>
                <a:latin typeface="Arial" panose="020B0604020202020204" pitchFamily="34" charset="0"/>
                <a:cs typeface="Arial" panose="020B0604020202020204" pitchFamily="34" charset="0"/>
              </a:rPr>
              <a:t> low when it is not being sampled.</a:t>
            </a:r>
          </a:p>
          <a:p>
            <a:pPr algn="l">
              <a:buNone/>
            </a:pPr>
            <a:endParaRPr lang="en-US" b="0" i="0">
              <a:solidFill>
                <a:srgbClr val="222222"/>
              </a:solidFill>
              <a:effectLst/>
              <a:latin typeface="Arial" panose="020B0604020202020204" pitchFamily="34" charset="0"/>
              <a:cs typeface="Arial" panose="020B0604020202020204" pitchFamily="34" charset="0"/>
            </a:endParaRPr>
          </a:p>
          <a:p>
            <a:pPr algn="l">
              <a:buNone/>
            </a:pPr>
            <a:r>
              <a:rPr lang="en-US" b="0" i="0">
                <a:solidFill>
                  <a:srgbClr val="222222"/>
                </a:solidFill>
                <a:effectLst/>
                <a:latin typeface="Arial" panose="020B0604020202020204" pitchFamily="34" charset="0"/>
                <a:cs typeface="Arial" panose="020B0604020202020204" pitchFamily="34" charset="0"/>
              </a:rPr>
              <a:t>Transactions that receive an error response, might or might not have changed the state of peripheral. For example, If APB master performs a write transaction to an APB slave and received an error response, it is not guaranteed that the data is not written on the slave peripheral.</a:t>
            </a:r>
          </a:p>
        </p:txBody>
      </p:sp>
    </p:spTree>
    <p:extLst>
      <p:ext uri="{BB962C8B-B14F-4D97-AF65-F5344CB8AC3E}">
        <p14:creationId xmlns:p14="http://schemas.microsoft.com/office/powerpoint/2010/main" val="21612439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3A38AFC-DCA2-2EFD-2960-925EE996CDF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1685176-BBAB-8D55-ACC1-AACD25F80242}"/>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F813A6AC-921D-6B7B-53A5-793914B3D3AA}"/>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19</a:t>
            </a:fld>
            <a:endParaRPr spc="-25" dirty="0"/>
          </a:p>
        </p:txBody>
      </p:sp>
      <p:sp>
        <p:nvSpPr>
          <p:cNvPr id="6" name="object 6">
            <a:extLst>
              <a:ext uri="{FF2B5EF4-FFF2-40B4-BE49-F238E27FC236}">
                <a16:creationId xmlns:a16="http://schemas.microsoft.com/office/drawing/2014/main" id="{375F50E4-056D-F253-C94F-58FB2AFE795F}"/>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9B341B31-D0AA-C130-6BCB-4ACC307C41C4}"/>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58EA604D-8C48-9086-2343-77CA92897F10}"/>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APB Transfers – Error response</a:t>
            </a:r>
          </a:p>
        </p:txBody>
      </p:sp>
      <p:pic>
        <p:nvPicPr>
          <p:cNvPr id="8" name="Picture 7" descr="A diagram of a computer program&#10;&#10;AI-generated content may be incorrect.">
            <a:extLst>
              <a:ext uri="{FF2B5EF4-FFF2-40B4-BE49-F238E27FC236}">
                <a16:creationId xmlns:a16="http://schemas.microsoft.com/office/drawing/2014/main" id="{6E778C71-EE3A-C4D0-EE83-235368B85E24}"/>
              </a:ext>
            </a:extLst>
          </p:cNvPr>
          <p:cNvPicPr>
            <a:picLocks noChangeAspect="1"/>
          </p:cNvPicPr>
          <p:nvPr/>
        </p:nvPicPr>
        <p:blipFill>
          <a:blip r:embed="rId2"/>
          <a:stretch>
            <a:fillRect/>
          </a:stretch>
        </p:blipFill>
        <p:spPr>
          <a:xfrm>
            <a:off x="2514600" y="2200274"/>
            <a:ext cx="6781800" cy="3879783"/>
          </a:xfrm>
          <a:prstGeom prst="rect">
            <a:avLst/>
          </a:prstGeom>
        </p:spPr>
      </p:pic>
      <p:sp>
        <p:nvSpPr>
          <p:cNvPr id="11" name="TextBox 10">
            <a:extLst>
              <a:ext uri="{FF2B5EF4-FFF2-40B4-BE49-F238E27FC236}">
                <a16:creationId xmlns:a16="http://schemas.microsoft.com/office/drawing/2014/main" id="{2B797C39-0BC3-A949-008F-75DB935FF58D}"/>
              </a:ext>
            </a:extLst>
          </p:cNvPr>
          <p:cNvSpPr txBox="1"/>
          <p:nvPr/>
        </p:nvSpPr>
        <p:spPr>
          <a:xfrm>
            <a:off x="508317" y="1661817"/>
            <a:ext cx="4343400" cy="369332"/>
          </a:xfrm>
          <a:prstGeom prst="rect">
            <a:avLst/>
          </a:prstGeom>
          <a:noFill/>
        </p:spPr>
        <p:txBody>
          <a:bodyPr wrap="square">
            <a:spAutoFit/>
          </a:bodyPr>
          <a:lstStyle/>
          <a:p>
            <a:r>
              <a:rPr lang="en-US" b="1"/>
              <a:t>Write transfers</a:t>
            </a:r>
          </a:p>
        </p:txBody>
      </p:sp>
    </p:spTree>
    <p:extLst>
      <p:ext uri="{BB962C8B-B14F-4D97-AF65-F5344CB8AC3E}">
        <p14:creationId xmlns:p14="http://schemas.microsoft.com/office/powerpoint/2010/main" val="9051947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37AEEFF-04E4-33B2-5375-2F8837DC73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8697B4-304E-0BF0-CA2E-F48C47243811}"/>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40C4A5B4-26FE-56D6-37E0-92B70071C1E0}"/>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20</a:t>
            </a:fld>
            <a:endParaRPr spc="-25" dirty="0"/>
          </a:p>
        </p:txBody>
      </p:sp>
      <p:sp>
        <p:nvSpPr>
          <p:cNvPr id="6" name="object 6">
            <a:extLst>
              <a:ext uri="{FF2B5EF4-FFF2-40B4-BE49-F238E27FC236}">
                <a16:creationId xmlns:a16="http://schemas.microsoft.com/office/drawing/2014/main" id="{9C49A367-BF71-2162-EDED-2DDC9608200D}"/>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6F839307-1E2E-2E69-0885-7C7A60800CD3}"/>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879F4450-92EF-61B3-62F2-71D611615C46}"/>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APB Transfers – Error response</a:t>
            </a:r>
          </a:p>
        </p:txBody>
      </p:sp>
      <p:pic>
        <p:nvPicPr>
          <p:cNvPr id="10" name="Picture 9" descr="A diagram of a diagram&#10;&#10;AI-generated content may be incorrect.">
            <a:extLst>
              <a:ext uri="{FF2B5EF4-FFF2-40B4-BE49-F238E27FC236}">
                <a16:creationId xmlns:a16="http://schemas.microsoft.com/office/drawing/2014/main" id="{4A984A56-58F9-23A0-BD68-C64DF0881104}"/>
              </a:ext>
            </a:extLst>
          </p:cNvPr>
          <p:cNvPicPr>
            <a:picLocks noChangeAspect="1"/>
          </p:cNvPicPr>
          <p:nvPr/>
        </p:nvPicPr>
        <p:blipFill>
          <a:blip r:embed="rId2"/>
          <a:stretch>
            <a:fillRect/>
          </a:stretch>
        </p:blipFill>
        <p:spPr>
          <a:xfrm>
            <a:off x="2368699" y="2355532"/>
            <a:ext cx="7454601" cy="3528848"/>
          </a:xfrm>
          <a:prstGeom prst="rect">
            <a:avLst/>
          </a:prstGeom>
        </p:spPr>
      </p:pic>
      <p:sp>
        <p:nvSpPr>
          <p:cNvPr id="7" name="TextBox 6">
            <a:extLst>
              <a:ext uri="{FF2B5EF4-FFF2-40B4-BE49-F238E27FC236}">
                <a16:creationId xmlns:a16="http://schemas.microsoft.com/office/drawing/2014/main" id="{B413CAD2-C38C-8265-69AE-01F2662D5A8E}"/>
              </a:ext>
            </a:extLst>
          </p:cNvPr>
          <p:cNvSpPr txBox="1"/>
          <p:nvPr/>
        </p:nvSpPr>
        <p:spPr>
          <a:xfrm>
            <a:off x="508317" y="1661817"/>
            <a:ext cx="4343400" cy="369332"/>
          </a:xfrm>
          <a:prstGeom prst="rect">
            <a:avLst/>
          </a:prstGeom>
          <a:noFill/>
        </p:spPr>
        <p:txBody>
          <a:bodyPr wrap="square">
            <a:spAutoFit/>
          </a:bodyPr>
          <a:lstStyle/>
          <a:p>
            <a:r>
              <a:rPr lang="en-US" b="1"/>
              <a:t>Read transfers</a:t>
            </a:r>
          </a:p>
        </p:txBody>
      </p:sp>
    </p:spTree>
    <p:extLst>
      <p:ext uri="{BB962C8B-B14F-4D97-AF65-F5344CB8AC3E}">
        <p14:creationId xmlns:p14="http://schemas.microsoft.com/office/powerpoint/2010/main" val="11466442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446FD88B-CB55-3195-DC23-903D6817697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AACFDE2-F5B5-0C80-DC13-294FD34A4DA1}"/>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7E13AB2F-4F89-BAAD-6FB8-F00D19DB0F8A}"/>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21</a:t>
            </a:fld>
            <a:endParaRPr spc="-25" dirty="0"/>
          </a:p>
        </p:txBody>
      </p:sp>
      <p:sp>
        <p:nvSpPr>
          <p:cNvPr id="6" name="object 6">
            <a:extLst>
              <a:ext uri="{FF2B5EF4-FFF2-40B4-BE49-F238E27FC236}">
                <a16:creationId xmlns:a16="http://schemas.microsoft.com/office/drawing/2014/main" id="{83E337D5-E296-8129-E8AE-8E50453CE4FE}"/>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F7279B89-0455-48FA-324A-3C321106E169}"/>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D3D1391B-36CE-DADB-D5AC-4C8987A4612F}"/>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APB Transfers – Protection until support</a:t>
            </a:r>
          </a:p>
        </p:txBody>
      </p:sp>
      <p:sp>
        <p:nvSpPr>
          <p:cNvPr id="8" name="TextBox 7">
            <a:extLst>
              <a:ext uri="{FF2B5EF4-FFF2-40B4-BE49-F238E27FC236}">
                <a16:creationId xmlns:a16="http://schemas.microsoft.com/office/drawing/2014/main" id="{281A215D-75D7-691E-3C27-8C14FC6B2A37}"/>
              </a:ext>
            </a:extLst>
          </p:cNvPr>
          <p:cNvSpPr txBox="1"/>
          <p:nvPr/>
        </p:nvSpPr>
        <p:spPr>
          <a:xfrm>
            <a:off x="508317" y="1752600"/>
            <a:ext cx="11033442" cy="923330"/>
          </a:xfrm>
          <a:prstGeom prst="rect">
            <a:avLst/>
          </a:prstGeom>
          <a:noFill/>
        </p:spPr>
        <p:txBody>
          <a:bodyPr wrap="square">
            <a:spAutoFit/>
          </a:bodyPr>
          <a:lstStyle/>
          <a:p>
            <a:r>
              <a:rPr lang="en-US" b="0" i="0">
                <a:solidFill>
                  <a:srgbClr val="222222"/>
                </a:solidFill>
                <a:effectLst/>
                <a:latin typeface="Arial" panose="020B0604020202020204" pitchFamily="34" charset="0"/>
                <a:cs typeface="Arial" panose="020B0604020202020204" pitchFamily="34" charset="0"/>
              </a:rPr>
              <a:t>To support complex system designs, it is often necessary for both the interconnect and other devices in the system to provide protection against illegal transactions.  It is provided by Protection Unit in APB Protocol. The signals indicating the protection unit are PPROT[2:0].</a:t>
            </a:r>
            <a:endParaRPr lang="en-US">
              <a:latin typeface="Arial" panose="020B0604020202020204" pitchFamily="34" charset="0"/>
              <a:cs typeface="Arial" panose="020B0604020202020204" pitchFamily="34" charset="0"/>
            </a:endParaRPr>
          </a:p>
        </p:txBody>
      </p:sp>
      <p:graphicFrame>
        <p:nvGraphicFramePr>
          <p:cNvPr id="9" name="Table 8">
            <a:extLst>
              <a:ext uri="{FF2B5EF4-FFF2-40B4-BE49-F238E27FC236}">
                <a16:creationId xmlns:a16="http://schemas.microsoft.com/office/drawing/2014/main" id="{EAF7CF9F-461C-E287-4996-6E3DD5CE6011}"/>
              </a:ext>
            </a:extLst>
          </p:cNvPr>
          <p:cNvGraphicFramePr>
            <a:graphicFrameLocks noGrp="1"/>
          </p:cNvGraphicFramePr>
          <p:nvPr>
            <p:extLst>
              <p:ext uri="{D42A27DB-BD31-4B8C-83A1-F6EECF244321}">
                <p14:modId xmlns:p14="http://schemas.microsoft.com/office/powerpoint/2010/main" val="1590563141"/>
              </p:ext>
            </p:extLst>
          </p:nvPr>
        </p:nvGraphicFramePr>
        <p:xfrm>
          <a:off x="579214" y="2768290"/>
          <a:ext cx="11033444" cy="3571240"/>
        </p:xfrm>
        <a:graphic>
          <a:graphicData uri="http://schemas.openxmlformats.org/drawingml/2006/table">
            <a:tbl>
              <a:tblPr firstRow="1" bandRow="1">
                <a:tableStyleId>{5C22544A-7EE6-4342-B048-85BDC9FD1C3A}</a:tableStyleId>
              </a:tblPr>
              <a:tblGrid>
                <a:gridCol w="1777683">
                  <a:extLst>
                    <a:ext uri="{9D8B030D-6E8A-4147-A177-3AD203B41FA5}">
                      <a16:colId xmlns:a16="http://schemas.microsoft.com/office/drawing/2014/main" val="1108912286"/>
                    </a:ext>
                  </a:extLst>
                </a:gridCol>
                <a:gridCol w="1600200">
                  <a:extLst>
                    <a:ext uri="{9D8B030D-6E8A-4147-A177-3AD203B41FA5}">
                      <a16:colId xmlns:a16="http://schemas.microsoft.com/office/drawing/2014/main" val="2272246613"/>
                    </a:ext>
                  </a:extLst>
                </a:gridCol>
                <a:gridCol w="4809175">
                  <a:extLst>
                    <a:ext uri="{9D8B030D-6E8A-4147-A177-3AD203B41FA5}">
                      <a16:colId xmlns:a16="http://schemas.microsoft.com/office/drawing/2014/main" val="10821907"/>
                    </a:ext>
                  </a:extLst>
                </a:gridCol>
                <a:gridCol w="2846386">
                  <a:extLst>
                    <a:ext uri="{9D8B030D-6E8A-4147-A177-3AD203B41FA5}">
                      <a16:colId xmlns:a16="http://schemas.microsoft.com/office/drawing/2014/main" val="3160994262"/>
                    </a:ext>
                  </a:extLst>
                </a:gridCol>
              </a:tblGrid>
              <a:tr h="370840">
                <a:tc>
                  <a:txBody>
                    <a:bodyPr/>
                    <a:lstStyle/>
                    <a:p>
                      <a:pPr algn="ctr"/>
                      <a:r>
                        <a:rPr lang="en-US" sz="1600">
                          <a:solidFill>
                            <a:schemeClr val="bg1"/>
                          </a:solidFill>
                          <a:latin typeface="Arial" panose="020B0604020202020204" pitchFamily="34" charset="0"/>
                          <a:cs typeface="Arial" panose="020B0604020202020204" pitchFamily="34" charset="0"/>
                        </a:rPr>
                        <a:t>PPROT</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Protection</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Description</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Comments</a:t>
                      </a:r>
                    </a:p>
                  </a:txBody>
                  <a:tcPr>
                    <a:solidFill>
                      <a:srgbClr val="7030A0"/>
                    </a:solidFill>
                  </a:tcPr>
                </a:tc>
                <a:extLst>
                  <a:ext uri="{0D108BD9-81ED-4DB2-BD59-A6C34878D82A}">
                    <a16:rowId xmlns:a16="http://schemas.microsoft.com/office/drawing/2014/main" val="3816104531"/>
                  </a:ext>
                </a:extLst>
              </a:tr>
              <a:tr h="370840">
                <a:tc>
                  <a:txBody>
                    <a:bodyPr/>
                    <a:lstStyle/>
                    <a:p>
                      <a:pPr algn="ctr"/>
                      <a:r>
                        <a:rPr lang="en-US" sz="1600">
                          <a:latin typeface="Arial" panose="020B0604020202020204" pitchFamily="34" charset="0"/>
                          <a:cs typeface="Arial" panose="020B0604020202020204" pitchFamily="34" charset="0"/>
                        </a:rPr>
                        <a:t>PPROT[0]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Normal or Privileged</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a:latin typeface="Arial" panose="020B0604020202020204" pitchFamily="34" charset="0"/>
                          <a:cs typeface="Arial" panose="020B0604020202020204" pitchFamily="34" charset="0"/>
                        </a:rPr>
                        <a:t>PPROT[0] is used by Requesters to indicate processing mode. A privileged processing mode typically has a greater level of access within a system.</a:t>
                      </a:r>
                    </a:p>
                  </a:txBody>
                  <a:tcPr/>
                </a:tc>
                <a:tc>
                  <a:txBody>
                    <a:bodyPr/>
                    <a:lstStyle/>
                    <a:p>
                      <a:pPr marL="285750" indent="-285750" algn="l">
                        <a:buFont typeface="Arial" panose="020B0604020202020204" pitchFamily="34" charset="0"/>
                        <a:buChar char="•"/>
                      </a:pPr>
                      <a:r>
                        <a:rPr lang="en-US" sz="1600">
                          <a:latin typeface="Arial" panose="020B0604020202020204" pitchFamily="34" charset="0"/>
                          <a:cs typeface="Arial" panose="020B0604020202020204" pitchFamily="34" charset="0"/>
                        </a:rPr>
                        <a:t>LOW indicates normal access. </a:t>
                      </a:r>
                    </a:p>
                    <a:p>
                      <a:pPr marL="285750" indent="-285750" algn="l">
                        <a:buFont typeface="Arial" panose="020B0604020202020204" pitchFamily="34" charset="0"/>
                        <a:buChar char="•"/>
                      </a:pPr>
                      <a:r>
                        <a:rPr lang="en-US" sz="1600">
                          <a:latin typeface="Arial" panose="020B0604020202020204" pitchFamily="34" charset="0"/>
                          <a:cs typeface="Arial" panose="020B0604020202020204" pitchFamily="34" charset="0"/>
                        </a:rPr>
                        <a:t>HIGH indicates privileged access.</a:t>
                      </a:r>
                    </a:p>
                  </a:txBody>
                  <a:tcPr/>
                </a:tc>
                <a:extLst>
                  <a:ext uri="{0D108BD9-81ED-4DB2-BD59-A6C34878D82A}">
                    <a16:rowId xmlns:a16="http://schemas.microsoft.com/office/drawing/2014/main" val="4131091150"/>
                  </a:ext>
                </a:extLst>
              </a:tr>
              <a:tr h="370840">
                <a:tc>
                  <a:txBody>
                    <a:bodyPr/>
                    <a:lstStyle/>
                    <a:p>
                      <a:pPr algn="ctr"/>
                      <a:r>
                        <a:rPr lang="en-IN" sz="1600">
                          <a:solidFill>
                            <a:schemeClr val="tx1"/>
                          </a:solidFill>
                          <a:latin typeface="Arial" panose="020B0604020202020204" pitchFamily="34" charset="0"/>
                          <a:cs typeface="Arial" panose="020B0604020202020204" pitchFamily="34" charset="0"/>
                        </a:rPr>
                        <a:t>PPROT[1]</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Secure or Non-secure</a:t>
                      </a:r>
                      <a:endParaRPr lang="en-IN" sz="160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a:latin typeface="Arial" panose="020B0604020202020204" pitchFamily="34" charset="0"/>
                          <a:cs typeface="Arial" panose="020B0604020202020204" pitchFamily="34" charset="0"/>
                        </a:rPr>
                        <a:t>PPROT[1] is used in systems where a greater degree of differentiation between processing modes is required. </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285750" indent="-285750" algn="l">
                        <a:buFont typeface="Arial" panose="020B0604020202020204" pitchFamily="34" charset="0"/>
                        <a:buChar char="•"/>
                      </a:pPr>
                      <a:r>
                        <a:rPr lang="en-US" sz="1600">
                          <a:latin typeface="Arial" panose="020B0604020202020204" pitchFamily="34" charset="0"/>
                          <a:cs typeface="Arial" panose="020B0604020202020204" pitchFamily="34" charset="0"/>
                        </a:rPr>
                        <a:t>LOW indicates secure access.</a:t>
                      </a:r>
                    </a:p>
                    <a:p>
                      <a:pPr marL="285750" indent="-285750" algn="l">
                        <a:buFont typeface="Arial" panose="020B0604020202020204" pitchFamily="34" charset="0"/>
                        <a:buChar char="•"/>
                      </a:pPr>
                      <a:r>
                        <a:rPr lang="en-US" sz="1600">
                          <a:latin typeface="Arial" panose="020B0604020202020204" pitchFamily="34" charset="0"/>
                          <a:cs typeface="Arial" panose="020B0604020202020204" pitchFamily="34" charset="0"/>
                        </a:rPr>
                        <a:t>HIGH indicates non-secure access</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93422610"/>
                  </a:ext>
                </a:extLst>
              </a:tr>
              <a:tr h="370840">
                <a:tc>
                  <a:txBody>
                    <a:bodyPr/>
                    <a:lstStyle/>
                    <a:p>
                      <a:pPr algn="ctr"/>
                      <a:r>
                        <a:rPr lang="en-IN" sz="1600">
                          <a:solidFill>
                            <a:schemeClr val="tx1"/>
                          </a:solidFill>
                          <a:latin typeface="Arial" panose="020B0604020202020204" pitchFamily="34" charset="0"/>
                          <a:cs typeface="Arial" panose="020B0604020202020204" pitchFamily="34" charset="0"/>
                        </a:rPr>
                        <a:t>PPROT[2]</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Data or Instruction</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a:latin typeface="Arial" panose="020B0604020202020204" pitchFamily="34" charset="0"/>
                          <a:cs typeface="Arial" panose="020B0604020202020204" pitchFamily="34" charset="0"/>
                        </a:rPr>
                        <a:t>PPROT[2] gives an indication if the transaction is a data or instruction access. The transaction indication is provided as a hint and might not be accurate in all cases. </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285750" indent="-285750" algn="l">
                        <a:buFont typeface="Arial" panose="020B0604020202020204" pitchFamily="34" charset="0"/>
                        <a:buChar char="•"/>
                      </a:pPr>
                      <a:r>
                        <a:rPr lang="en-US" sz="1600">
                          <a:latin typeface="Arial" panose="020B0604020202020204" pitchFamily="34" charset="0"/>
                          <a:cs typeface="Arial" panose="020B0604020202020204" pitchFamily="34" charset="0"/>
                        </a:rPr>
                        <a:t>LOW indicates data access.</a:t>
                      </a:r>
                    </a:p>
                    <a:p>
                      <a:pPr marL="285750" indent="-285750" algn="l">
                        <a:buFont typeface="Arial" panose="020B0604020202020204" pitchFamily="34" charset="0"/>
                        <a:buChar char="•"/>
                      </a:pPr>
                      <a:r>
                        <a:rPr lang="en-US" sz="1600">
                          <a:latin typeface="Arial" panose="020B0604020202020204" pitchFamily="34" charset="0"/>
                          <a:cs typeface="Arial" panose="020B0604020202020204" pitchFamily="34" charset="0"/>
                        </a:rPr>
                        <a:t>HIGH indicates instruction access.</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3023051"/>
                  </a:ext>
                </a:extLst>
              </a:tr>
            </a:tbl>
          </a:graphicData>
        </a:graphic>
      </p:graphicFrame>
    </p:spTree>
    <p:extLst>
      <p:ext uri="{BB962C8B-B14F-4D97-AF65-F5344CB8AC3E}">
        <p14:creationId xmlns:p14="http://schemas.microsoft.com/office/powerpoint/2010/main" val="32210864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29B372C-BBD3-0748-754F-889E005621B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956EB74-839D-2788-57E4-3998A3E273FA}"/>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F0DA9755-6AFE-A323-DF1A-D9BEC6ABAE9D}"/>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22</a:t>
            </a:fld>
            <a:endParaRPr spc="-25" dirty="0"/>
          </a:p>
        </p:txBody>
      </p:sp>
      <p:sp>
        <p:nvSpPr>
          <p:cNvPr id="6" name="object 6">
            <a:extLst>
              <a:ext uri="{FF2B5EF4-FFF2-40B4-BE49-F238E27FC236}">
                <a16:creationId xmlns:a16="http://schemas.microsoft.com/office/drawing/2014/main" id="{A671C7BF-7D53-D3C2-EB3E-670A538C61D2}"/>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2717EE67-83EA-AEA1-A664-37101312A11E}"/>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6FA8958E-4309-1F78-D689-24F5A2566909}"/>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1.4 Operation States</a:t>
            </a:r>
          </a:p>
        </p:txBody>
      </p:sp>
      <p:pic>
        <p:nvPicPr>
          <p:cNvPr id="9" name="Picture 8" descr="A diagram of a system&#10;&#10;AI-generated content may be incorrect.">
            <a:extLst>
              <a:ext uri="{FF2B5EF4-FFF2-40B4-BE49-F238E27FC236}">
                <a16:creationId xmlns:a16="http://schemas.microsoft.com/office/drawing/2014/main" id="{A3D4582A-38E4-FAAD-2D87-51799E0B84C4}"/>
              </a:ext>
            </a:extLst>
          </p:cNvPr>
          <p:cNvPicPr>
            <a:picLocks noChangeAspect="1"/>
          </p:cNvPicPr>
          <p:nvPr/>
        </p:nvPicPr>
        <p:blipFill>
          <a:blip r:embed="rId2"/>
          <a:stretch>
            <a:fillRect/>
          </a:stretch>
        </p:blipFill>
        <p:spPr>
          <a:xfrm>
            <a:off x="6324600" y="1524000"/>
            <a:ext cx="4932866" cy="4953000"/>
          </a:xfrm>
          <a:prstGeom prst="rect">
            <a:avLst/>
          </a:prstGeom>
        </p:spPr>
      </p:pic>
      <p:graphicFrame>
        <p:nvGraphicFramePr>
          <p:cNvPr id="15" name="Table 14">
            <a:extLst>
              <a:ext uri="{FF2B5EF4-FFF2-40B4-BE49-F238E27FC236}">
                <a16:creationId xmlns:a16="http://schemas.microsoft.com/office/drawing/2014/main" id="{3FD3D88E-37E2-AAAF-1460-82558C5A71EB}"/>
              </a:ext>
            </a:extLst>
          </p:cNvPr>
          <p:cNvGraphicFramePr>
            <a:graphicFrameLocks noGrp="1"/>
          </p:cNvGraphicFramePr>
          <p:nvPr>
            <p:extLst>
              <p:ext uri="{D42A27DB-BD31-4B8C-83A1-F6EECF244321}">
                <p14:modId xmlns:p14="http://schemas.microsoft.com/office/powerpoint/2010/main" val="2616198760"/>
              </p:ext>
            </p:extLst>
          </p:nvPr>
        </p:nvGraphicFramePr>
        <p:xfrm>
          <a:off x="508317" y="2799759"/>
          <a:ext cx="5719950" cy="2926080"/>
        </p:xfrm>
        <a:graphic>
          <a:graphicData uri="http://schemas.openxmlformats.org/drawingml/2006/table">
            <a:tbl>
              <a:tblPr firstRow="1" bandRow="1">
                <a:tableStyleId>{5C22544A-7EE6-4342-B048-85BDC9FD1C3A}</a:tableStyleId>
              </a:tblPr>
              <a:tblGrid>
                <a:gridCol w="1472883">
                  <a:extLst>
                    <a:ext uri="{9D8B030D-6E8A-4147-A177-3AD203B41FA5}">
                      <a16:colId xmlns:a16="http://schemas.microsoft.com/office/drawing/2014/main" val="288523792"/>
                    </a:ext>
                  </a:extLst>
                </a:gridCol>
                <a:gridCol w="4247067">
                  <a:extLst>
                    <a:ext uri="{9D8B030D-6E8A-4147-A177-3AD203B41FA5}">
                      <a16:colId xmlns:a16="http://schemas.microsoft.com/office/drawing/2014/main" val="4248578073"/>
                    </a:ext>
                  </a:extLst>
                </a:gridCol>
              </a:tblGrid>
              <a:tr h="370840">
                <a:tc>
                  <a:txBody>
                    <a:bodyPr/>
                    <a:lstStyle/>
                    <a:p>
                      <a:r>
                        <a:rPr lang="en-US" b="1">
                          <a:solidFill>
                            <a:schemeClr val="tx1"/>
                          </a:solidFill>
                          <a:latin typeface="Arial" panose="020B0604020202020204" pitchFamily="34" charset="0"/>
                          <a:cs typeface="Arial" panose="020B0604020202020204" pitchFamily="34" charset="0"/>
                        </a:rPr>
                        <a:t>IDLE</a:t>
                      </a:r>
                    </a:p>
                  </a:txBody>
                  <a:tcPr>
                    <a:lnL w="12700" cmpd="sng">
                      <a:noFill/>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a:solidFill>
                            <a:schemeClr val="tx1"/>
                          </a:solidFill>
                          <a:latin typeface="Arial" panose="020B0604020202020204" pitchFamily="34" charset="0"/>
                          <a:cs typeface="Arial" panose="020B0604020202020204" pitchFamily="34" charset="0"/>
                        </a:rPr>
                        <a:t>This is the default state of the APB interface.</a:t>
                      </a: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8999248"/>
                  </a:ext>
                </a:extLst>
              </a:tr>
              <a:tr h="370840">
                <a:tc>
                  <a:txBody>
                    <a:bodyPr/>
                    <a:lstStyle/>
                    <a:p>
                      <a:r>
                        <a:rPr lang="en-US" b="1">
                          <a:solidFill>
                            <a:schemeClr val="tx1"/>
                          </a:solidFill>
                          <a:latin typeface="Arial" panose="020B0604020202020204" pitchFamily="34" charset="0"/>
                          <a:cs typeface="Arial" panose="020B0604020202020204" pitchFamily="34" charset="0"/>
                        </a:rPr>
                        <a:t>SETUP</a:t>
                      </a:r>
                    </a:p>
                  </a:txBody>
                  <a:tcPr>
                    <a:lnL w="12700" cmpd="sng">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r>
                        <a:rPr lang="en-US">
                          <a:latin typeface="Arial" panose="020B0604020202020204" pitchFamily="34" charset="0"/>
                          <a:cs typeface="Arial" panose="020B0604020202020204" pitchFamily="34" charset="0"/>
                        </a:rPr>
                        <a:t>When a transfer is required, the interface moves into the SETUP state, where the appropriate select signal, PSELx, is asserted. The interface only remains in the SETUP state for one clock cycle and always moves to the ACCESS state on the next rising edge of the clock.</a:t>
                      </a:r>
                      <a:endParaRPr lang="en-US" b="0">
                        <a:solidFill>
                          <a:schemeClr val="tx1"/>
                        </a:solidFill>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51320991"/>
                  </a:ext>
                </a:extLst>
              </a:tr>
            </a:tbl>
          </a:graphicData>
        </a:graphic>
      </p:graphicFrame>
    </p:spTree>
    <p:extLst>
      <p:ext uri="{BB962C8B-B14F-4D97-AF65-F5344CB8AC3E}">
        <p14:creationId xmlns:p14="http://schemas.microsoft.com/office/powerpoint/2010/main" val="27570200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3C4280A4-ACBD-B020-481A-97E5EF1A1F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174AF18-A2AA-9062-BB87-C89F4F7751C9}"/>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3E4EBB39-557C-330A-396B-55357F2E9775}"/>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23</a:t>
            </a:fld>
            <a:endParaRPr spc="-25" dirty="0"/>
          </a:p>
        </p:txBody>
      </p:sp>
      <p:sp>
        <p:nvSpPr>
          <p:cNvPr id="6" name="object 6">
            <a:extLst>
              <a:ext uri="{FF2B5EF4-FFF2-40B4-BE49-F238E27FC236}">
                <a16:creationId xmlns:a16="http://schemas.microsoft.com/office/drawing/2014/main" id="{7D6138D6-E61C-A7E3-1BEF-6EBECF8CCF93}"/>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A501883A-2451-6D84-7B47-A84E5AB70D0A}"/>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E58CA249-F67A-9386-8B03-DA3A84D779C2}"/>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1.4 Operation States</a:t>
            </a:r>
          </a:p>
        </p:txBody>
      </p:sp>
      <p:graphicFrame>
        <p:nvGraphicFramePr>
          <p:cNvPr id="7" name="Table 6">
            <a:extLst>
              <a:ext uri="{FF2B5EF4-FFF2-40B4-BE49-F238E27FC236}">
                <a16:creationId xmlns:a16="http://schemas.microsoft.com/office/drawing/2014/main" id="{F5345214-CCC0-1BDB-2373-E7DD381B7F5E}"/>
              </a:ext>
            </a:extLst>
          </p:cNvPr>
          <p:cNvGraphicFramePr>
            <a:graphicFrameLocks noGrp="1"/>
          </p:cNvGraphicFramePr>
          <p:nvPr>
            <p:extLst>
              <p:ext uri="{D42A27DB-BD31-4B8C-83A1-F6EECF244321}">
                <p14:modId xmlns:p14="http://schemas.microsoft.com/office/powerpoint/2010/main" val="2962019359"/>
              </p:ext>
            </p:extLst>
          </p:nvPr>
        </p:nvGraphicFramePr>
        <p:xfrm>
          <a:off x="476250" y="1898650"/>
          <a:ext cx="5719950" cy="4480560"/>
        </p:xfrm>
        <a:graphic>
          <a:graphicData uri="http://schemas.openxmlformats.org/drawingml/2006/table">
            <a:tbl>
              <a:tblPr firstRow="1" bandRow="1">
                <a:tableStyleId>{5C22544A-7EE6-4342-B048-85BDC9FD1C3A}</a:tableStyleId>
              </a:tblPr>
              <a:tblGrid>
                <a:gridCol w="1472883">
                  <a:extLst>
                    <a:ext uri="{9D8B030D-6E8A-4147-A177-3AD203B41FA5}">
                      <a16:colId xmlns:a16="http://schemas.microsoft.com/office/drawing/2014/main" val="2151413220"/>
                    </a:ext>
                  </a:extLst>
                </a:gridCol>
                <a:gridCol w="4247067">
                  <a:extLst>
                    <a:ext uri="{9D8B030D-6E8A-4147-A177-3AD203B41FA5}">
                      <a16:colId xmlns:a16="http://schemas.microsoft.com/office/drawing/2014/main" val="1620044529"/>
                    </a:ext>
                  </a:extLst>
                </a:gridCol>
              </a:tblGrid>
              <a:tr h="370840">
                <a:tc>
                  <a:txBody>
                    <a:bodyPr/>
                    <a:lstStyle/>
                    <a:p>
                      <a:r>
                        <a:rPr lang="en-US" b="1">
                          <a:solidFill>
                            <a:schemeClr val="tx1"/>
                          </a:solidFill>
                          <a:latin typeface="Arial" panose="020B0604020202020204" pitchFamily="34" charset="0"/>
                          <a:cs typeface="Arial" panose="020B0604020202020204" pitchFamily="34" charset="0"/>
                        </a:rPr>
                        <a:t>ACCESS</a:t>
                      </a:r>
                    </a:p>
                  </a:txBody>
                  <a:tcPr>
                    <a:lnL w="12700" cmpd="sng">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285750" indent="-285750">
                        <a:buFont typeface="Arial" panose="020B0604020202020204" pitchFamily="34" charset="0"/>
                        <a:buChar char="•"/>
                      </a:pPr>
                      <a:r>
                        <a:rPr lang="en-US" b="1">
                          <a:solidFill>
                            <a:schemeClr val="tx1"/>
                          </a:solidFill>
                          <a:latin typeface="Arial" panose="020B0604020202020204" pitchFamily="34" charset="0"/>
                          <a:cs typeface="Arial" panose="020B0604020202020204" pitchFamily="34" charset="0"/>
                        </a:rPr>
                        <a:t>PENABLE</a:t>
                      </a:r>
                      <a:r>
                        <a:rPr lang="en-US" b="0">
                          <a:solidFill>
                            <a:schemeClr val="tx1"/>
                          </a:solidFill>
                          <a:latin typeface="Arial" panose="020B0604020202020204" pitchFamily="34" charset="0"/>
                          <a:cs typeface="Arial" panose="020B0604020202020204" pitchFamily="34" charset="0"/>
                        </a:rPr>
                        <a:t> is asserted in the ACCESS state. During the transition from SETUP to ACCESS and throughout the ACCESS state, the following signals must remain stable: </a:t>
                      </a:r>
                      <a:r>
                        <a:rPr lang="en-US" b="1" i="1">
                          <a:solidFill>
                            <a:schemeClr val="tx1"/>
                          </a:solidFill>
                          <a:latin typeface="Arial" panose="020B0604020202020204" pitchFamily="34" charset="0"/>
                          <a:cs typeface="Arial" panose="020B0604020202020204" pitchFamily="34" charset="0"/>
                        </a:rPr>
                        <a:t>PADDR, PPROT, PWRITE, PSTRB, PAUSER, PWUSER, and PWDATA </a:t>
                      </a:r>
                      <a:r>
                        <a:rPr lang="en-US" b="0">
                          <a:solidFill>
                            <a:schemeClr val="tx1"/>
                          </a:solidFill>
                          <a:latin typeface="Arial" panose="020B0604020202020204" pitchFamily="34" charset="0"/>
                          <a:cs typeface="Arial" panose="020B0604020202020204" pitchFamily="34" charset="0"/>
                        </a:rPr>
                        <a:t>(for write transfers only).</a:t>
                      </a:r>
                    </a:p>
                    <a:p>
                      <a:pPr marL="285750" indent="-285750">
                        <a:buFont typeface="Arial" panose="020B0604020202020204" pitchFamily="34" charset="0"/>
                        <a:buChar char="•"/>
                      </a:pPr>
                      <a:r>
                        <a:rPr lang="en-US" b="0">
                          <a:solidFill>
                            <a:schemeClr val="tx1"/>
                          </a:solidFill>
                          <a:latin typeface="Arial" panose="020B0604020202020204" pitchFamily="34" charset="0"/>
                          <a:cs typeface="Arial" panose="020B0604020202020204" pitchFamily="34" charset="0"/>
                        </a:rPr>
                        <a:t>The exit from the ACCESS state depends on </a:t>
                      </a:r>
                      <a:r>
                        <a:rPr lang="en-US" b="1">
                          <a:solidFill>
                            <a:schemeClr val="tx1"/>
                          </a:solidFill>
                          <a:latin typeface="Arial" panose="020B0604020202020204" pitchFamily="34" charset="0"/>
                          <a:cs typeface="Arial" panose="020B0604020202020204" pitchFamily="34" charset="0"/>
                        </a:rPr>
                        <a:t>PREADY</a:t>
                      </a:r>
                      <a:r>
                        <a:rPr lang="en-US" b="0">
                          <a:solidFill>
                            <a:schemeClr val="tx1"/>
                          </a:solidFill>
                          <a:latin typeface="Arial" panose="020B0604020202020204" pitchFamily="34" charset="0"/>
                          <a:cs typeface="Arial" panose="020B0604020202020204" pitchFamily="34" charset="0"/>
                        </a:rPr>
                        <a:t> from the Completer: if </a:t>
                      </a:r>
                      <a:r>
                        <a:rPr lang="en-US" b="1">
                          <a:solidFill>
                            <a:schemeClr val="tx1"/>
                          </a:solidFill>
                          <a:latin typeface="Arial" panose="020B0604020202020204" pitchFamily="34" charset="0"/>
                          <a:cs typeface="Arial" panose="020B0604020202020204" pitchFamily="34" charset="0"/>
                        </a:rPr>
                        <a:t>PREADY</a:t>
                      </a:r>
                      <a:r>
                        <a:rPr lang="en-US" b="0">
                          <a:solidFill>
                            <a:schemeClr val="tx1"/>
                          </a:solidFill>
                          <a:latin typeface="Arial" panose="020B0604020202020204" pitchFamily="34" charset="0"/>
                          <a:cs typeface="Arial" panose="020B0604020202020204" pitchFamily="34" charset="0"/>
                        </a:rPr>
                        <a:t> is LOW, the bus </a:t>
                      </a:r>
                      <a:r>
                        <a:rPr lang="en-US" b="1" i="1">
                          <a:solidFill>
                            <a:schemeClr val="tx1"/>
                          </a:solidFill>
                          <a:latin typeface="Arial" panose="020B0604020202020204" pitchFamily="34" charset="0"/>
                          <a:cs typeface="Arial" panose="020B0604020202020204" pitchFamily="34" charset="0"/>
                        </a:rPr>
                        <a:t>stays</a:t>
                      </a:r>
                      <a:r>
                        <a:rPr lang="en-US" b="0">
                          <a:solidFill>
                            <a:schemeClr val="tx1"/>
                          </a:solidFill>
                          <a:latin typeface="Arial" panose="020B0604020202020204" pitchFamily="34" charset="0"/>
                          <a:cs typeface="Arial" panose="020B0604020202020204" pitchFamily="34" charset="0"/>
                        </a:rPr>
                        <a:t> </a:t>
                      </a:r>
                      <a:r>
                        <a:rPr lang="en-US" b="1" i="1">
                          <a:solidFill>
                            <a:schemeClr val="tx1"/>
                          </a:solidFill>
                          <a:latin typeface="Arial" panose="020B0604020202020204" pitchFamily="34" charset="0"/>
                          <a:cs typeface="Arial" panose="020B0604020202020204" pitchFamily="34" charset="0"/>
                        </a:rPr>
                        <a:t>in</a:t>
                      </a:r>
                      <a:r>
                        <a:rPr lang="en-US" b="0">
                          <a:solidFill>
                            <a:schemeClr val="tx1"/>
                          </a:solidFill>
                          <a:latin typeface="Arial" panose="020B0604020202020204" pitchFamily="34" charset="0"/>
                          <a:cs typeface="Arial" panose="020B0604020202020204" pitchFamily="34" charset="0"/>
                        </a:rPr>
                        <a:t> </a:t>
                      </a:r>
                      <a:r>
                        <a:rPr lang="en-US" b="1">
                          <a:solidFill>
                            <a:schemeClr val="tx1"/>
                          </a:solidFill>
                          <a:latin typeface="Arial" panose="020B0604020202020204" pitchFamily="34" charset="0"/>
                          <a:cs typeface="Arial" panose="020B0604020202020204" pitchFamily="34" charset="0"/>
                        </a:rPr>
                        <a:t>ACCESS</a:t>
                      </a:r>
                      <a:r>
                        <a:rPr lang="en-US" b="0">
                          <a:solidFill>
                            <a:schemeClr val="tx1"/>
                          </a:solidFill>
                          <a:latin typeface="Arial" panose="020B0604020202020204" pitchFamily="34" charset="0"/>
                          <a:cs typeface="Arial" panose="020B0604020202020204" pitchFamily="34" charset="0"/>
                        </a:rPr>
                        <a:t>; if </a:t>
                      </a:r>
                      <a:r>
                        <a:rPr lang="en-US" b="1">
                          <a:solidFill>
                            <a:schemeClr val="tx1"/>
                          </a:solidFill>
                          <a:latin typeface="Arial" panose="020B0604020202020204" pitchFamily="34" charset="0"/>
                          <a:cs typeface="Arial" panose="020B0604020202020204" pitchFamily="34" charset="0"/>
                        </a:rPr>
                        <a:t>PREADY</a:t>
                      </a:r>
                      <a:r>
                        <a:rPr lang="en-US" b="0">
                          <a:solidFill>
                            <a:schemeClr val="tx1"/>
                          </a:solidFill>
                          <a:latin typeface="Arial" panose="020B0604020202020204" pitchFamily="34" charset="0"/>
                          <a:cs typeface="Arial" panose="020B0604020202020204" pitchFamily="34" charset="0"/>
                        </a:rPr>
                        <a:t> is HIGH, the bus </a:t>
                      </a:r>
                      <a:r>
                        <a:rPr lang="en-US" b="1" i="1">
                          <a:solidFill>
                            <a:schemeClr val="tx1"/>
                          </a:solidFill>
                          <a:latin typeface="Arial" panose="020B0604020202020204" pitchFamily="34" charset="0"/>
                          <a:cs typeface="Arial" panose="020B0604020202020204" pitchFamily="34" charset="0"/>
                        </a:rPr>
                        <a:t>leaves</a:t>
                      </a:r>
                      <a:r>
                        <a:rPr lang="en-US" b="0">
                          <a:solidFill>
                            <a:schemeClr val="tx1"/>
                          </a:solidFill>
                          <a:latin typeface="Arial" panose="020B0604020202020204" pitchFamily="34" charset="0"/>
                          <a:cs typeface="Arial" panose="020B0604020202020204" pitchFamily="34" charset="0"/>
                        </a:rPr>
                        <a:t> </a:t>
                      </a:r>
                      <a:r>
                        <a:rPr lang="en-US" b="1">
                          <a:solidFill>
                            <a:schemeClr val="tx1"/>
                          </a:solidFill>
                          <a:latin typeface="Arial" panose="020B0604020202020204" pitchFamily="34" charset="0"/>
                          <a:cs typeface="Arial" panose="020B0604020202020204" pitchFamily="34" charset="0"/>
                        </a:rPr>
                        <a:t>ACCESS</a:t>
                      </a:r>
                      <a:r>
                        <a:rPr lang="en-US" b="0">
                          <a:solidFill>
                            <a:schemeClr val="tx1"/>
                          </a:solidFill>
                          <a:latin typeface="Arial" panose="020B0604020202020204" pitchFamily="34" charset="0"/>
                          <a:cs typeface="Arial" panose="020B0604020202020204" pitchFamily="34" charset="0"/>
                        </a:rPr>
                        <a:t> and returns to IDLE or moves directly to SETUP for the next transfer.</a:t>
                      </a:r>
                    </a:p>
                    <a:p>
                      <a:endParaRPr lang="en-US" b="0">
                        <a:solidFill>
                          <a:schemeClr val="tx1"/>
                        </a:solidFill>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39539502"/>
                  </a:ext>
                </a:extLst>
              </a:tr>
            </a:tbl>
          </a:graphicData>
        </a:graphic>
      </p:graphicFrame>
      <p:pic>
        <p:nvPicPr>
          <p:cNvPr id="8" name="Picture 7" descr="A diagram of a system&#10;&#10;AI-generated content may be incorrect.">
            <a:extLst>
              <a:ext uri="{FF2B5EF4-FFF2-40B4-BE49-F238E27FC236}">
                <a16:creationId xmlns:a16="http://schemas.microsoft.com/office/drawing/2014/main" id="{CC727474-D7BE-6648-5E33-084D5996BDB2}"/>
              </a:ext>
            </a:extLst>
          </p:cNvPr>
          <p:cNvPicPr>
            <a:picLocks noChangeAspect="1"/>
          </p:cNvPicPr>
          <p:nvPr/>
        </p:nvPicPr>
        <p:blipFill>
          <a:blip r:embed="rId2"/>
          <a:stretch>
            <a:fillRect/>
          </a:stretch>
        </p:blipFill>
        <p:spPr>
          <a:xfrm>
            <a:off x="6324600" y="1524000"/>
            <a:ext cx="4932866" cy="4953000"/>
          </a:xfrm>
          <a:prstGeom prst="rect">
            <a:avLst/>
          </a:prstGeom>
        </p:spPr>
      </p:pic>
    </p:spTree>
    <p:extLst>
      <p:ext uri="{BB962C8B-B14F-4D97-AF65-F5344CB8AC3E}">
        <p14:creationId xmlns:p14="http://schemas.microsoft.com/office/powerpoint/2010/main" val="14519708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21017" y="2200274"/>
            <a:ext cx="5787390" cy="575310"/>
          </a:xfrm>
          <a:prstGeom prst="rect">
            <a:avLst/>
          </a:prstGeom>
        </p:spPr>
        <p:txBody>
          <a:bodyPr vert="horz" wrap="square" lIns="0" tIns="13335" rIns="0" bIns="0" rtlCol="0">
            <a:spAutoFit/>
          </a:bodyPr>
          <a:lstStyle/>
          <a:p>
            <a:pPr marL="12700">
              <a:lnSpc>
                <a:spcPct val="100000"/>
              </a:lnSpc>
              <a:spcBef>
                <a:spcPts val="105"/>
              </a:spcBef>
            </a:pPr>
            <a:r>
              <a:rPr dirty="0"/>
              <a:t>2.</a:t>
            </a:r>
            <a:r>
              <a:rPr spc="-135" dirty="0"/>
              <a:t> </a:t>
            </a:r>
            <a:r>
              <a:rPr dirty="0"/>
              <a:t>High</a:t>
            </a:r>
            <a:r>
              <a:rPr spc="-145" dirty="0"/>
              <a:t> </a:t>
            </a:r>
            <a:r>
              <a:rPr dirty="0"/>
              <a:t>Level</a:t>
            </a:r>
            <a:r>
              <a:rPr spc="-150" dirty="0"/>
              <a:t> </a:t>
            </a:r>
            <a:r>
              <a:rPr dirty="0"/>
              <a:t>Block</a:t>
            </a:r>
            <a:r>
              <a:rPr spc="-165" dirty="0"/>
              <a:t> </a:t>
            </a:r>
            <a:r>
              <a:rPr spc="-10" dirty="0"/>
              <a:t>Design</a:t>
            </a:r>
          </a:p>
        </p:txBody>
      </p:sp>
      <p:sp>
        <p:nvSpPr>
          <p:cNvPr id="3" name="object 3"/>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4" name="object 4"/>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24</a:t>
            </a:fld>
            <a:endParaRPr spc="-25" dirty="0"/>
          </a:p>
        </p:txBody>
      </p:sp>
      <p:sp>
        <p:nvSpPr>
          <p:cNvPr id="5" name="object 5"/>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08317" y="370616"/>
            <a:ext cx="7871459" cy="677750"/>
          </a:xfrm>
          <a:prstGeom prst="rect">
            <a:avLst/>
          </a:prstGeom>
        </p:spPr>
        <p:txBody>
          <a:bodyPr vert="horz" wrap="square" lIns="0" tIns="122555" rIns="0" bIns="0" rtlCol="0">
            <a:spAutoFit/>
          </a:bodyPr>
          <a:lstStyle/>
          <a:p>
            <a:pPr marL="12700">
              <a:lnSpc>
                <a:spcPct val="100000"/>
              </a:lnSpc>
              <a:spcBef>
                <a:spcPts val="965"/>
              </a:spcBef>
            </a:pPr>
            <a:r>
              <a:rPr dirty="0"/>
              <a:t>2.</a:t>
            </a:r>
            <a:r>
              <a:rPr spc="-160" dirty="0"/>
              <a:t> </a:t>
            </a:r>
            <a:r>
              <a:rPr dirty="0"/>
              <a:t>High</a:t>
            </a:r>
            <a:r>
              <a:rPr spc="-140" dirty="0"/>
              <a:t> </a:t>
            </a:r>
            <a:r>
              <a:rPr dirty="0"/>
              <a:t>Level</a:t>
            </a:r>
            <a:r>
              <a:rPr spc="-140" dirty="0"/>
              <a:t> </a:t>
            </a:r>
            <a:r>
              <a:t>Block</a:t>
            </a:r>
            <a:r>
              <a:rPr spc="-160"/>
              <a:t> </a:t>
            </a:r>
            <a:r>
              <a:rPr spc="-10"/>
              <a:t>Design</a:t>
            </a:r>
            <a:endParaRPr spc="-10" dirty="0"/>
          </a:p>
        </p:txBody>
      </p:sp>
      <p:sp>
        <p:nvSpPr>
          <p:cNvPr id="5" name="object 5"/>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6" name="object 6"/>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25</a:t>
            </a:fld>
            <a:endParaRPr spc="-25" dirty="0"/>
          </a:p>
        </p:txBody>
      </p:sp>
      <p:sp>
        <p:nvSpPr>
          <p:cNvPr id="7" name="object 7"/>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12" name="object 3">
            <a:extLst>
              <a:ext uri="{FF2B5EF4-FFF2-40B4-BE49-F238E27FC236}">
                <a16:creationId xmlns:a16="http://schemas.microsoft.com/office/drawing/2014/main" id="{CBBD0149-D6CC-455F-923E-2F8A6E7165BE}"/>
              </a:ext>
            </a:extLst>
          </p:cNvPr>
          <p:cNvSpPr txBox="1"/>
          <p:nvPr/>
        </p:nvSpPr>
        <p:spPr>
          <a:xfrm>
            <a:off x="508317" y="1121155"/>
            <a:ext cx="49780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2</a:t>
            </a:r>
            <a:r>
              <a:rPr sz="3000" b="1">
                <a:solidFill>
                  <a:srgbClr val="7C45AD"/>
                </a:solidFill>
                <a:latin typeface="Arial"/>
                <a:cs typeface="Arial"/>
              </a:rPr>
              <a:t>.</a:t>
            </a:r>
            <a:r>
              <a:rPr lang="en-US" sz="3000" b="1">
                <a:solidFill>
                  <a:srgbClr val="7C45AD"/>
                </a:solidFill>
                <a:latin typeface="Arial"/>
                <a:cs typeface="Arial"/>
              </a:rPr>
              <a:t>1 APB Interface</a:t>
            </a:r>
            <a:endParaRPr sz="3000">
              <a:latin typeface="Arial"/>
              <a:cs typeface="Arial"/>
            </a:endParaRPr>
          </a:p>
        </p:txBody>
      </p:sp>
      <p:sp>
        <p:nvSpPr>
          <p:cNvPr id="3" name="TextBox 2">
            <a:extLst>
              <a:ext uri="{FF2B5EF4-FFF2-40B4-BE49-F238E27FC236}">
                <a16:creationId xmlns:a16="http://schemas.microsoft.com/office/drawing/2014/main" id="{DFE7319F-4FA8-E58E-4829-B1A04101917E}"/>
              </a:ext>
            </a:extLst>
          </p:cNvPr>
          <p:cNvSpPr txBox="1"/>
          <p:nvPr/>
        </p:nvSpPr>
        <p:spPr>
          <a:xfrm>
            <a:off x="3048698" y="6117945"/>
            <a:ext cx="6094476"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Interface</a:t>
            </a:r>
          </a:p>
        </p:txBody>
      </p:sp>
      <p:pic>
        <p:nvPicPr>
          <p:cNvPr id="1026" name="Picture 2">
            <a:extLst>
              <a:ext uri="{FF2B5EF4-FFF2-40B4-BE49-F238E27FC236}">
                <a16:creationId xmlns:a16="http://schemas.microsoft.com/office/drawing/2014/main" id="{125121B9-2415-2B72-066E-5ED308953E2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95536" y="1669074"/>
            <a:ext cx="6400800" cy="448654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861629B-0861-76FA-DF84-94F82FFF1182}"/>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1CD93EE8-91BF-8570-7377-DDFEEFF72C02}"/>
              </a:ext>
            </a:extLst>
          </p:cNvPr>
          <p:cNvSpPr txBox="1">
            <a:spLocks noGrp="1"/>
          </p:cNvSpPr>
          <p:nvPr>
            <p:ph type="title"/>
          </p:nvPr>
        </p:nvSpPr>
        <p:spPr>
          <a:xfrm>
            <a:off x="508317" y="370616"/>
            <a:ext cx="7871459" cy="677750"/>
          </a:xfrm>
          <a:prstGeom prst="rect">
            <a:avLst/>
          </a:prstGeom>
        </p:spPr>
        <p:txBody>
          <a:bodyPr vert="horz" wrap="square" lIns="0" tIns="122555" rIns="0" bIns="0" rtlCol="0">
            <a:spAutoFit/>
          </a:bodyPr>
          <a:lstStyle/>
          <a:p>
            <a:pPr marL="12700">
              <a:lnSpc>
                <a:spcPct val="100000"/>
              </a:lnSpc>
              <a:spcBef>
                <a:spcPts val="965"/>
              </a:spcBef>
            </a:pPr>
            <a:r>
              <a:rPr dirty="0"/>
              <a:t>2.</a:t>
            </a:r>
            <a:r>
              <a:rPr spc="-160" dirty="0"/>
              <a:t> </a:t>
            </a:r>
            <a:r>
              <a:rPr dirty="0"/>
              <a:t>High</a:t>
            </a:r>
            <a:r>
              <a:rPr spc="-140" dirty="0"/>
              <a:t> </a:t>
            </a:r>
            <a:r>
              <a:rPr dirty="0"/>
              <a:t>Level</a:t>
            </a:r>
            <a:r>
              <a:rPr spc="-140" dirty="0"/>
              <a:t> </a:t>
            </a:r>
            <a:r>
              <a:t>Block</a:t>
            </a:r>
            <a:r>
              <a:rPr spc="-160"/>
              <a:t> </a:t>
            </a:r>
            <a:r>
              <a:rPr spc="-10"/>
              <a:t>Design</a:t>
            </a:r>
            <a:endParaRPr spc="-10" dirty="0"/>
          </a:p>
        </p:txBody>
      </p:sp>
      <p:sp>
        <p:nvSpPr>
          <p:cNvPr id="5" name="object 5">
            <a:extLst>
              <a:ext uri="{FF2B5EF4-FFF2-40B4-BE49-F238E27FC236}">
                <a16:creationId xmlns:a16="http://schemas.microsoft.com/office/drawing/2014/main" id="{A6606177-1FAF-207A-B6B3-2A2A2D5E8F81}"/>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6" name="object 6">
            <a:extLst>
              <a:ext uri="{FF2B5EF4-FFF2-40B4-BE49-F238E27FC236}">
                <a16:creationId xmlns:a16="http://schemas.microsoft.com/office/drawing/2014/main" id="{E2A47CBE-B399-CAD2-BEB0-554BAF80B590}"/>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26</a:t>
            </a:fld>
            <a:endParaRPr spc="-25" dirty="0"/>
          </a:p>
        </p:txBody>
      </p:sp>
      <p:sp>
        <p:nvSpPr>
          <p:cNvPr id="7" name="object 7">
            <a:extLst>
              <a:ext uri="{FF2B5EF4-FFF2-40B4-BE49-F238E27FC236}">
                <a16:creationId xmlns:a16="http://schemas.microsoft.com/office/drawing/2014/main" id="{4600393A-5BAE-F5F4-97FA-F2FCBFD9896D}"/>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12" name="object 3">
            <a:extLst>
              <a:ext uri="{FF2B5EF4-FFF2-40B4-BE49-F238E27FC236}">
                <a16:creationId xmlns:a16="http://schemas.microsoft.com/office/drawing/2014/main" id="{54A9F735-0A37-7FF9-2FEE-2640274EDAC4}"/>
              </a:ext>
            </a:extLst>
          </p:cNvPr>
          <p:cNvSpPr txBox="1"/>
          <p:nvPr/>
        </p:nvSpPr>
        <p:spPr>
          <a:xfrm>
            <a:off x="508317" y="1121155"/>
            <a:ext cx="49780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2</a:t>
            </a:r>
            <a:r>
              <a:rPr sz="3000" b="1">
                <a:solidFill>
                  <a:srgbClr val="7C45AD"/>
                </a:solidFill>
                <a:latin typeface="Arial"/>
                <a:cs typeface="Arial"/>
              </a:rPr>
              <a:t>.</a:t>
            </a:r>
            <a:r>
              <a:rPr lang="en-US" sz="3000" b="1">
                <a:solidFill>
                  <a:srgbClr val="7C45AD"/>
                </a:solidFill>
                <a:latin typeface="Arial"/>
                <a:cs typeface="Arial"/>
              </a:rPr>
              <a:t>2 APB Master</a:t>
            </a:r>
            <a:endParaRPr sz="3000">
              <a:latin typeface="Arial"/>
              <a:cs typeface="Arial"/>
            </a:endParaRPr>
          </a:p>
        </p:txBody>
      </p:sp>
      <p:sp>
        <p:nvSpPr>
          <p:cNvPr id="3" name="TextBox 2">
            <a:extLst>
              <a:ext uri="{FF2B5EF4-FFF2-40B4-BE49-F238E27FC236}">
                <a16:creationId xmlns:a16="http://schemas.microsoft.com/office/drawing/2014/main" id="{81A1C111-1B10-ACBC-F267-AFDA320DB205}"/>
              </a:ext>
            </a:extLst>
          </p:cNvPr>
          <p:cNvSpPr txBox="1"/>
          <p:nvPr/>
        </p:nvSpPr>
        <p:spPr>
          <a:xfrm>
            <a:off x="3048698" y="6117945"/>
            <a:ext cx="6094476"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Master block</a:t>
            </a:r>
          </a:p>
        </p:txBody>
      </p:sp>
      <p:pic>
        <p:nvPicPr>
          <p:cNvPr id="1032" name="Picture 8">
            <a:extLst>
              <a:ext uri="{FF2B5EF4-FFF2-40B4-BE49-F238E27FC236}">
                <a16:creationId xmlns:a16="http://schemas.microsoft.com/office/drawing/2014/main" id="{FC8EB0B9-589F-DEB5-E60F-7A0ADFAEBB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58528" y="1775166"/>
            <a:ext cx="6274816" cy="42621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3299475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148DF1A-DB9C-B68E-218D-0FBAE8EBEE5B}"/>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7893790B-FF68-3CB8-8C62-15A44A69216B}"/>
              </a:ext>
            </a:extLst>
          </p:cNvPr>
          <p:cNvSpPr txBox="1">
            <a:spLocks noGrp="1"/>
          </p:cNvSpPr>
          <p:nvPr>
            <p:ph type="title"/>
          </p:nvPr>
        </p:nvSpPr>
        <p:spPr>
          <a:xfrm>
            <a:off x="508317" y="370616"/>
            <a:ext cx="7871459" cy="677750"/>
          </a:xfrm>
          <a:prstGeom prst="rect">
            <a:avLst/>
          </a:prstGeom>
        </p:spPr>
        <p:txBody>
          <a:bodyPr vert="horz" wrap="square" lIns="0" tIns="122555" rIns="0" bIns="0" rtlCol="0">
            <a:spAutoFit/>
          </a:bodyPr>
          <a:lstStyle/>
          <a:p>
            <a:pPr marL="12700">
              <a:lnSpc>
                <a:spcPct val="100000"/>
              </a:lnSpc>
              <a:spcBef>
                <a:spcPts val="965"/>
              </a:spcBef>
            </a:pPr>
            <a:r>
              <a:rPr dirty="0"/>
              <a:t>2.</a:t>
            </a:r>
            <a:r>
              <a:rPr spc="-160" dirty="0"/>
              <a:t> </a:t>
            </a:r>
            <a:r>
              <a:rPr dirty="0"/>
              <a:t>High</a:t>
            </a:r>
            <a:r>
              <a:rPr spc="-140" dirty="0"/>
              <a:t> </a:t>
            </a:r>
            <a:r>
              <a:rPr dirty="0"/>
              <a:t>Level</a:t>
            </a:r>
            <a:r>
              <a:rPr spc="-140" dirty="0"/>
              <a:t> </a:t>
            </a:r>
            <a:r>
              <a:t>Block</a:t>
            </a:r>
            <a:r>
              <a:rPr spc="-160"/>
              <a:t> </a:t>
            </a:r>
            <a:r>
              <a:rPr spc="-10"/>
              <a:t>Design</a:t>
            </a:r>
            <a:endParaRPr spc="-10" dirty="0"/>
          </a:p>
        </p:txBody>
      </p:sp>
      <p:sp>
        <p:nvSpPr>
          <p:cNvPr id="5" name="object 5">
            <a:extLst>
              <a:ext uri="{FF2B5EF4-FFF2-40B4-BE49-F238E27FC236}">
                <a16:creationId xmlns:a16="http://schemas.microsoft.com/office/drawing/2014/main" id="{5A94A512-4DE4-5F37-4475-85A5A004B32C}"/>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6" name="object 6">
            <a:extLst>
              <a:ext uri="{FF2B5EF4-FFF2-40B4-BE49-F238E27FC236}">
                <a16:creationId xmlns:a16="http://schemas.microsoft.com/office/drawing/2014/main" id="{69979D35-46E0-38D4-17F1-802630CB3287}"/>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27</a:t>
            </a:fld>
            <a:endParaRPr spc="-25" dirty="0"/>
          </a:p>
        </p:txBody>
      </p:sp>
      <p:sp>
        <p:nvSpPr>
          <p:cNvPr id="7" name="object 7">
            <a:extLst>
              <a:ext uri="{FF2B5EF4-FFF2-40B4-BE49-F238E27FC236}">
                <a16:creationId xmlns:a16="http://schemas.microsoft.com/office/drawing/2014/main" id="{1E071652-A7F9-C423-F6B6-DD042B8212CC}"/>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12" name="object 3">
            <a:extLst>
              <a:ext uri="{FF2B5EF4-FFF2-40B4-BE49-F238E27FC236}">
                <a16:creationId xmlns:a16="http://schemas.microsoft.com/office/drawing/2014/main" id="{F3280CE6-1327-3642-F792-CFF105FCA820}"/>
              </a:ext>
            </a:extLst>
          </p:cNvPr>
          <p:cNvSpPr txBox="1"/>
          <p:nvPr/>
        </p:nvSpPr>
        <p:spPr>
          <a:xfrm>
            <a:off x="508317" y="1121155"/>
            <a:ext cx="49780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2</a:t>
            </a:r>
            <a:r>
              <a:rPr sz="3000" b="1">
                <a:solidFill>
                  <a:srgbClr val="7C45AD"/>
                </a:solidFill>
                <a:latin typeface="Arial"/>
                <a:cs typeface="Arial"/>
              </a:rPr>
              <a:t>.</a:t>
            </a:r>
            <a:r>
              <a:rPr lang="en-US" sz="3000" b="1">
                <a:solidFill>
                  <a:srgbClr val="7C45AD"/>
                </a:solidFill>
                <a:latin typeface="Arial"/>
                <a:cs typeface="Arial"/>
              </a:rPr>
              <a:t>3 APB Slave</a:t>
            </a:r>
            <a:endParaRPr sz="3000">
              <a:latin typeface="Arial"/>
              <a:cs typeface="Arial"/>
            </a:endParaRPr>
          </a:p>
        </p:txBody>
      </p:sp>
      <p:sp>
        <p:nvSpPr>
          <p:cNvPr id="3" name="TextBox 2">
            <a:extLst>
              <a:ext uri="{FF2B5EF4-FFF2-40B4-BE49-F238E27FC236}">
                <a16:creationId xmlns:a16="http://schemas.microsoft.com/office/drawing/2014/main" id="{2CD45A0E-CCD5-C900-541B-4F8F6524FBEC}"/>
              </a:ext>
            </a:extLst>
          </p:cNvPr>
          <p:cNvSpPr txBox="1"/>
          <p:nvPr/>
        </p:nvSpPr>
        <p:spPr>
          <a:xfrm>
            <a:off x="3048698" y="6117945"/>
            <a:ext cx="6094476"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Slave block</a:t>
            </a:r>
          </a:p>
        </p:txBody>
      </p:sp>
      <p:pic>
        <p:nvPicPr>
          <p:cNvPr id="2050" name="Picture 2">
            <a:extLst>
              <a:ext uri="{FF2B5EF4-FFF2-40B4-BE49-F238E27FC236}">
                <a16:creationId xmlns:a16="http://schemas.microsoft.com/office/drawing/2014/main" id="{F85BA653-98F3-EF75-4260-7205B43AD64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43336" y="1676925"/>
            <a:ext cx="3505200" cy="43203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532419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9161E75-4015-5C49-9A1B-2A759E8A063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36C749E-A4DA-844D-2C22-C61C40F65A9F}"/>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FA3E2A4A-0886-4358-AD93-906974195064}"/>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28</a:t>
            </a:fld>
            <a:endParaRPr spc="-25" dirty="0"/>
          </a:p>
        </p:txBody>
      </p:sp>
      <p:sp>
        <p:nvSpPr>
          <p:cNvPr id="6" name="object 6">
            <a:extLst>
              <a:ext uri="{FF2B5EF4-FFF2-40B4-BE49-F238E27FC236}">
                <a16:creationId xmlns:a16="http://schemas.microsoft.com/office/drawing/2014/main" id="{9048BF82-8737-BD26-8084-C0B3AE4C1885}"/>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51E91BDC-9B77-25B9-97EA-AE089AC486A2}"/>
              </a:ext>
            </a:extLst>
          </p:cNvPr>
          <p:cNvSpPr txBox="1">
            <a:spLocks noGrp="1"/>
          </p:cNvSpPr>
          <p:nvPr>
            <p:ph type="title"/>
          </p:nvPr>
        </p:nvSpPr>
        <p:spPr>
          <a:xfrm>
            <a:off x="508316" y="480313"/>
            <a:ext cx="6197283" cy="567463"/>
          </a:xfrm>
          <a:prstGeom prst="rect">
            <a:avLst/>
          </a:prstGeom>
        </p:spPr>
        <p:txBody>
          <a:bodyPr vert="horz" wrap="square" lIns="0" tIns="13335" rIns="0" bIns="0" rtlCol="0">
            <a:spAutoFit/>
          </a:bodyPr>
          <a:lstStyle/>
          <a:p>
            <a:pPr marL="12700">
              <a:lnSpc>
                <a:spcPct val="100000"/>
              </a:lnSpc>
              <a:spcBef>
                <a:spcPts val="105"/>
              </a:spcBef>
            </a:pPr>
            <a:r>
              <a:rPr lang="en-US"/>
              <a:t>2.</a:t>
            </a:r>
            <a:r>
              <a:rPr lang="en-US" spc="-160"/>
              <a:t> </a:t>
            </a:r>
            <a:r>
              <a:rPr lang="en-US"/>
              <a:t>High</a:t>
            </a:r>
            <a:r>
              <a:rPr lang="en-US" spc="-140"/>
              <a:t> </a:t>
            </a:r>
            <a:r>
              <a:rPr lang="en-US"/>
              <a:t>Level</a:t>
            </a:r>
            <a:r>
              <a:rPr lang="en-US" spc="-140"/>
              <a:t> </a:t>
            </a:r>
            <a:r>
              <a:rPr lang="en-US"/>
              <a:t>Block</a:t>
            </a:r>
            <a:r>
              <a:rPr lang="en-US" spc="-160"/>
              <a:t> </a:t>
            </a:r>
            <a:r>
              <a:rPr lang="en-US" spc="-10"/>
              <a:t>Design</a:t>
            </a:r>
            <a:endParaRPr spc="-20" dirty="0"/>
          </a:p>
        </p:txBody>
      </p:sp>
      <p:sp>
        <p:nvSpPr>
          <p:cNvPr id="3" name="object 3">
            <a:extLst>
              <a:ext uri="{FF2B5EF4-FFF2-40B4-BE49-F238E27FC236}">
                <a16:creationId xmlns:a16="http://schemas.microsoft.com/office/drawing/2014/main" id="{02B9E5EF-4194-21A1-31C3-81B500230ACE}"/>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2.4 AMBA ABP Interface signals</a:t>
            </a:r>
          </a:p>
        </p:txBody>
      </p:sp>
      <p:graphicFrame>
        <p:nvGraphicFramePr>
          <p:cNvPr id="7" name="Table 6">
            <a:extLst>
              <a:ext uri="{FF2B5EF4-FFF2-40B4-BE49-F238E27FC236}">
                <a16:creationId xmlns:a16="http://schemas.microsoft.com/office/drawing/2014/main" id="{4C4EDEA5-EA21-A2C7-4F0C-BA369F1472D1}"/>
              </a:ext>
            </a:extLst>
          </p:cNvPr>
          <p:cNvGraphicFramePr>
            <a:graphicFrameLocks noGrp="1"/>
          </p:cNvGraphicFramePr>
          <p:nvPr>
            <p:extLst>
              <p:ext uri="{D42A27DB-BD31-4B8C-83A1-F6EECF244321}">
                <p14:modId xmlns:p14="http://schemas.microsoft.com/office/powerpoint/2010/main" val="3845681468"/>
              </p:ext>
            </p:extLst>
          </p:nvPr>
        </p:nvGraphicFramePr>
        <p:xfrm>
          <a:off x="508317" y="1837178"/>
          <a:ext cx="11033444" cy="4450080"/>
        </p:xfrm>
        <a:graphic>
          <a:graphicData uri="http://schemas.openxmlformats.org/drawingml/2006/table">
            <a:tbl>
              <a:tblPr firstRow="1" bandRow="1">
                <a:tableStyleId>{5C22544A-7EE6-4342-B048-85BDC9FD1C3A}</a:tableStyleId>
              </a:tblPr>
              <a:tblGrid>
                <a:gridCol w="2463483">
                  <a:extLst>
                    <a:ext uri="{9D8B030D-6E8A-4147-A177-3AD203B41FA5}">
                      <a16:colId xmlns:a16="http://schemas.microsoft.com/office/drawing/2014/main" val="1108912286"/>
                    </a:ext>
                  </a:extLst>
                </a:gridCol>
                <a:gridCol w="1524000">
                  <a:extLst>
                    <a:ext uri="{9D8B030D-6E8A-4147-A177-3AD203B41FA5}">
                      <a16:colId xmlns:a16="http://schemas.microsoft.com/office/drawing/2014/main" val="2272246613"/>
                    </a:ext>
                  </a:extLst>
                </a:gridCol>
                <a:gridCol w="1600200">
                  <a:extLst>
                    <a:ext uri="{9D8B030D-6E8A-4147-A177-3AD203B41FA5}">
                      <a16:colId xmlns:a16="http://schemas.microsoft.com/office/drawing/2014/main" val="10821907"/>
                    </a:ext>
                  </a:extLst>
                </a:gridCol>
                <a:gridCol w="5445761">
                  <a:extLst>
                    <a:ext uri="{9D8B030D-6E8A-4147-A177-3AD203B41FA5}">
                      <a16:colId xmlns:a16="http://schemas.microsoft.com/office/drawing/2014/main" val="3160994262"/>
                    </a:ext>
                  </a:extLst>
                </a:gridCol>
              </a:tblGrid>
              <a:tr h="370840">
                <a:tc>
                  <a:txBody>
                    <a:bodyPr/>
                    <a:lstStyle/>
                    <a:p>
                      <a:pPr algn="ctr"/>
                      <a:r>
                        <a:rPr lang="en-US" sz="1600">
                          <a:solidFill>
                            <a:schemeClr val="bg1"/>
                          </a:solidFill>
                          <a:latin typeface="Arial" panose="020B0604020202020204" pitchFamily="34" charset="0"/>
                          <a:cs typeface="Arial" panose="020B0604020202020204" pitchFamily="34" charset="0"/>
                        </a:rPr>
                        <a:t>Signal</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Source</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Width</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Description</a:t>
                      </a:r>
                    </a:p>
                  </a:txBody>
                  <a:tcPr>
                    <a:solidFill>
                      <a:srgbClr val="7030A0"/>
                    </a:solidFill>
                  </a:tcPr>
                </a:tc>
                <a:extLst>
                  <a:ext uri="{0D108BD9-81ED-4DB2-BD59-A6C34878D82A}">
                    <a16:rowId xmlns:a16="http://schemas.microsoft.com/office/drawing/2014/main" val="3816104531"/>
                  </a:ext>
                </a:extLst>
              </a:tr>
              <a:tr h="370840">
                <a:tc>
                  <a:txBody>
                    <a:bodyPr/>
                    <a:lstStyle/>
                    <a:p>
                      <a:pPr algn="ctr"/>
                      <a:r>
                        <a:rPr lang="en-US" sz="1600">
                          <a:latin typeface="Arial" panose="020B0604020202020204" pitchFamily="34" charset="0"/>
                          <a:cs typeface="Arial" panose="020B0604020202020204" pitchFamily="34" charset="0"/>
                        </a:rPr>
                        <a:t>TRANS</a:t>
                      </a:r>
                    </a:p>
                  </a:txBody>
                  <a:tcPr/>
                </a:tc>
                <a:tc>
                  <a:txBody>
                    <a:bodyPr/>
                    <a:lstStyle/>
                    <a:p>
                      <a:pPr algn="ctr"/>
                      <a:r>
                        <a:rPr lang="en-IN" sz="1600">
                          <a:solidFill>
                            <a:schemeClr val="tx1"/>
                          </a:solidFill>
                          <a:latin typeface="Arial" panose="020B0604020202020204" pitchFamily="34" charset="0"/>
                          <a:cs typeface="Arial" panose="020B0604020202020204" pitchFamily="34" charset="0"/>
                        </a:rPr>
                        <a:t>System BUS</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fontAlgn="t">
                        <a:lnSpc>
                          <a:spcPts val="1500"/>
                        </a:lnSpc>
                        <a:buNone/>
                      </a:pPr>
                      <a:r>
                        <a:rPr lang="en-US" sz="1600" b="0" i="0">
                          <a:effectLst/>
                          <a:latin typeface="Arial" panose="020B0604020202020204" pitchFamily="34" charset="0"/>
                          <a:cs typeface="Arial" panose="020B0604020202020204" pitchFamily="34" charset="0"/>
                        </a:rPr>
                        <a:t>Start signal. When the TRANS signal is set to HIGH, the system will begin operation. This signal may remain active for one clock cycle or multiple cycles.</a:t>
                      </a:r>
                    </a:p>
                  </a:txBody>
                  <a:tcPr/>
                </a:tc>
                <a:extLst>
                  <a:ext uri="{0D108BD9-81ED-4DB2-BD59-A6C34878D82A}">
                    <a16:rowId xmlns:a16="http://schemas.microsoft.com/office/drawing/2014/main" val="2693422610"/>
                  </a:ext>
                </a:extLst>
              </a:tr>
              <a:tr h="370840">
                <a:tc>
                  <a:txBody>
                    <a:bodyPr/>
                    <a:lstStyle/>
                    <a:p>
                      <a:pPr algn="ctr"/>
                      <a:r>
                        <a:rPr lang="en-US" sz="1600">
                          <a:latin typeface="Arial" panose="020B0604020202020204" pitchFamily="34" charset="0"/>
                          <a:cs typeface="Arial" panose="020B0604020202020204" pitchFamily="34" charset="0"/>
                        </a:rPr>
                        <a:t>READ</a:t>
                      </a: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IN" sz="16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System BUS</a:t>
                      </a:r>
                      <a:endParaRPr kumimoji="0" lang="en-IN" sz="16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r>
                        <a:rPr lang="en-US" sz="1600">
                          <a:latin typeface="Arial" panose="020B0604020202020204" pitchFamily="34" charset="0"/>
                          <a:cs typeface="Arial" panose="020B0604020202020204" pitchFamily="34" charset="0"/>
                        </a:rPr>
                        <a:t>Read signal. </a:t>
                      </a:r>
                    </a:p>
                  </a:txBody>
                  <a:tcPr/>
                </a:tc>
                <a:extLst>
                  <a:ext uri="{0D108BD9-81ED-4DB2-BD59-A6C34878D82A}">
                    <a16:rowId xmlns:a16="http://schemas.microsoft.com/office/drawing/2014/main" val="363023051"/>
                  </a:ext>
                </a:extLst>
              </a:tr>
              <a:tr h="370840">
                <a:tc>
                  <a:txBody>
                    <a:bodyPr/>
                    <a:lstStyle/>
                    <a:p>
                      <a:pPr algn="ctr"/>
                      <a:r>
                        <a:rPr lang="en-US" sz="1600">
                          <a:latin typeface="Arial" panose="020B0604020202020204" pitchFamily="34" charset="0"/>
                          <a:cs typeface="Arial" panose="020B0604020202020204" pitchFamily="34" charset="0"/>
                        </a:rPr>
                        <a:t>WRITE</a:t>
                      </a: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IN" sz="16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System BUS</a:t>
                      </a:r>
                      <a:endParaRPr kumimoji="0" lang="en-IN" sz="16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algn="just"/>
                      <a:r>
                        <a:rPr lang="en-US" sz="1600">
                          <a:latin typeface="Arial" panose="020B0604020202020204" pitchFamily="34" charset="0"/>
                          <a:cs typeface="Arial" panose="020B0604020202020204" pitchFamily="34" charset="0"/>
                        </a:rPr>
                        <a:t>Write signal. </a:t>
                      </a:r>
                    </a:p>
                  </a:txBody>
                  <a:tcPr/>
                </a:tc>
                <a:extLst>
                  <a:ext uri="{0D108BD9-81ED-4DB2-BD59-A6C34878D82A}">
                    <a16:rowId xmlns:a16="http://schemas.microsoft.com/office/drawing/2014/main" val="1648389343"/>
                  </a:ext>
                </a:extLst>
              </a:tr>
              <a:tr h="370840">
                <a:tc>
                  <a:txBody>
                    <a:bodyPr/>
                    <a:lstStyle/>
                    <a:p>
                      <a:pPr algn="ctr"/>
                      <a:r>
                        <a:rPr lang="en-US" sz="1600">
                          <a:latin typeface="Arial" panose="020B0604020202020204" pitchFamily="34" charset="0"/>
                          <a:cs typeface="Arial" panose="020B0604020202020204" pitchFamily="34" charset="0"/>
                        </a:rPr>
                        <a:t>APB_WRITE_PADDR</a:t>
                      </a: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IN" sz="16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System BUS</a:t>
                      </a:r>
                      <a:endParaRPr kumimoji="0" lang="en-IN" sz="16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ADDR_WIDTH</a:t>
                      </a:r>
                    </a:p>
                  </a:txBody>
                  <a:tcPr/>
                </a:tc>
                <a:tc>
                  <a:txBody>
                    <a:bodyPr/>
                    <a:lstStyle/>
                    <a:p>
                      <a:pPr fontAlgn="t">
                        <a:lnSpc>
                          <a:spcPts val="1500"/>
                        </a:lnSpc>
                        <a:buNone/>
                      </a:pPr>
                      <a:r>
                        <a:rPr lang="en-US" sz="1600" b="0" i="0">
                          <a:effectLst/>
                          <a:latin typeface="Arial" panose="020B0604020202020204" pitchFamily="34" charset="0"/>
                          <a:cs typeface="Arial" panose="020B0604020202020204" pitchFamily="34" charset="0"/>
                        </a:rPr>
                        <a:t>Address. This is the APB write address used by the APB master to write data to the slave. The address can be up to 32 bits wide.</a:t>
                      </a:r>
                    </a:p>
                  </a:txBody>
                  <a:tcPr/>
                </a:tc>
                <a:extLst>
                  <a:ext uri="{0D108BD9-81ED-4DB2-BD59-A6C34878D82A}">
                    <a16:rowId xmlns:a16="http://schemas.microsoft.com/office/drawing/2014/main" val="3605326436"/>
                  </a:ext>
                </a:extLst>
              </a:tr>
              <a:tr h="370840">
                <a:tc>
                  <a:txBody>
                    <a:bodyPr/>
                    <a:lstStyle/>
                    <a:p>
                      <a:pPr algn="ctr"/>
                      <a:r>
                        <a:rPr lang="en-US" sz="1600">
                          <a:latin typeface="Arial" panose="020B0604020202020204" pitchFamily="34" charset="0"/>
                          <a:cs typeface="Arial" panose="020B0604020202020204" pitchFamily="34" charset="0"/>
                        </a:rPr>
                        <a:t>APB_WRITE_DATA</a:t>
                      </a: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IN" sz="16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System BUS</a:t>
                      </a:r>
                      <a:endParaRPr kumimoji="0" lang="en-IN" sz="16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DATA_WIDTH</a:t>
                      </a:r>
                      <a:endParaRPr lang="en-IN" sz="1600">
                        <a:solidFill>
                          <a:schemeClr val="tx1"/>
                        </a:solidFill>
                        <a:latin typeface="Arial" panose="020B0604020202020204" pitchFamily="34" charset="0"/>
                        <a:cs typeface="Arial" panose="020B0604020202020204" pitchFamily="34" charset="0"/>
                      </a:endParaRPr>
                    </a:p>
                  </a:txBody>
                  <a:tcPr/>
                </a:tc>
                <a:tc>
                  <a:txBody>
                    <a:bodyPr/>
                    <a:lstStyle/>
                    <a:p>
                      <a:pPr fontAlgn="t">
                        <a:lnSpc>
                          <a:spcPts val="1500"/>
                        </a:lnSpc>
                        <a:buNone/>
                      </a:pPr>
                      <a:r>
                        <a:rPr lang="en-US" sz="1600" b="0" i="0">
                          <a:effectLst/>
                          <a:latin typeface="Arial" panose="020B0604020202020204" pitchFamily="34" charset="0"/>
                          <a:cs typeface="Arial" panose="020B0604020202020204" pitchFamily="34" charset="0"/>
                        </a:rPr>
                        <a:t>Data Write. This is the data sent from the APB master to the APB slave during a write operation. The data width can be up to 32 bits.</a:t>
                      </a:r>
                    </a:p>
                  </a:txBody>
                  <a:tcPr/>
                </a:tc>
                <a:extLst>
                  <a:ext uri="{0D108BD9-81ED-4DB2-BD59-A6C34878D82A}">
                    <a16:rowId xmlns:a16="http://schemas.microsoft.com/office/drawing/2014/main" val="679113978"/>
                  </a:ext>
                </a:extLst>
              </a:tr>
              <a:tr h="370840">
                <a:tc>
                  <a:txBody>
                    <a:bodyPr/>
                    <a:lstStyle/>
                    <a:p>
                      <a:pPr algn="ctr"/>
                      <a:r>
                        <a:rPr lang="en-IN" sz="1600">
                          <a:solidFill>
                            <a:schemeClr val="tx1"/>
                          </a:solidFill>
                          <a:latin typeface="Arial" panose="020B0604020202020204" pitchFamily="34" charset="0"/>
                          <a:cs typeface="Arial" panose="020B0604020202020204" pitchFamily="34" charset="0"/>
                        </a:rPr>
                        <a:t>APB_READ_PADDR</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IN" sz="16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System BUS</a:t>
                      </a:r>
                      <a:endParaRPr kumimoji="0" lang="en-IN" sz="16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ADDR_WIDTH</a:t>
                      </a:r>
                    </a:p>
                  </a:txBody>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en-US" sz="1600" b="0" i="0">
                          <a:effectLst/>
                          <a:latin typeface="Arial" panose="020B0604020202020204" pitchFamily="34" charset="0"/>
                          <a:cs typeface="Arial" panose="020B0604020202020204" pitchFamily="34" charset="0"/>
                        </a:rPr>
                        <a:t>Address. This is the APB read address used by the APB master to read data from the slave. The address can be up to 32 bits wide.</a:t>
                      </a:r>
                    </a:p>
                  </a:txBody>
                  <a:tcPr/>
                </a:tc>
                <a:extLst>
                  <a:ext uri="{0D108BD9-81ED-4DB2-BD59-A6C34878D82A}">
                    <a16:rowId xmlns:a16="http://schemas.microsoft.com/office/drawing/2014/main" val="1090504135"/>
                  </a:ext>
                </a:extLst>
              </a:tr>
              <a:tr h="370840">
                <a:tc>
                  <a:txBody>
                    <a:bodyPr/>
                    <a:lstStyle/>
                    <a:p>
                      <a:pPr algn="ctr"/>
                      <a:r>
                        <a:rPr lang="en-IN" sz="1600">
                          <a:solidFill>
                            <a:schemeClr val="tx1"/>
                          </a:solidFill>
                          <a:latin typeface="Arial" panose="020B0604020202020204" pitchFamily="34" charset="0"/>
                          <a:cs typeface="Arial" panose="020B0604020202020204" pitchFamily="34" charset="0"/>
                        </a:rPr>
                        <a:t>APB_READ_DATA_OUT</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IN" sz="16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System BUS</a:t>
                      </a:r>
                      <a:endParaRPr kumimoji="0" lang="en-IN" sz="16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DATA_WIDTH</a:t>
                      </a:r>
                      <a:endParaRPr lang="en-IN" sz="1600">
                        <a:solidFill>
                          <a:schemeClr val="tx1"/>
                        </a:solidFill>
                        <a:latin typeface="Arial" panose="020B0604020202020204" pitchFamily="34" charset="0"/>
                        <a:cs typeface="Arial" panose="020B0604020202020204" pitchFamily="34" charset="0"/>
                      </a:endParaRPr>
                    </a:p>
                  </a:txBody>
                  <a:tcPr/>
                </a:tc>
                <a:tc>
                  <a:txBody>
                    <a:bodyPr/>
                    <a:lstStyle/>
                    <a:p>
                      <a:pPr fontAlgn="t">
                        <a:lnSpc>
                          <a:spcPts val="1500"/>
                        </a:lnSpc>
                        <a:buNone/>
                      </a:pPr>
                      <a:r>
                        <a:rPr lang="en-US" sz="1600" b="0" i="0">
                          <a:effectLst/>
                          <a:latin typeface="Arial" panose="020B0604020202020204" pitchFamily="34" charset="0"/>
                          <a:cs typeface="Arial" panose="020B0604020202020204" pitchFamily="34" charset="0"/>
                        </a:rPr>
                        <a:t>Data Out. This is the data which is read from slave. The data width can be up to 32 bits.</a:t>
                      </a:r>
                    </a:p>
                  </a:txBody>
                  <a:tcPr/>
                </a:tc>
                <a:extLst>
                  <a:ext uri="{0D108BD9-81ED-4DB2-BD59-A6C34878D82A}">
                    <a16:rowId xmlns:a16="http://schemas.microsoft.com/office/drawing/2014/main" val="4154895400"/>
                  </a:ext>
                </a:extLst>
              </a:tr>
            </a:tbl>
          </a:graphicData>
        </a:graphic>
      </p:graphicFrame>
    </p:spTree>
    <p:extLst>
      <p:ext uri="{BB962C8B-B14F-4D97-AF65-F5344CB8AC3E}">
        <p14:creationId xmlns:p14="http://schemas.microsoft.com/office/powerpoint/2010/main" val="9138994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4A9C4F7B-C4AD-7588-9D62-709D0E1563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312106-84E0-FFE0-E62F-E0376C700F72}"/>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F11F9F34-3BE3-852B-F16E-1E0A5745F07F}"/>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29</a:t>
            </a:fld>
            <a:endParaRPr spc="-25" dirty="0"/>
          </a:p>
        </p:txBody>
      </p:sp>
      <p:sp>
        <p:nvSpPr>
          <p:cNvPr id="6" name="object 6">
            <a:extLst>
              <a:ext uri="{FF2B5EF4-FFF2-40B4-BE49-F238E27FC236}">
                <a16:creationId xmlns:a16="http://schemas.microsoft.com/office/drawing/2014/main" id="{70C09A7D-0E96-C2B6-DABC-5B4A8C6FB7A3}"/>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1CEB6338-2B66-0A24-E967-1EED27424CC6}"/>
              </a:ext>
            </a:extLst>
          </p:cNvPr>
          <p:cNvSpPr txBox="1">
            <a:spLocks noGrp="1"/>
          </p:cNvSpPr>
          <p:nvPr>
            <p:ph type="title"/>
          </p:nvPr>
        </p:nvSpPr>
        <p:spPr>
          <a:xfrm>
            <a:off x="508316" y="480313"/>
            <a:ext cx="7721283" cy="567463"/>
          </a:xfrm>
          <a:prstGeom prst="rect">
            <a:avLst/>
          </a:prstGeom>
        </p:spPr>
        <p:txBody>
          <a:bodyPr vert="horz" wrap="square" lIns="0" tIns="13335" rIns="0" bIns="0" rtlCol="0">
            <a:spAutoFit/>
          </a:bodyPr>
          <a:lstStyle/>
          <a:p>
            <a:pPr marL="12700">
              <a:lnSpc>
                <a:spcPct val="100000"/>
              </a:lnSpc>
              <a:spcBef>
                <a:spcPts val="105"/>
              </a:spcBef>
            </a:pPr>
            <a:r>
              <a:rPr lang="en-US"/>
              <a:t>2.</a:t>
            </a:r>
            <a:r>
              <a:rPr lang="en-US" spc="-160"/>
              <a:t> </a:t>
            </a:r>
            <a:r>
              <a:rPr lang="en-US"/>
              <a:t>High</a:t>
            </a:r>
            <a:r>
              <a:rPr lang="en-US" spc="-140"/>
              <a:t> </a:t>
            </a:r>
            <a:r>
              <a:rPr lang="en-US"/>
              <a:t>Level</a:t>
            </a:r>
            <a:r>
              <a:rPr lang="en-US" spc="-140"/>
              <a:t> </a:t>
            </a:r>
            <a:r>
              <a:rPr lang="en-US"/>
              <a:t>Block</a:t>
            </a:r>
            <a:r>
              <a:rPr lang="en-US" spc="-160"/>
              <a:t> </a:t>
            </a:r>
            <a:r>
              <a:rPr lang="en-US" spc="-10"/>
              <a:t>Design</a:t>
            </a:r>
            <a:endParaRPr spc="-20" dirty="0"/>
          </a:p>
        </p:txBody>
      </p:sp>
      <p:sp>
        <p:nvSpPr>
          <p:cNvPr id="3" name="object 3">
            <a:extLst>
              <a:ext uri="{FF2B5EF4-FFF2-40B4-BE49-F238E27FC236}">
                <a16:creationId xmlns:a16="http://schemas.microsoft.com/office/drawing/2014/main" id="{3D8210DD-2E80-62FA-79C8-18F3DC580829}"/>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2.4 AMBA ABP Interface signals</a:t>
            </a:r>
          </a:p>
        </p:txBody>
      </p:sp>
      <p:graphicFrame>
        <p:nvGraphicFramePr>
          <p:cNvPr id="7" name="Table 6">
            <a:extLst>
              <a:ext uri="{FF2B5EF4-FFF2-40B4-BE49-F238E27FC236}">
                <a16:creationId xmlns:a16="http://schemas.microsoft.com/office/drawing/2014/main" id="{FBE074F0-5D0E-1ABE-2C5E-B9F900394545}"/>
              </a:ext>
            </a:extLst>
          </p:cNvPr>
          <p:cNvGraphicFramePr>
            <a:graphicFrameLocks noGrp="1"/>
          </p:cNvGraphicFramePr>
          <p:nvPr>
            <p:extLst>
              <p:ext uri="{D42A27DB-BD31-4B8C-83A1-F6EECF244321}">
                <p14:modId xmlns:p14="http://schemas.microsoft.com/office/powerpoint/2010/main" val="1342892115"/>
              </p:ext>
            </p:extLst>
          </p:nvPr>
        </p:nvGraphicFramePr>
        <p:xfrm>
          <a:off x="579214" y="1884540"/>
          <a:ext cx="11033444" cy="3881120"/>
        </p:xfrm>
        <a:graphic>
          <a:graphicData uri="http://schemas.openxmlformats.org/drawingml/2006/table">
            <a:tbl>
              <a:tblPr firstRow="1" bandRow="1">
                <a:tableStyleId>{5C22544A-7EE6-4342-B048-85BDC9FD1C3A}</a:tableStyleId>
              </a:tblPr>
              <a:tblGrid>
                <a:gridCol w="1777683">
                  <a:extLst>
                    <a:ext uri="{9D8B030D-6E8A-4147-A177-3AD203B41FA5}">
                      <a16:colId xmlns:a16="http://schemas.microsoft.com/office/drawing/2014/main" val="1108912286"/>
                    </a:ext>
                  </a:extLst>
                </a:gridCol>
                <a:gridCol w="1600200">
                  <a:extLst>
                    <a:ext uri="{9D8B030D-6E8A-4147-A177-3AD203B41FA5}">
                      <a16:colId xmlns:a16="http://schemas.microsoft.com/office/drawing/2014/main" val="2272246613"/>
                    </a:ext>
                  </a:extLst>
                </a:gridCol>
                <a:gridCol w="1600200">
                  <a:extLst>
                    <a:ext uri="{9D8B030D-6E8A-4147-A177-3AD203B41FA5}">
                      <a16:colId xmlns:a16="http://schemas.microsoft.com/office/drawing/2014/main" val="10821907"/>
                    </a:ext>
                  </a:extLst>
                </a:gridCol>
                <a:gridCol w="6055361">
                  <a:extLst>
                    <a:ext uri="{9D8B030D-6E8A-4147-A177-3AD203B41FA5}">
                      <a16:colId xmlns:a16="http://schemas.microsoft.com/office/drawing/2014/main" val="3160994262"/>
                    </a:ext>
                  </a:extLst>
                </a:gridCol>
              </a:tblGrid>
              <a:tr h="370840">
                <a:tc>
                  <a:txBody>
                    <a:bodyPr/>
                    <a:lstStyle/>
                    <a:p>
                      <a:pPr algn="ctr"/>
                      <a:r>
                        <a:rPr lang="en-US" sz="1600">
                          <a:solidFill>
                            <a:schemeClr val="bg1"/>
                          </a:solidFill>
                          <a:latin typeface="Arial" panose="020B0604020202020204" pitchFamily="34" charset="0"/>
                          <a:cs typeface="Arial" panose="020B0604020202020204" pitchFamily="34" charset="0"/>
                        </a:rPr>
                        <a:t>Signal</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Source</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Width</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Description</a:t>
                      </a:r>
                    </a:p>
                  </a:txBody>
                  <a:tcPr>
                    <a:solidFill>
                      <a:srgbClr val="7030A0"/>
                    </a:solidFill>
                  </a:tcPr>
                </a:tc>
                <a:extLst>
                  <a:ext uri="{0D108BD9-81ED-4DB2-BD59-A6C34878D82A}">
                    <a16:rowId xmlns:a16="http://schemas.microsoft.com/office/drawing/2014/main" val="3816104531"/>
                  </a:ext>
                </a:extLst>
              </a:tr>
              <a:tr h="370840">
                <a:tc>
                  <a:txBody>
                    <a:bodyPr/>
                    <a:lstStyle/>
                    <a:p>
                      <a:pPr algn="ctr"/>
                      <a:r>
                        <a:rPr lang="en-US" sz="1600">
                          <a:latin typeface="Arial" panose="020B0604020202020204" pitchFamily="34" charset="0"/>
                          <a:cs typeface="Arial" panose="020B0604020202020204" pitchFamily="34" charset="0"/>
                        </a:rPr>
                        <a:t>PCLK</a:t>
                      </a: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Clock Source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algn="just"/>
                      <a:r>
                        <a:rPr lang="en-US" sz="1600">
                          <a:latin typeface="Arial" panose="020B0604020202020204" pitchFamily="34" charset="0"/>
                          <a:cs typeface="Arial" panose="020B0604020202020204" pitchFamily="34" charset="0"/>
                        </a:rPr>
                        <a:t>Clock. The rising edge of PCLK times all transfer on the APB</a:t>
                      </a:r>
                    </a:p>
                  </a:txBody>
                  <a:tcPr/>
                </a:tc>
                <a:extLst>
                  <a:ext uri="{0D108BD9-81ED-4DB2-BD59-A6C34878D82A}">
                    <a16:rowId xmlns:a16="http://schemas.microsoft.com/office/drawing/2014/main" val="4131091150"/>
                  </a:ext>
                </a:extLst>
              </a:tr>
              <a:tr h="370840">
                <a:tc>
                  <a:txBody>
                    <a:bodyPr/>
                    <a:lstStyle/>
                    <a:p>
                      <a:pPr algn="ctr"/>
                      <a:r>
                        <a:rPr lang="en-US" sz="1600">
                          <a:latin typeface="Arial" panose="020B0604020202020204" pitchFamily="34" charset="0"/>
                          <a:cs typeface="Arial" panose="020B0604020202020204" pitchFamily="34" charset="0"/>
                        </a:rPr>
                        <a:t>PRESETn</a:t>
                      </a: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System Bus</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algn="just"/>
                      <a:r>
                        <a:rPr lang="en-US" sz="1600">
                          <a:latin typeface="Arial" panose="020B0604020202020204" pitchFamily="34" charset="0"/>
                          <a:cs typeface="Arial" panose="020B0604020202020204" pitchFamily="34" charset="0"/>
                        </a:rPr>
                        <a:t>Reset. The APB reset signal is active LOW. This signal is normally connected directly to the system bus reset signal.</a:t>
                      </a:r>
                    </a:p>
                  </a:txBody>
                  <a:tcPr/>
                </a:tc>
                <a:extLst>
                  <a:ext uri="{0D108BD9-81ED-4DB2-BD59-A6C34878D82A}">
                    <a16:rowId xmlns:a16="http://schemas.microsoft.com/office/drawing/2014/main" val="2693422610"/>
                  </a:ext>
                </a:extLst>
              </a:tr>
              <a:tr h="370840">
                <a:tc>
                  <a:txBody>
                    <a:bodyPr/>
                    <a:lstStyle/>
                    <a:p>
                      <a:pPr algn="ctr"/>
                      <a:r>
                        <a:rPr lang="en-US" sz="1600">
                          <a:latin typeface="Arial" panose="020B0604020202020204" pitchFamily="34" charset="0"/>
                          <a:cs typeface="Arial" panose="020B0604020202020204" pitchFamily="34" charset="0"/>
                        </a:rPr>
                        <a:t>PADDR</a:t>
                      </a: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ADDR_WIDTH</a:t>
                      </a:r>
                    </a:p>
                  </a:txBody>
                  <a:tcPr/>
                </a:tc>
                <a:tc>
                  <a:txBody>
                    <a:bodyPr/>
                    <a:lstStyle/>
                    <a:p>
                      <a:pPr algn="just"/>
                      <a:r>
                        <a:rPr lang="en-US" sz="1600">
                          <a:latin typeface="Arial" panose="020B0604020202020204" pitchFamily="34" charset="0"/>
                          <a:cs typeface="Arial" panose="020B0604020202020204" pitchFamily="34" charset="0"/>
                        </a:rPr>
                        <a:t>Address. This is APB address bus. It can be up to 32 bits wide and is driven by the peripheral bus bridge unit.</a:t>
                      </a:r>
                    </a:p>
                  </a:txBody>
                  <a:tcPr/>
                </a:tc>
                <a:extLst>
                  <a:ext uri="{0D108BD9-81ED-4DB2-BD59-A6C34878D82A}">
                    <a16:rowId xmlns:a16="http://schemas.microsoft.com/office/drawing/2014/main" val="363023051"/>
                  </a:ext>
                </a:extLst>
              </a:tr>
              <a:tr h="370840">
                <a:tc>
                  <a:txBody>
                    <a:bodyPr/>
                    <a:lstStyle/>
                    <a:p>
                      <a:pPr algn="ctr"/>
                      <a:r>
                        <a:rPr lang="en-US" sz="1600">
                          <a:latin typeface="Arial" panose="020B0604020202020204" pitchFamily="34" charset="0"/>
                          <a:cs typeface="Arial" panose="020B0604020202020204" pitchFamily="34" charset="0"/>
                        </a:rPr>
                        <a:t>PPROT</a:t>
                      </a: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3</a:t>
                      </a:r>
                    </a:p>
                  </a:txBody>
                  <a:tcPr/>
                </a:tc>
                <a:tc>
                  <a:txBody>
                    <a:bodyPr/>
                    <a:lstStyle/>
                    <a:p>
                      <a:pPr algn="just"/>
                      <a:r>
                        <a:rPr lang="en-US" sz="1600">
                          <a:latin typeface="Arial" panose="020B0604020202020204" pitchFamily="34" charset="0"/>
                          <a:cs typeface="Arial" panose="020B0604020202020204" pitchFamily="34" charset="0"/>
                        </a:rPr>
                        <a:t>Protection type. This signal indicates the normal, privileged, or secure protection level of the transaction and whether the transaction is a data access or an instruction access.</a:t>
                      </a:r>
                    </a:p>
                  </a:txBody>
                  <a:tcPr/>
                </a:tc>
                <a:extLst>
                  <a:ext uri="{0D108BD9-81ED-4DB2-BD59-A6C34878D82A}">
                    <a16:rowId xmlns:a16="http://schemas.microsoft.com/office/drawing/2014/main" val="1648389343"/>
                  </a:ext>
                </a:extLst>
              </a:tr>
              <a:tr h="370840">
                <a:tc>
                  <a:txBody>
                    <a:bodyPr/>
                    <a:lstStyle/>
                    <a:p>
                      <a:pPr algn="ctr"/>
                      <a:r>
                        <a:rPr lang="en-US" sz="1600">
                          <a:latin typeface="Arial" panose="020B0604020202020204" pitchFamily="34" charset="0"/>
                          <a:cs typeface="Arial" panose="020B0604020202020204" pitchFamily="34" charset="0"/>
                        </a:rPr>
                        <a:t>PSELx</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en-US" sz="1600" b="0" i="0">
                          <a:solidFill>
                            <a:schemeClr val="dk1"/>
                          </a:solidFill>
                          <a:effectLst/>
                          <a:latin typeface="Arial" panose="020B0604020202020204" pitchFamily="34" charset="0"/>
                          <a:ea typeface="+mn-ea"/>
                          <a:cs typeface="Arial" panose="020B0604020202020204" pitchFamily="34" charset="0"/>
                        </a:rPr>
                        <a:t>Slave select signal, there will be one PSEL signal for each slave connected to master.</a:t>
                      </a:r>
                      <a:r>
                        <a:rPr lang="en-US" sz="1600">
                          <a:latin typeface="Arial" panose="020B0604020202020204" pitchFamily="34" charset="0"/>
                          <a:cs typeface="Arial" panose="020B0604020202020204" pitchFamily="34" charset="0"/>
                        </a:rPr>
                        <a:t>. It’s an active high signal. </a:t>
                      </a:r>
                      <a:endParaRPr lang="en-IN" sz="160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05326436"/>
                  </a:ext>
                </a:extLst>
              </a:tr>
              <a:tr h="370840">
                <a:tc>
                  <a:txBody>
                    <a:bodyPr/>
                    <a:lstStyle/>
                    <a:p>
                      <a:pPr algn="ctr"/>
                      <a:r>
                        <a:rPr lang="en-US" sz="1600" dirty="0">
                          <a:solidFill>
                            <a:schemeClr val="tx1"/>
                          </a:solidFill>
                          <a:latin typeface="Arial" panose="020B0604020202020204" pitchFamily="34" charset="0"/>
                          <a:cs typeface="Arial" panose="020B0604020202020204" pitchFamily="34" charset="0"/>
                        </a:rPr>
                        <a:t>PENABLE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Enable. It indicates the 2</a:t>
                      </a:r>
                      <a:r>
                        <a:rPr lang="en-US" sz="1600" baseline="30000">
                          <a:latin typeface="Arial" panose="020B0604020202020204" pitchFamily="34" charset="0"/>
                          <a:cs typeface="Arial" panose="020B0604020202020204" pitchFamily="34" charset="0"/>
                        </a:rPr>
                        <a:t>nd</a:t>
                      </a:r>
                      <a:r>
                        <a:rPr lang="en-US" sz="1600">
                          <a:latin typeface="Arial" panose="020B0604020202020204" pitchFamily="34" charset="0"/>
                          <a:cs typeface="Arial" panose="020B0604020202020204" pitchFamily="34" charset="0"/>
                        </a:rPr>
                        <a:t> cycle of a data transfer. It’s an active high signal. </a:t>
                      </a:r>
                      <a:endParaRPr lang="en-IN" sz="160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79113978"/>
                  </a:ext>
                </a:extLst>
              </a:tr>
            </a:tbl>
          </a:graphicData>
        </a:graphic>
      </p:graphicFrame>
    </p:spTree>
    <p:extLst>
      <p:ext uri="{BB962C8B-B14F-4D97-AF65-F5344CB8AC3E}">
        <p14:creationId xmlns:p14="http://schemas.microsoft.com/office/powerpoint/2010/main" val="1087384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56F6972-62BB-B539-7894-0D3730732A5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7A33796-6821-0C81-9031-2B4020B8D872}"/>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F94D3344-C409-6BF3-E883-1E19C4605D24}"/>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30</a:t>
            </a:fld>
            <a:endParaRPr spc="-25" dirty="0"/>
          </a:p>
        </p:txBody>
      </p:sp>
      <p:sp>
        <p:nvSpPr>
          <p:cNvPr id="6" name="object 6">
            <a:extLst>
              <a:ext uri="{FF2B5EF4-FFF2-40B4-BE49-F238E27FC236}">
                <a16:creationId xmlns:a16="http://schemas.microsoft.com/office/drawing/2014/main" id="{FA0BD365-EDEF-72FD-07E5-C91512C345DF}"/>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F6F932A8-46B5-548C-7E8B-38563E70F830}"/>
              </a:ext>
            </a:extLst>
          </p:cNvPr>
          <p:cNvSpPr txBox="1">
            <a:spLocks noGrp="1"/>
          </p:cNvSpPr>
          <p:nvPr>
            <p:ph type="title"/>
          </p:nvPr>
        </p:nvSpPr>
        <p:spPr>
          <a:xfrm>
            <a:off x="508316" y="480313"/>
            <a:ext cx="7721283" cy="567463"/>
          </a:xfrm>
          <a:prstGeom prst="rect">
            <a:avLst/>
          </a:prstGeom>
        </p:spPr>
        <p:txBody>
          <a:bodyPr vert="horz" wrap="square" lIns="0" tIns="13335" rIns="0" bIns="0" rtlCol="0">
            <a:spAutoFit/>
          </a:bodyPr>
          <a:lstStyle/>
          <a:p>
            <a:pPr marL="12700">
              <a:lnSpc>
                <a:spcPct val="100000"/>
              </a:lnSpc>
              <a:spcBef>
                <a:spcPts val="105"/>
              </a:spcBef>
            </a:pPr>
            <a:r>
              <a:rPr lang="en-US"/>
              <a:t>2.</a:t>
            </a:r>
            <a:r>
              <a:rPr lang="en-US" spc="-160"/>
              <a:t> </a:t>
            </a:r>
            <a:r>
              <a:rPr lang="en-US"/>
              <a:t>High</a:t>
            </a:r>
            <a:r>
              <a:rPr lang="en-US" spc="-140"/>
              <a:t> </a:t>
            </a:r>
            <a:r>
              <a:rPr lang="en-US"/>
              <a:t>Level</a:t>
            </a:r>
            <a:r>
              <a:rPr lang="en-US" spc="-140"/>
              <a:t> </a:t>
            </a:r>
            <a:r>
              <a:rPr lang="en-US"/>
              <a:t>Block</a:t>
            </a:r>
            <a:r>
              <a:rPr lang="en-US" spc="-160"/>
              <a:t> </a:t>
            </a:r>
            <a:r>
              <a:rPr lang="en-US" spc="-10"/>
              <a:t>Design</a:t>
            </a:r>
            <a:endParaRPr spc="-20" dirty="0"/>
          </a:p>
        </p:txBody>
      </p:sp>
      <p:sp>
        <p:nvSpPr>
          <p:cNvPr id="3" name="object 3">
            <a:extLst>
              <a:ext uri="{FF2B5EF4-FFF2-40B4-BE49-F238E27FC236}">
                <a16:creationId xmlns:a16="http://schemas.microsoft.com/office/drawing/2014/main" id="{34BBC1CE-6D6C-1E6B-079E-94AACD7E16E3}"/>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2.4 AMBA ABP Interface signals</a:t>
            </a:r>
          </a:p>
        </p:txBody>
      </p:sp>
      <p:graphicFrame>
        <p:nvGraphicFramePr>
          <p:cNvPr id="7" name="Table 6">
            <a:extLst>
              <a:ext uri="{FF2B5EF4-FFF2-40B4-BE49-F238E27FC236}">
                <a16:creationId xmlns:a16="http://schemas.microsoft.com/office/drawing/2014/main" id="{56C44590-07AC-E7E2-9AA5-8E71F8704879}"/>
              </a:ext>
            </a:extLst>
          </p:cNvPr>
          <p:cNvGraphicFramePr>
            <a:graphicFrameLocks noGrp="1"/>
          </p:cNvGraphicFramePr>
          <p:nvPr/>
        </p:nvGraphicFramePr>
        <p:xfrm>
          <a:off x="579214" y="1884540"/>
          <a:ext cx="11033444" cy="4368800"/>
        </p:xfrm>
        <a:graphic>
          <a:graphicData uri="http://schemas.openxmlformats.org/drawingml/2006/table">
            <a:tbl>
              <a:tblPr firstRow="1" bandRow="1">
                <a:tableStyleId>{5C22544A-7EE6-4342-B048-85BDC9FD1C3A}</a:tableStyleId>
              </a:tblPr>
              <a:tblGrid>
                <a:gridCol w="1777683">
                  <a:extLst>
                    <a:ext uri="{9D8B030D-6E8A-4147-A177-3AD203B41FA5}">
                      <a16:colId xmlns:a16="http://schemas.microsoft.com/office/drawing/2014/main" val="1108912286"/>
                    </a:ext>
                  </a:extLst>
                </a:gridCol>
                <a:gridCol w="1600200">
                  <a:extLst>
                    <a:ext uri="{9D8B030D-6E8A-4147-A177-3AD203B41FA5}">
                      <a16:colId xmlns:a16="http://schemas.microsoft.com/office/drawing/2014/main" val="2272246613"/>
                    </a:ext>
                  </a:extLst>
                </a:gridCol>
                <a:gridCol w="1600200">
                  <a:extLst>
                    <a:ext uri="{9D8B030D-6E8A-4147-A177-3AD203B41FA5}">
                      <a16:colId xmlns:a16="http://schemas.microsoft.com/office/drawing/2014/main" val="10821907"/>
                    </a:ext>
                  </a:extLst>
                </a:gridCol>
                <a:gridCol w="6055361">
                  <a:extLst>
                    <a:ext uri="{9D8B030D-6E8A-4147-A177-3AD203B41FA5}">
                      <a16:colId xmlns:a16="http://schemas.microsoft.com/office/drawing/2014/main" val="3160994262"/>
                    </a:ext>
                  </a:extLst>
                </a:gridCol>
              </a:tblGrid>
              <a:tr h="370840">
                <a:tc>
                  <a:txBody>
                    <a:bodyPr/>
                    <a:lstStyle/>
                    <a:p>
                      <a:pPr algn="ctr"/>
                      <a:r>
                        <a:rPr lang="en-US" sz="1600">
                          <a:solidFill>
                            <a:schemeClr val="bg1"/>
                          </a:solidFill>
                          <a:latin typeface="Arial" panose="020B0604020202020204" pitchFamily="34" charset="0"/>
                          <a:cs typeface="Arial" panose="020B0604020202020204" pitchFamily="34" charset="0"/>
                        </a:rPr>
                        <a:t>Signal</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Source</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Width</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Description</a:t>
                      </a:r>
                    </a:p>
                  </a:txBody>
                  <a:tcPr>
                    <a:solidFill>
                      <a:srgbClr val="7030A0"/>
                    </a:solidFill>
                  </a:tcPr>
                </a:tc>
                <a:extLst>
                  <a:ext uri="{0D108BD9-81ED-4DB2-BD59-A6C34878D82A}">
                    <a16:rowId xmlns:a16="http://schemas.microsoft.com/office/drawing/2014/main" val="3816104531"/>
                  </a:ext>
                </a:extLst>
              </a:tr>
              <a:tr h="370840">
                <a:tc>
                  <a:txBody>
                    <a:bodyPr/>
                    <a:lstStyle/>
                    <a:p>
                      <a:pPr algn="ctr"/>
                      <a:r>
                        <a:rPr lang="en-US" sz="1600">
                          <a:latin typeface="Arial" panose="020B0604020202020204" pitchFamily="34" charset="0"/>
                          <a:cs typeface="Arial" panose="020B0604020202020204" pitchFamily="34" charset="0"/>
                        </a:rPr>
                        <a:t>PWRITE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r>
                        <a:rPr lang="en-US" sz="1600">
                          <a:latin typeface="Arial" panose="020B0604020202020204" pitchFamily="34" charset="0"/>
                          <a:cs typeface="Arial" panose="020B0604020202020204" pitchFamily="34" charset="0"/>
                        </a:rPr>
                        <a:t>Direction. PWRITE indicates an APB write access when HIGH and an APB read access when LOW.</a:t>
                      </a:r>
                    </a:p>
                  </a:txBody>
                  <a:tcPr/>
                </a:tc>
                <a:extLst>
                  <a:ext uri="{0D108BD9-81ED-4DB2-BD59-A6C34878D82A}">
                    <a16:rowId xmlns:a16="http://schemas.microsoft.com/office/drawing/2014/main" val="4131091150"/>
                  </a:ext>
                </a:extLst>
              </a:tr>
              <a:tr h="370840">
                <a:tc>
                  <a:txBody>
                    <a:bodyPr/>
                    <a:lstStyle/>
                    <a:p>
                      <a:pPr algn="ctr"/>
                      <a:r>
                        <a:rPr lang="en-IN" sz="1600">
                          <a:solidFill>
                            <a:schemeClr val="tx1"/>
                          </a:solidFill>
                          <a:latin typeface="Arial" panose="020B0604020202020204" pitchFamily="34" charset="0"/>
                          <a:cs typeface="Arial" panose="020B0604020202020204" pitchFamily="34" charset="0"/>
                        </a:rPr>
                        <a:t>PWDATA</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a:solidFill>
                            <a:schemeClr val="tx1"/>
                          </a:solidFill>
                          <a:latin typeface="Arial" panose="020B0604020202020204" pitchFamily="34" charset="0"/>
                          <a:cs typeface="Arial" panose="020B0604020202020204" pitchFamily="34" charset="0"/>
                        </a:rPr>
                        <a:t>APB bridge</a:t>
                      </a:r>
                      <a:endParaRPr lang="en-IN" sz="160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DATA_WIDTH</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IN" sz="1600">
                          <a:solidFill>
                            <a:schemeClr val="tx1"/>
                          </a:solidFill>
                          <a:latin typeface="Arial" panose="020B0604020202020204" pitchFamily="34" charset="0"/>
                          <a:cs typeface="Arial" panose="020B0604020202020204" pitchFamily="34" charset="0"/>
                        </a:rPr>
                        <a:t>Write data. </a:t>
                      </a:r>
                      <a:r>
                        <a:rPr lang="en-US" sz="1600" b="0" i="0">
                          <a:solidFill>
                            <a:schemeClr val="dk1"/>
                          </a:solidFill>
                          <a:effectLst/>
                          <a:latin typeface="Arial" panose="020B0604020202020204" pitchFamily="34" charset="0"/>
                          <a:ea typeface="+mn-ea"/>
                          <a:cs typeface="Arial" panose="020B0604020202020204" pitchFamily="34" charset="0"/>
                        </a:rPr>
                        <a:t>Write data bus from Master to Slave, can be up to 32 bit wide</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93422610"/>
                  </a:ext>
                </a:extLst>
              </a:tr>
              <a:tr h="370840">
                <a:tc>
                  <a:txBody>
                    <a:bodyPr/>
                    <a:lstStyle/>
                    <a:p>
                      <a:pPr algn="ctr"/>
                      <a:r>
                        <a:rPr lang="en-IN" sz="1600">
                          <a:solidFill>
                            <a:schemeClr val="tx1"/>
                          </a:solidFill>
                          <a:latin typeface="Arial" panose="020B0604020202020204" pitchFamily="34" charset="0"/>
                          <a:cs typeface="Arial" panose="020B0604020202020204" pitchFamily="34" charset="0"/>
                        </a:rPr>
                        <a:t>PSTRB</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60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DATA_WIDTH/8</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a:latin typeface="Arial" panose="020B0604020202020204" pitchFamily="34" charset="0"/>
                          <a:cs typeface="Arial" panose="020B0604020202020204" pitchFamily="34" charset="0"/>
                        </a:rPr>
                        <a:t>Write strobe. PSTRB indicates which byte lanes to update during a write transfer. There is one write strobe for each 8 bits of the write data bus. PSTRB[n] corresponds to PWDATA[(8n + 7):(8n)]. PSTRB must not be active during a read transfer.</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3023051"/>
                  </a:ext>
                </a:extLst>
              </a:tr>
              <a:tr h="370840">
                <a:tc>
                  <a:txBody>
                    <a:bodyPr/>
                    <a:lstStyle/>
                    <a:p>
                      <a:pPr algn="ctr"/>
                      <a:r>
                        <a:rPr lang="en-US" sz="1600" dirty="0">
                          <a:solidFill>
                            <a:schemeClr val="tx1"/>
                          </a:solidFill>
                          <a:latin typeface="Arial" panose="020B0604020202020204" pitchFamily="34" charset="0"/>
                          <a:cs typeface="Arial" panose="020B0604020202020204" pitchFamily="34" charset="0"/>
                        </a:rPr>
                        <a:t>PREADY</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Slave Interface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1</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b="0" i="0">
                          <a:solidFill>
                            <a:schemeClr val="dk1"/>
                          </a:solidFill>
                          <a:effectLst/>
                          <a:latin typeface="Arial" panose="020B0604020202020204" pitchFamily="34" charset="0"/>
                          <a:ea typeface="+mn-ea"/>
                          <a:cs typeface="Arial" panose="020B0604020202020204" pitchFamily="34" charset="0"/>
                        </a:rPr>
                        <a:t>It is used by the slave to include wait states in the transfer. i.e. whenever slave is not ready to complete the transaction, it will request the master for some time by de-asserting the PREADY.</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8389343"/>
                  </a:ext>
                </a:extLst>
              </a:tr>
              <a:tr h="370840">
                <a:tc>
                  <a:txBody>
                    <a:bodyPr/>
                    <a:lstStyle/>
                    <a:p>
                      <a:pPr algn="ctr"/>
                      <a:r>
                        <a:rPr lang="en-US" sz="1600" dirty="0">
                          <a:solidFill>
                            <a:schemeClr val="tx1"/>
                          </a:solidFill>
                          <a:latin typeface="Arial" panose="020B0604020202020204" pitchFamily="34" charset="0"/>
                          <a:cs typeface="Arial" panose="020B0604020202020204" pitchFamily="34" charset="0"/>
                        </a:rPr>
                        <a:t>PSLVERR</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Slave Interface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1</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b="0" i="0">
                          <a:solidFill>
                            <a:schemeClr val="dk1"/>
                          </a:solidFill>
                          <a:effectLst/>
                          <a:latin typeface="Arial" panose="020B0604020202020204" pitchFamily="34" charset="0"/>
                          <a:ea typeface="+mn-ea"/>
                          <a:cs typeface="Arial" panose="020B0604020202020204" pitchFamily="34" charset="0"/>
                        </a:rPr>
                        <a:t>Indicates the Success or failure of the transfer. HIGH indicates failure and LOW indicates Success</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05326436"/>
                  </a:ext>
                </a:extLst>
              </a:tr>
              <a:tr h="370840">
                <a:tc>
                  <a:txBody>
                    <a:bodyPr/>
                    <a:lstStyle/>
                    <a:p>
                      <a:pPr algn="ctr"/>
                      <a:r>
                        <a:rPr lang="en-US" sz="1600" dirty="0">
                          <a:solidFill>
                            <a:schemeClr val="tx1"/>
                          </a:solidFill>
                          <a:latin typeface="Arial" panose="020B0604020202020204" pitchFamily="34" charset="0"/>
                          <a:cs typeface="Arial" panose="020B0604020202020204" pitchFamily="34" charset="0"/>
                        </a:rPr>
                        <a:t>PRDATA</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Slave Interface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DATA_WIDTH</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b="0" i="0">
                          <a:solidFill>
                            <a:schemeClr val="dk1"/>
                          </a:solidFill>
                          <a:effectLst/>
                          <a:latin typeface="Arial" panose="020B0604020202020204" pitchFamily="34" charset="0"/>
                          <a:ea typeface="+mn-ea"/>
                          <a:cs typeface="Arial" panose="020B0604020202020204" pitchFamily="34" charset="0"/>
                        </a:rPr>
                        <a:t>Read data us from Slave to Master, can be up to 32 bit wide</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79113978"/>
                  </a:ext>
                </a:extLst>
              </a:tr>
            </a:tbl>
          </a:graphicData>
        </a:graphic>
      </p:graphicFrame>
    </p:spTree>
    <p:extLst>
      <p:ext uri="{BB962C8B-B14F-4D97-AF65-F5344CB8AC3E}">
        <p14:creationId xmlns:p14="http://schemas.microsoft.com/office/powerpoint/2010/main" val="33585972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21017" y="2200274"/>
            <a:ext cx="5764530" cy="575310"/>
          </a:xfrm>
          <a:prstGeom prst="rect">
            <a:avLst/>
          </a:prstGeom>
        </p:spPr>
        <p:txBody>
          <a:bodyPr vert="horz" wrap="square" lIns="0" tIns="13335" rIns="0" bIns="0" rtlCol="0">
            <a:spAutoFit/>
          </a:bodyPr>
          <a:lstStyle/>
          <a:p>
            <a:pPr marL="12700">
              <a:lnSpc>
                <a:spcPct val="100000"/>
              </a:lnSpc>
              <a:spcBef>
                <a:spcPts val="105"/>
              </a:spcBef>
            </a:pPr>
            <a:r>
              <a:rPr dirty="0"/>
              <a:t>3.</a:t>
            </a:r>
            <a:r>
              <a:rPr spc="-70" dirty="0"/>
              <a:t> </a:t>
            </a:r>
            <a:r>
              <a:rPr dirty="0"/>
              <a:t>Low</a:t>
            </a:r>
            <a:r>
              <a:rPr spc="10" dirty="0"/>
              <a:t> </a:t>
            </a:r>
            <a:r>
              <a:rPr dirty="0"/>
              <a:t>Level</a:t>
            </a:r>
            <a:r>
              <a:rPr spc="10" dirty="0"/>
              <a:t> </a:t>
            </a:r>
            <a:r>
              <a:rPr dirty="0"/>
              <a:t>Block</a:t>
            </a:r>
            <a:r>
              <a:rPr spc="-10" dirty="0"/>
              <a:t> Design</a:t>
            </a:r>
          </a:p>
        </p:txBody>
      </p:sp>
      <p:sp>
        <p:nvSpPr>
          <p:cNvPr id="3" name="object 3"/>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4" name="object 4"/>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31</a:t>
            </a:fld>
            <a:endParaRPr spc="-25" dirty="0"/>
          </a:p>
        </p:txBody>
      </p:sp>
      <p:sp>
        <p:nvSpPr>
          <p:cNvPr id="5" name="object 5"/>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ctrTitle"/>
          </p:nvPr>
        </p:nvSpPr>
        <p:spPr>
          <a:prstGeom prst="rect">
            <a:avLst/>
          </a:prstGeom>
        </p:spPr>
        <p:txBody>
          <a:bodyPr vert="horz" wrap="square" lIns="0" tIns="13335" rIns="0" bIns="0" rtlCol="0">
            <a:spAutoFit/>
          </a:bodyPr>
          <a:lstStyle/>
          <a:p>
            <a:pPr marL="12700">
              <a:lnSpc>
                <a:spcPct val="100000"/>
              </a:lnSpc>
              <a:spcBef>
                <a:spcPts val="105"/>
              </a:spcBef>
            </a:pPr>
            <a:r>
              <a:rPr dirty="0"/>
              <a:t>3.</a:t>
            </a:r>
            <a:r>
              <a:rPr spc="-70" dirty="0"/>
              <a:t> </a:t>
            </a:r>
            <a:r>
              <a:rPr dirty="0"/>
              <a:t>Low</a:t>
            </a:r>
            <a:r>
              <a:rPr spc="10" dirty="0"/>
              <a:t> </a:t>
            </a:r>
            <a:r>
              <a:rPr dirty="0"/>
              <a:t>Level</a:t>
            </a:r>
            <a:r>
              <a:rPr spc="10" dirty="0"/>
              <a:t> </a:t>
            </a:r>
            <a:r>
              <a:rPr dirty="0"/>
              <a:t>Block</a:t>
            </a:r>
            <a:r>
              <a:rPr spc="-10" dirty="0"/>
              <a:t> Design</a:t>
            </a:r>
          </a:p>
        </p:txBody>
      </p:sp>
      <p:sp>
        <p:nvSpPr>
          <p:cNvPr id="3" name="object 3"/>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sz="3000" b="1">
                <a:solidFill>
                  <a:srgbClr val="7C45AD"/>
                </a:solidFill>
                <a:latin typeface="Arial"/>
                <a:cs typeface="Arial"/>
              </a:rPr>
              <a:t>3.1</a:t>
            </a:r>
            <a:r>
              <a:rPr lang="en-US" sz="3000" b="1">
                <a:solidFill>
                  <a:srgbClr val="7C45AD"/>
                </a:solidFill>
                <a:latin typeface="Arial"/>
                <a:cs typeface="Arial"/>
              </a:rPr>
              <a:t> APB Master block</a:t>
            </a:r>
            <a:endParaRPr sz="3000">
              <a:latin typeface="Arial"/>
              <a:cs typeface="Arial"/>
            </a:endParaRPr>
          </a:p>
        </p:txBody>
      </p:sp>
      <p:sp>
        <p:nvSpPr>
          <p:cNvPr id="6" name="object 6"/>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7" name="object 7"/>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32</a:t>
            </a:fld>
            <a:endParaRPr spc="-25" dirty="0"/>
          </a:p>
        </p:txBody>
      </p:sp>
      <p:sp>
        <p:nvSpPr>
          <p:cNvPr id="8" name="object 8"/>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pic>
        <p:nvPicPr>
          <p:cNvPr id="4" name="Picture 3" descr="A diagram of a system&#10;&#10;AI-generated content may be incorrect.">
            <a:extLst>
              <a:ext uri="{FF2B5EF4-FFF2-40B4-BE49-F238E27FC236}">
                <a16:creationId xmlns:a16="http://schemas.microsoft.com/office/drawing/2014/main" id="{6A7B9F09-A86F-2F58-9C03-837A3C1E361A}"/>
              </a:ext>
            </a:extLst>
          </p:cNvPr>
          <p:cNvPicPr>
            <a:picLocks noChangeAspect="1"/>
          </p:cNvPicPr>
          <p:nvPr/>
        </p:nvPicPr>
        <p:blipFill>
          <a:blip r:embed="rId2"/>
          <a:stretch>
            <a:fillRect/>
          </a:stretch>
        </p:blipFill>
        <p:spPr>
          <a:xfrm>
            <a:off x="508317" y="2112944"/>
            <a:ext cx="3225483" cy="3238648"/>
          </a:xfrm>
          <a:prstGeom prst="rect">
            <a:avLst/>
          </a:prstGeom>
        </p:spPr>
      </p:pic>
      <p:pic>
        <p:nvPicPr>
          <p:cNvPr id="3076" name="Picture 4">
            <a:extLst>
              <a:ext uri="{FF2B5EF4-FFF2-40B4-BE49-F238E27FC236}">
                <a16:creationId xmlns:a16="http://schemas.microsoft.com/office/drawing/2014/main" id="{D61A2E44-DD73-F0AB-F796-940E497C5FC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8200" y="2115992"/>
            <a:ext cx="7361621" cy="31242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5F1E185-C7F8-76CB-8B2D-BA8F7B61967D}"/>
              </a:ext>
            </a:extLst>
          </p:cNvPr>
          <p:cNvSpPr txBox="1"/>
          <p:nvPr/>
        </p:nvSpPr>
        <p:spPr>
          <a:xfrm>
            <a:off x="5332538" y="5336895"/>
            <a:ext cx="6094476"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FSM block</a:t>
            </a:r>
          </a:p>
        </p:txBody>
      </p:sp>
      <p:sp>
        <p:nvSpPr>
          <p:cNvPr id="9" name="Arrow: Right 8">
            <a:extLst>
              <a:ext uri="{FF2B5EF4-FFF2-40B4-BE49-F238E27FC236}">
                <a16:creationId xmlns:a16="http://schemas.microsoft.com/office/drawing/2014/main" id="{A4E6B567-F566-F94F-D918-56DCDC7BCDA7}"/>
              </a:ext>
            </a:extLst>
          </p:cNvPr>
          <p:cNvSpPr/>
          <p:nvPr/>
        </p:nvSpPr>
        <p:spPr>
          <a:xfrm>
            <a:off x="3810000" y="3600524"/>
            <a:ext cx="762000" cy="475130"/>
          </a:xfrm>
          <a:prstGeom prst="rightArrow">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8C75B35-4FBE-E803-7FF6-EB4FFBF8BE3F}"/>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E06F985F-1D5A-AD64-BE10-CB479672D97D}"/>
              </a:ext>
            </a:extLst>
          </p:cNvPr>
          <p:cNvSpPr txBox="1">
            <a:spLocks noGrp="1"/>
          </p:cNvSpPr>
          <p:nvPr>
            <p:ph type="ctrTitle"/>
          </p:nvPr>
        </p:nvSpPr>
        <p:spPr>
          <a:prstGeom prst="rect">
            <a:avLst/>
          </a:prstGeom>
        </p:spPr>
        <p:txBody>
          <a:bodyPr vert="horz" wrap="square" lIns="0" tIns="13335" rIns="0" bIns="0" rtlCol="0">
            <a:spAutoFit/>
          </a:bodyPr>
          <a:lstStyle/>
          <a:p>
            <a:pPr marL="12700">
              <a:lnSpc>
                <a:spcPct val="100000"/>
              </a:lnSpc>
              <a:spcBef>
                <a:spcPts val="105"/>
              </a:spcBef>
            </a:pPr>
            <a:r>
              <a:rPr dirty="0"/>
              <a:t>3.</a:t>
            </a:r>
            <a:r>
              <a:rPr spc="-70" dirty="0"/>
              <a:t> </a:t>
            </a:r>
            <a:r>
              <a:rPr dirty="0"/>
              <a:t>Low</a:t>
            </a:r>
            <a:r>
              <a:rPr spc="10" dirty="0"/>
              <a:t> </a:t>
            </a:r>
            <a:r>
              <a:rPr dirty="0"/>
              <a:t>Level</a:t>
            </a:r>
            <a:r>
              <a:rPr spc="10" dirty="0"/>
              <a:t> </a:t>
            </a:r>
            <a:r>
              <a:rPr dirty="0"/>
              <a:t>Block</a:t>
            </a:r>
            <a:r>
              <a:rPr spc="-10" dirty="0"/>
              <a:t> Design</a:t>
            </a:r>
          </a:p>
        </p:txBody>
      </p:sp>
      <p:sp>
        <p:nvSpPr>
          <p:cNvPr id="3" name="object 3">
            <a:extLst>
              <a:ext uri="{FF2B5EF4-FFF2-40B4-BE49-F238E27FC236}">
                <a16:creationId xmlns:a16="http://schemas.microsoft.com/office/drawing/2014/main" id="{7692DB19-2F2A-CD30-D0A9-66A46DCA9375}"/>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sz="3000" b="1">
                <a:solidFill>
                  <a:srgbClr val="7C45AD"/>
                </a:solidFill>
                <a:latin typeface="Arial"/>
                <a:cs typeface="Arial"/>
              </a:rPr>
              <a:t>3.</a:t>
            </a:r>
            <a:r>
              <a:rPr lang="en-US" sz="3000" b="1">
                <a:solidFill>
                  <a:srgbClr val="7C45AD"/>
                </a:solidFill>
                <a:latin typeface="Arial"/>
                <a:cs typeface="Arial"/>
              </a:rPr>
              <a:t>2 APB Slave block</a:t>
            </a:r>
            <a:endParaRPr sz="3000">
              <a:latin typeface="Arial"/>
              <a:cs typeface="Arial"/>
            </a:endParaRPr>
          </a:p>
        </p:txBody>
      </p:sp>
      <p:sp>
        <p:nvSpPr>
          <p:cNvPr id="6" name="object 6">
            <a:extLst>
              <a:ext uri="{FF2B5EF4-FFF2-40B4-BE49-F238E27FC236}">
                <a16:creationId xmlns:a16="http://schemas.microsoft.com/office/drawing/2014/main" id="{4DE72323-33F8-5BE4-F650-28B907811173}"/>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7" name="object 7">
            <a:extLst>
              <a:ext uri="{FF2B5EF4-FFF2-40B4-BE49-F238E27FC236}">
                <a16:creationId xmlns:a16="http://schemas.microsoft.com/office/drawing/2014/main" id="{FFAD6242-3F08-6B6B-3418-C316F8509D21}"/>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33</a:t>
            </a:fld>
            <a:endParaRPr spc="-25" dirty="0"/>
          </a:p>
        </p:txBody>
      </p:sp>
      <p:sp>
        <p:nvSpPr>
          <p:cNvPr id="8" name="object 8">
            <a:extLst>
              <a:ext uri="{FF2B5EF4-FFF2-40B4-BE49-F238E27FC236}">
                <a16:creationId xmlns:a16="http://schemas.microsoft.com/office/drawing/2014/main" id="{A8C09E0C-391D-6EC8-052D-3FA108F50786}"/>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5" name="TextBox 4">
            <a:extLst>
              <a:ext uri="{FF2B5EF4-FFF2-40B4-BE49-F238E27FC236}">
                <a16:creationId xmlns:a16="http://schemas.microsoft.com/office/drawing/2014/main" id="{251DC559-EC2C-4BD2-7148-D04131C7E769}"/>
              </a:ext>
            </a:extLst>
          </p:cNvPr>
          <p:cNvSpPr txBox="1"/>
          <p:nvPr/>
        </p:nvSpPr>
        <p:spPr>
          <a:xfrm>
            <a:off x="2896362" y="5486400"/>
            <a:ext cx="6094476"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PADDR Config</a:t>
            </a:r>
          </a:p>
        </p:txBody>
      </p:sp>
      <p:pic>
        <p:nvPicPr>
          <p:cNvPr id="3074" name="Picture 2">
            <a:extLst>
              <a:ext uri="{FF2B5EF4-FFF2-40B4-BE49-F238E27FC236}">
                <a16:creationId xmlns:a16="http://schemas.microsoft.com/office/drawing/2014/main" id="{03F16699-2631-7A94-AED5-1A6F1A31325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24888" y="1905000"/>
            <a:ext cx="8037423" cy="34366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3110711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4192D0A7-D6DD-DD8C-E760-34CCEFE386A5}"/>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C5B13582-5574-F697-4E00-BF7BA76C371F}"/>
              </a:ext>
            </a:extLst>
          </p:cNvPr>
          <p:cNvSpPr txBox="1">
            <a:spLocks noGrp="1"/>
          </p:cNvSpPr>
          <p:nvPr>
            <p:ph type="ctrTitle"/>
          </p:nvPr>
        </p:nvSpPr>
        <p:spPr>
          <a:prstGeom prst="rect">
            <a:avLst/>
          </a:prstGeom>
        </p:spPr>
        <p:txBody>
          <a:bodyPr vert="horz" wrap="square" lIns="0" tIns="13335" rIns="0" bIns="0" rtlCol="0">
            <a:spAutoFit/>
          </a:bodyPr>
          <a:lstStyle/>
          <a:p>
            <a:pPr marL="12700">
              <a:lnSpc>
                <a:spcPct val="100000"/>
              </a:lnSpc>
              <a:spcBef>
                <a:spcPts val="105"/>
              </a:spcBef>
            </a:pPr>
            <a:r>
              <a:rPr dirty="0"/>
              <a:t>3.</a:t>
            </a:r>
            <a:r>
              <a:rPr spc="-70" dirty="0"/>
              <a:t> </a:t>
            </a:r>
            <a:r>
              <a:rPr dirty="0"/>
              <a:t>Low</a:t>
            </a:r>
            <a:r>
              <a:rPr spc="10" dirty="0"/>
              <a:t> </a:t>
            </a:r>
            <a:r>
              <a:rPr dirty="0"/>
              <a:t>Level</a:t>
            </a:r>
            <a:r>
              <a:rPr spc="10" dirty="0"/>
              <a:t> </a:t>
            </a:r>
            <a:r>
              <a:rPr dirty="0"/>
              <a:t>Block</a:t>
            </a:r>
            <a:r>
              <a:rPr spc="-10" dirty="0"/>
              <a:t> Design</a:t>
            </a:r>
          </a:p>
        </p:txBody>
      </p:sp>
      <p:sp>
        <p:nvSpPr>
          <p:cNvPr id="3" name="object 3">
            <a:extLst>
              <a:ext uri="{FF2B5EF4-FFF2-40B4-BE49-F238E27FC236}">
                <a16:creationId xmlns:a16="http://schemas.microsoft.com/office/drawing/2014/main" id="{80D88DF3-D7B6-4831-8A03-90E3F4B46266}"/>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sz="3000" b="1">
                <a:solidFill>
                  <a:srgbClr val="7C45AD"/>
                </a:solidFill>
                <a:latin typeface="Arial"/>
                <a:cs typeface="Arial"/>
              </a:rPr>
              <a:t>3.</a:t>
            </a:r>
            <a:r>
              <a:rPr lang="en-US" sz="3000" b="1">
                <a:solidFill>
                  <a:srgbClr val="7C45AD"/>
                </a:solidFill>
                <a:latin typeface="Arial"/>
                <a:cs typeface="Arial"/>
              </a:rPr>
              <a:t>2 APB Slave block</a:t>
            </a:r>
            <a:endParaRPr sz="3000">
              <a:latin typeface="Arial"/>
              <a:cs typeface="Arial"/>
            </a:endParaRPr>
          </a:p>
        </p:txBody>
      </p:sp>
      <p:sp>
        <p:nvSpPr>
          <p:cNvPr id="6" name="object 6">
            <a:extLst>
              <a:ext uri="{FF2B5EF4-FFF2-40B4-BE49-F238E27FC236}">
                <a16:creationId xmlns:a16="http://schemas.microsoft.com/office/drawing/2014/main" id="{47C03307-6C8B-67E6-F8F9-40C38A7A74BE}"/>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7" name="object 7">
            <a:extLst>
              <a:ext uri="{FF2B5EF4-FFF2-40B4-BE49-F238E27FC236}">
                <a16:creationId xmlns:a16="http://schemas.microsoft.com/office/drawing/2014/main" id="{5C2EEA92-CCDB-7C19-2383-D7DFB7E828B3}"/>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34</a:t>
            </a:fld>
            <a:endParaRPr spc="-25" dirty="0"/>
          </a:p>
        </p:txBody>
      </p:sp>
      <p:sp>
        <p:nvSpPr>
          <p:cNvPr id="8" name="object 8">
            <a:extLst>
              <a:ext uri="{FF2B5EF4-FFF2-40B4-BE49-F238E27FC236}">
                <a16:creationId xmlns:a16="http://schemas.microsoft.com/office/drawing/2014/main" id="{D48A72A4-1D36-C019-8EF0-B5A2EDF645C2}"/>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pic>
        <p:nvPicPr>
          <p:cNvPr id="3074" name="Picture 2">
            <a:extLst>
              <a:ext uri="{FF2B5EF4-FFF2-40B4-BE49-F238E27FC236}">
                <a16:creationId xmlns:a16="http://schemas.microsoft.com/office/drawing/2014/main" id="{59A85254-507C-5EF1-3C33-5F663758535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48222" y="1752600"/>
            <a:ext cx="5590756" cy="239053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4" name="Table 3">
            <a:extLst>
              <a:ext uri="{FF2B5EF4-FFF2-40B4-BE49-F238E27FC236}">
                <a16:creationId xmlns:a16="http://schemas.microsoft.com/office/drawing/2014/main" id="{FECE5504-113E-F976-1491-C56874EF2F70}"/>
              </a:ext>
            </a:extLst>
          </p:cNvPr>
          <p:cNvGraphicFramePr>
            <a:graphicFrameLocks noGrp="1"/>
          </p:cNvGraphicFramePr>
          <p:nvPr>
            <p:extLst>
              <p:ext uri="{D42A27DB-BD31-4B8C-83A1-F6EECF244321}">
                <p14:modId xmlns:p14="http://schemas.microsoft.com/office/powerpoint/2010/main" val="1499366874"/>
              </p:ext>
            </p:extLst>
          </p:nvPr>
        </p:nvGraphicFramePr>
        <p:xfrm>
          <a:off x="629856" y="4369681"/>
          <a:ext cx="10932160" cy="1828800"/>
        </p:xfrm>
        <a:graphic>
          <a:graphicData uri="http://schemas.openxmlformats.org/drawingml/2006/table">
            <a:tbl>
              <a:tblPr firstRow="1" bandRow="1">
                <a:tableStyleId>{00A15C55-8517-42AA-B614-E9B94910E393}</a:tableStyleId>
              </a:tblPr>
              <a:tblGrid>
                <a:gridCol w="1622808">
                  <a:extLst>
                    <a:ext uri="{9D8B030D-6E8A-4147-A177-3AD203B41FA5}">
                      <a16:colId xmlns:a16="http://schemas.microsoft.com/office/drawing/2014/main" val="579931218"/>
                    </a:ext>
                  </a:extLst>
                </a:gridCol>
                <a:gridCol w="2541998">
                  <a:extLst>
                    <a:ext uri="{9D8B030D-6E8A-4147-A177-3AD203B41FA5}">
                      <a16:colId xmlns:a16="http://schemas.microsoft.com/office/drawing/2014/main" val="1158279828"/>
                    </a:ext>
                  </a:extLst>
                </a:gridCol>
                <a:gridCol w="6767354">
                  <a:extLst>
                    <a:ext uri="{9D8B030D-6E8A-4147-A177-3AD203B41FA5}">
                      <a16:colId xmlns:a16="http://schemas.microsoft.com/office/drawing/2014/main" val="3965270395"/>
                    </a:ext>
                  </a:extLst>
                </a:gridCol>
              </a:tblGrid>
              <a:tr h="198120">
                <a:tc>
                  <a:txBody>
                    <a:bodyPr/>
                    <a:lstStyle/>
                    <a:p>
                      <a:pPr algn="ctr"/>
                      <a:r>
                        <a:rPr lang="en-US" sz="1600">
                          <a:latin typeface="Arial" panose="020B0604020202020204" pitchFamily="34" charset="0"/>
                          <a:cs typeface="Arial" panose="020B0604020202020204" pitchFamily="34" charset="0"/>
                        </a:rPr>
                        <a:t>BUS Signals</a:t>
                      </a:r>
                    </a:p>
                  </a:txBody>
                  <a:tcPr>
                    <a:solidFill>
                      <a:srgbClr val="7030A0"/>
                    </a:solidFill>
                  </a:tcPr>
                </a:tc>
                <a:tc>
                  <a:txBody>
                    <a:bodyPr/>
                    <a:lstStyle/>
                    <a:p>
                      <a:pPr algn="ctr"/>
                      <a:r>
                        <a:rPr lang="en-US" sz="1600">
                          <a:latin typeface="Arial" panose="020B0604020202020204" pitchFamily="34" charset="0"/>
                          <a:cs typeface="Arial" panose="020B0604020202020204" pitchFamily="34" charset="0"/>
                        </a:rPr>
                        <a:t>Name</a:t>
                      </a:r>
                    </a:p>
                  </a:txBody>
                  <a:tcPr>
                    <a:solidFill>
                      <a:srgbClr val="7030A0"/>
                    </a:solidFill>
                  </a:tcPr>
                </a:tc>
                <a:tc>
                  <a:txBody>
                    <a:bodyPr/>
                    <a:lstStyle/>
                    <a:p>
                      <a:pPr algn="ctr"/>
                      <a:r>
                        <a:rPr lang="en-US" sz="1600">
                          <a:latin typeface="Arial" panose="020B0604020202020204" pitchFamily="34" charset="0"/>
                          <a:cs typeface="Arial" panose="020B0604020202020204" pitchFamily="34" charset="0"/>
                        </a:rPr>
                        <a:t>Descriptions</a:t>
                      </a:r>
                    </a:p>
                  </a:txBody>
                  <a:tcPr>
                    <a:solidFill>
                      <a:srgbClr val="7030A0"/>
                    </a:solidFill>
                  </a:tcPr>
                </a:tc>
                <a:extLst>
                  <a:ext uri="{0D108BD9-81ED-4DB2-BD59-A6C34878D82A}">
                    <a16:rowId xmlns:a16="http://schemas.microsoft.com/office/drawing/2014/main" val="539352098"/>
                  </a:ext>
                </a:extLst>
              </a:tr>
              <a:tr h="0">
                <a:tc>
                  <a:txBody>
                    <a:bodyPr/>
                    <a:lstStyle/>
                    <a:p>
                      <a:pPr algn="ctr"/>
                      <a:r>
                        <a:rPr lang="en-US" sz="1600">
                          <a:latin typeface="Arial" panose="020B0604020202020204" pitchFamily="34" charset="0"/>
                          <a:cs typeface="Arial" panose="020B0604020202020204" pitchFamily="34" charset="0"/>
                        </a:rPr>
                        <a:t>PADDR[31]</a:t>
                      </a:r>
                    </a:p>
                  </a:txBody>
                  <a:tcPr anchor="ctr"/>
                </a:tc>
                <a:tc>
                  <a:txBody>
                    <a:bodyPr/>
                    <a:lstStyle/>
                    <a:p>
                      <a:pPr algn="just"/>
                      <a:r>
                        <a:rPr lang="en-US" sz="1600">
                          <a:latin typeface="Arial" panose="020B0604020202020204" pitchFamily="34" charset="0"/>
                          <a:cs typeface="Arial" panose="020B0604020202020204" pitchFamily="34" charset="0"/>
                        </a:rPr>
                        <a:t>Slave Select Bit</a:t>
                      </a:r>
                    </a:p>
                  </a:txBody>
                  <a:tcPr/>
                </a:tc>
                <a:tc>
                  <a:txBody>
                    <a:bodyPr/>
                    <a:lstStyle/>
                    <a:p>
                      <a:pPr algn="just"/>
                      <a:r>
                        <a:rPr lang="en-US" sz="1600">
                          <a:latin typeface="Arial" panose="020B0604020202020204" pitchFamily="34" charset="0"/>
                          <a:cs typeface="Arial" panose="020B0604020202020204" pitchFamily="34" charset="0"/>
                        </a:rPr>
                        <a:t>Used to select the target slave. </a:t>
                      </a:r>
                      <a:r>
                        <a:rPr lang="en-US" sz="1600">
                          <a:solidFill>
                            <a:schemeClr val="dk1"/>
                          </a:solidFill>
                          <a:latin typeface="Arial" panose="020B0604020202020204" pitchFamily="34" charset="0"/>
                          <a:ea typeface="+mn-ea"/>
                          <a:cs typeface="Arial" panose="020B0604020202020204" pitchFamily="34" charset="0"/>
                        </a:rPr>
                        <a:t>0</a:t>
                      </a:r>
                      <a:r>
                        <a:rPr lang="en-US" sz="1600">
                          <a:latin typeface="Arial" panose="020B0604020202020204" pitchFamily="34" charset="0"/>
                          <a:cs typeface="Arial" panose="020B0604020202020204" pitchFamily="34" charset="0"/>
                        </a:rPr>
                        <a:t> selects Slave 0; </a:t>
                      </a:r>
                      <a:r>
                        <a:rPr lang="en-US" sz="1600">
                          <a:solidFill>
                            <a:schemeClr val="dk1"/>
                          </a:solidFill>
                          <a:latin typeface="Arial" panose="020B0604020202020204" pitchFamily="34" charset="0"/>
                          <a:ea typeface="+mn-ea"/>
                          <a:cs typeface="Arial" panose="020B0604020202020204" pitchFamily="34" charset="0"/>
                        </a:rPr>
                        <a:t>1</a:t>
                      </a:r>
                      <a:r>
                        <a:rPr lang="en-US" sz="1600">
                          <a:latin typeface="Arial" panose="020B0604020202020204" pitchFamily="34" charset="0"/>
                          <a:cs typeface="Arial" panose="020B0604020202020204" pitchFamily="34" charset="0"/>
                        </a:rPr>
                        <a:t> selects Slave 1.</a:t>
                      </a:r>
                    </a:p>
                  </a:txBody>
                  <a:tcPr/>
                </a:tc>
                <a:extLst>
                  <a:ext uri="{0D108BD9-81ED-4DB2-BD59-A6C34878D82A}">
                    <a16:rowId xmlns:a16="http://schemas.microsoft.com/office/drawing/2014/main" val="1815105458"/>
                  </a:ext>
                </a:extLst>
              </a:tr>
              <a:tr h="0">
                <a:tc>
                  <a:txBody>
                    <a:bodyPr/>
                    <a:lstStyle/>
                    <a:p>
                      <a:pPr algn="ctr"/>
                      <a:r>
                        <a:rPr lang="en-US" sz="1600">
                          <a:latin typeface="Arial" panose="020B0604020202020204" pitchFamily="34" charset="0"/>
                          <a:cs typeface="Arial" panose="020B0604020202020204" pitchFamily="34" charset="0"/>
                        </a:rPr>
                        <a:t>PADDR[30:2]</a:t>
                      </a:r>
                    </a:p>
                  </a:txBody>
                  <a:tcPr anchor="ctr"/>
                </a:tc>
                <a:tc>
                  <a:txBody>
                    <a:bodyPr/>
                    <a:lstStyle/>
                    <a:p>
                      <a:pPr algn="just"/>
                      <a:r>
                        <a:rPr lang="en-US" sz="1600">
                          <a:latin typeface="Arial" panose="020B0604020202020204" pitchFamily="34" charset="0"/>
                          <a:cs typeface="Arial" panose="020B0604020202020204" pitchFamily="34" charset="0"/>
                        </a:rPr>
                        <a:t>Memory Address</a:t>
                      </a:r>
                    </a:p>
                  </a:txBody>
                  <a:tcPr/>
                </a:tc>
                <a:tc>
                  <a:txBody>
                    <a:bodyPr/>
                    <a:lstStyle/>
                    <a:p>
                      <a:pPr algn="just"/>
                      <a:r>
                        <a:rPr lang="en-US" sz="1600">
                          <a:latin typeface="Arial" panose="020B0604020202020204" pitchFamily="34" charset="0"/>
                          <a:cs typeface="Arial" panose="020B0604020202020204" pitchFamily="34" charset="0"/>
                        </a:rPr>
                        <a:t>These bits represent the internal memory index (Word-aligned). They are used to access specific data entries within the slave's memory array.</a:t>
                      </a:r>
                    </a:p>
                  </a:txBody>
                  <a:tcPr/>
                </a:tc>
                <a:extLst>
                  <a:ext uri="{0D108BD9-81ED-4DB2-BD59-A6C34878D82A}">
                    <a16:rowId xmlns:a16="http://schemas.microsoft.com/office/drawing/2014/main" val="1486802341"/>
                  </a:ext>
                </a:extLst>
              </a:tr>
              <a:tr h="0">
                <a:tc>
                  <a:txBody>
                    <a:bodyPr/>
                    <a:lstStyle/>
                    <a:p>
                      <a:pPr algn="ctr"/>
                      <a:r>
                        <a:rPr lang="en-US" sz="1600">
                          <a:latin typeface="Arial" panose="020B0604020202020204" pitchFamily="34" charset="0"/>
                          <a:cs typeface="Arial" panose="020B0604020202020204" pitchFamily="34" charset="0"/>
                        </a:rPr>
                        <a:t>PADDR[1:0]</a:t>
                      </a:r>
                    </a:p>
                  </a:txBody>
                  <a:tcPr anchor="ctr"/>
                </a:tc>
                <a:tc>
                  <a:txBody>
                    <a:bodyPr/>
                    <a:lstStyle/>
                    <a:p>
                      <a:pPr algn="just"/>
                      <a:r>
                        <a:rPr lang="en-US" sz="1600">
                          <a:latin typeface="Arial" panose="020B0604020202020204" pitchFamily="34" charset="0"/>
                          <a:cs typeface="Arial" panose="020B0604020202020204" pitchFamily="34" charset="0"/>
                        </a:rPr>
                        <a:t>Waiting Count</a:t>
                      </a:r>
                    </a:p>
                  </a:txBody>
                  <a:tcPr/>
                </a:tc>
                <a:tc>
                  <a:txBody>
                    <a:bodyPr/>
                    <a:lstStyle/>
                    <a:p>
                      <a:pPr algn="just"/>
                      <a:r>
                        <a:rPr lang="en-US" sz="1600">
                          <a:latin typeface="Arial" panose="020B0604020202020204" pitchFamily="34" charset="0"/>
                          <a:cs typeface="Arial" panose="020B0604020202020204" pitchFamily="34" charset="0"/>
                        </a:rPr>
                        <a:t>These bits determine the number of wait states (delay cycles) the Slave will force the Master to wait before completing the transaction.</a:t>
                      </a:r>
                    </a:p>
                  </a:txBody>
                  <a:tcPr/>
                </a:tc>
                <a:extLst>
                  <a:ext uri="{0D108BD9-81ED-4DB2-BD59-A6C34878D82A}">
                    <a16:rowId xmlns:a16="http://schemas.microsoft.com/office/drawing/2014/main" val="1250865581"/>
                  </a:ext>
                </a:extLst>
              </a:tr>
            </a:tbl>
          </a:graphicData>
        </a:graphic>
      </p:graphicFrame>
    </p:spTree>
    <p:extLst>
      <p:ext uri="{BB962C8B-B14F-4D97-AF65-F5344CB8AC3E}">
        <p14:creationId xmlns:p14="http://schemas.microsoft.com/office/powerpoint/2010/main" val="28876915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6B777D0-C1EE-D4CD-9E47-3D3FD96B1BD2}"/>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9976522A-7B38-1506-A5AA-091EB2FA2BF6}"/>
              </a:ext>
            </a:extLst>
          </p:cNvPr>
          <p:cNvSpPr txBox="1">
            <a:spLocks noGrp="1"/>
          </p:cNvSpPr>
          <p:nvPr>
            <p:ph type="ctrTitle"/>
          </p:nvPr>
        </p:nvSpPr>
        <p:spPr>
          <a:prstGeom prst="rect">
            <a:avLst/>
          </a:prstGeom>
        </p:spPr>
        <p:txBody>
          <a:bodyPr vert="horz" wrap="square" lIns="0" tIns="13335" rIns="0" bIns="0" rtlCol="0">
            <a:spAutoFit/>
          </a:bodyPr>
          <a:lstStyle/>
          <a:p>
            <a:pPr marL="12700">
              <a:lnSpc>
                <a:spcPct val="100000"/>
              </a:lnSpc>
              <a:spcBef>
                <a:spcPts val="105"/>
              </a:spcBef>
            </a:pPr>
            <a:r>
              <a:rPr dirty="0"/>
              <a:t>3.</a:t>
            </a:r>
            <a:r>
              <a:rPr spc="-70" dirty="0"/>
              <a:t> </a:t>
            </a:r>
            <a:r>
              <a:rPr dirty="0"/>
              <a:t>Low</a:t>
            </a:r>
            <a:r>
              <a:rPr spc="10" dirty="0"/>
              <a:t> </a:t>
            </a:r>
            <a:r>
              <a:rPr dirty="0"/>
              <a:t>Level</a:t>
            </a:r>
            <a:r>
              <a:rPr spc="10" dirty="0"/>
              <a:t> </a:t>
            </a:r>
            <a:r>
              <a:rPr dirty="0"/>
              <a:t>Block</a:t>
            </a:r>
            <a:r>
              <a:rPr spc="-10" dirty="0"/>
              <a:t> Design</a:t>
            </a:r>
          </a:p>
        </p:txBody>
      </p:sp>
      <p:sp>
        <p:nvSpPr>
          <p:cNvPr id="3" name="object 3">
            <a:extLst>
              <a:ext uri="{FF2B5EF4-FFF2-40B4-BE49-F238E27FC236}">
                <a16:creationId xmlns:a16="http://schemas.microsoft.com/office/drawing/2014/main" id="{24332D63-694C-7E57-0CCB-58B18D5C6BF9}"/>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sz="3000" b="1">
                <a:solidFill>
                  <a:srgbClr val="7C45AD"/>
                </a:solidFill>
                <a:latin typeface="Arial"/>
                <a:cs typeface="Arial"/>
              </a:rPr>
              <a:t>3.</a:t>
            </a:r>
            <a:r>
              <a:rPr lang="en-US" sz="3000" b="1">
                <a:solidFill>
                  <a:srgbClr val="7C45AD"/>
                </a:solidFill>
                <a:latin typeface="Arial"/>
                <a:cs typeface="Arial"/>
              </a:rPr>
              <a:t>2 APB Slave block</a:t>
            </a:r>
            <a:endParaRPr sz="3000">
              <a:latin typeface="Arial"/>
              <a:cs typeface="Arial"/>
            </a:endParaRPr>
          </a:p>
        </p:txBody>
      </p:sp>
      <p:sp>
        <p:nvSpPr>
          <p:cNvPr id="6" name="object 6">
            <a:extLst>
              <a:ext uri="{FF2B5EF4-FFF2-40B4-BE49-F238E27FC236}">
                <a16:creationId xmlns:a16="http://schemas.microsoft.com/office/drawing/2014/main" id="{D5FA84B4-E7AD-9710-7D84-87663F659AAC}"/>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7" name="object 7">
            <a:extLst>
              <a:ext uri="{FF2B5EF4-FFF2-40B4-BE49-F238E27FC236}">
                <a16:creationId xmlns:a16="http://schemas.microsoft.com/office/drawing/2014/main" id="{4748D684-6DB4-55D8-536F-96F81C25F94B}"/>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35</a:t>
            </a:fld>
            <a:endParaRPr spc="-25" dirty="0"/>
          </a:p>
        </p:txBody>
      </p:sp>
      <p:sp>
        <p:nvSpPr>
          <p:cNvPr id="8" name="object 8">
            <a:extLst>
              <a:ext uri="{FF2B5EF4-FFF2-40B4-BE49-F238E27FC236}">
                <a16:creationId xmlns:a16="http://schemas.microsoft.com/office/drawing/2014/main" id="{726B3889-D384-C58E-5C14-F182734FA931}"/>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4" name="TextBox 3">
            <a:extLst>
              <a:ext uri="{FF2B5EF4-FFF2-40B4-BE49-F238E27FC236}">
                <a16:creationId xmlns:a16="http://schemas.microsoft.com/office/drawing/2014/main" id="{A899EA3E-7B3D-674D-B246-7EAB84DA7020}"/>
              </a:ext>
            </a:extLst>
          </p:cNvPr>
          <p:cNvSpPr txBox="1"/>
          <p:nvPr/>
        </p:nvSpPr>
        <p:spPr>
          <a:xfrm>
            <a:off x="4430473" y="5740214"/>
            <a:ext cx="4164680"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Slave RAM</a:t>
            </a:r>
          </a:p>
        </p:txBody>
      </p:sp>
      <p:pic>
        <p:nvPicPr>
          <p:cNvPr id="1028" name="Picture 4">
            <a:extLst>
              <a:ext uri="{FF2B5EF4-FFF2-40B4-BE49-F238E27FC236}">
                <a16:creationId xmlns:a16="http://schemas.microsoft.com/office/drawing/2014/main" id="{4C8EBBED-6302-88B8-6825-4531FE97F869}"/>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b="53042"/>
          <a:stretch>
            <a:fillRect/>
          </a:stretch>
        </p:blipFill>
        <p:spPr bwMode="auto">
          <a:xfrm>
            <a:off x="2243835" y="2206750"/>
            <a:ext cx="8537956" cy="36612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817639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B610CBD-6D54-C3EF-752B-9A6FCC22F8E7}"/>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7F801990-DE4B-C4AF-D27A-CF4CED4F4B8E}"/>
              </a:ext>
            </a:extLst>
          </p:cNvPr>
          <p:cNvSpPr txBox="1">
            <a:spLocks noGrp="1"/>
          </p:cNvSpPr>
          <p:nvPr>
            <p:ph type="ctrTitle"/>
          </p:nvPr>
        </p:nvSpPr>
        <p:spPr>
          <a:prstGeom prst="rect">
            <a:avLst/>
          </a:prstGeom>
        </p:spPr>
        <p:txBody>
          <a:bodyPr vert="horz" wrap="square" lIns="0" tIns="13335" rIns="0" bIns="0" rtlCol="0">
            <a:spAutoFit/>
          </a:bodyPr>
          <a:lstStyle/>
          <a:p>
            <a:pPr marL="12700">
              <a:lnSpc>
                <a:spcPct val="100000"/>
              </a:lnSpc>
              <a:spcBef>
                <a:spcPts val="105"/>
              </a:spcBef>
            </a:pPr>
            <a:r>
              <a:rPr dirty="0"/>
              <a:t>3.</a:t>
            </a:r>
            <a:r>
              <a:rPr spc="-70" dirty="0"/>
              <a:t> </a:t>
            </a:r>
            <a:r>
              <a:rPr dirty="0"/>
              <a:t>Low</a:t>
            </a:r>
            <a:r>
              <a:rPr spc="10" dirty="0"/>
              <a:t> </a:t>
            </a:r>
            <a:r>
              <a:rPr dirty="0"/>
              <a:t>Level</a:t>
            </a:r>
            <a:r>
              <a:rPr spc="10" dirty="0"/>
              <a:t> </a:t>
            </a:r>
            <a:r>
              <a:rPr dirty="0"/>
              <a:t>Block</a:t>
            </a:r>
            <a:r>
              <a:rPr spc="-10" dirty="0"/>
              <a:t> Design</a:t>
            </a:r>
          </a:p>
        </p:txBody>
      </p:sp>
      <p:sp>
        <p:nvSpPr>
          <p:cNvPr id="3" name="object 3">
            <a:extLst>
              <a:ext uri="{FF2B5EF4-FFF2-40B4-BE49-F238E27FC236}">
                <a16:creationId xmlns:a16="http://schemas.microsoft.com/office/drawing/2014/main" id="{59141278-9D7D-6B9A-625C-093836F15304}"/>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sz="3000" b="1">
                <a:solidFill>
                  <a:srgbClr val="7C45AD"/>
                </a:solidFill>
                <a:latin typeface="Arial"/>
                <a:cs typeface="Arial"/>
              </a:rPr>
              <a:t>3.</a:t>
            </a:r>
            <a:r>
              <a:rPr lang="en-US" sz="3000" b="1">
                <a:solidFill>
                  <a:srgbClr val="7C45AD"/>
                </a:solidFill>
                <a:latin typeface="Arial"/>
                <a:cs typeface="Arial"/>
              </a:rPr>
              <a:t>2 APB Slave block</a:t>
            </a:r>
            <a:endParaRPr sz="3000">
              <a:latin typeface="Arial"/>
              <a:cs typeface="Arial"/>
            </a:endParaRPr>
          </a:p>
        </p:txBody>
      </p:sp>
      <p:sp>
        <p:nvSpPr>
          <p:cNvPr id="6" name="object 6">
            <a:extLst>
              <a:ext uri="{FF2B5EF4-FFF2-40B4-BE49-F238E27FC236}">
                <a16:creationId xmlns:a16="http://schemas.microsoft.com/office/drawing/2014/main" id="{60107494-257E-AEA7-38F9-F3EF5631DE6D}"/>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7" name="object 7">
            <a:extLst>
              <a:ext uri="{FF2B5EF4-FFF2-40B4-BE49-F238E27FC236}">
                <a16:creationId xmlns:a16="http://schemas.microsoft.com/office/drawing/2014/main" id="{8D8C5BDC-1C28-3DDD-DD44-C0200373BC09}"/>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36</a:t>
            </a:fld>
            <a:endParaRPr spc="-25" dirty="0"/>
          </a:p>
        </p:txBody>
      </p:sp>
      <p:sp>
        <p:nvSpPr>
          <p:cNvPr id="8" name="object 8">
            <a:extLst>
              <a:ext uri="{FF2B5EF4-FFF2-40B4-BE49-F238E27FC236}">
                <a16:creationId xmlns:a16="http://schemas.microsoft.com/office/drawing/2014/main" id="{F2D32195-DF7A-01FC-5B79-DF8C43734955}"/>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4" name="TextBox 3">
            <a:extLst>
              <a:ext uri="{FF2B5EF4-FFF2-40B4-BE49-F238E27FC236}">
                <a16:creationId xmlns:a16="http://schemas.microsoft.com/office/drawing/2014/main" id="{6AF70D63-48AB-5B32-F7B1-575ADA8D85DD}"/>
              </a:ext>
            </a:extLst>
          </p:cNvPr>
          <p:cNvSpPr txBox="1"/>
          <p:nvPr/>
        </p:nvSpPr>
        <p:spPr>
          <a:xfrm>
            <a:off x="4013596" y="6019075"/>
            <a:ext cx="4164680"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Output signals</a:t>
            </a:r>
          </a:p>
        </p:txBody>
      </p:sp>
      <p:pic>
        <p:nvPicPr>
          <p:cNvPr id="2052" name="Picture 4">
            <a:extLst>
              <a:ext uri="{FF2B5EF4-FFF2-40B4-BE49-F238E27FC236}">
                <a16:creationId xmlns:a16="http://schemas.microsoft.com/office/drawing/2014/main" id="{1DFC5836-031D-A6B7-EB28-7E93A6AE618C}"/>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t="46958" r="30556"/>
          <a:stretch>
            <a:fillRect/>
          </a:stretch>
        </p:blipFill>
        <p:spPr bwMode="auto">
          <a:xfrm>
            <a:off x="2871050" y="1760298"/>
            <a:ext cx="6145100" cy="42862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7548572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21017" y="2200274"/>
            <a:ext cx="7871459" cy="575310"/>
          </a:xfrm>
          <a:prstGeom prst="rect">
            <a:avLst/>
          </a:prstGeom>
        </p:spPr>
        <p:txBody>
          <a:bodyPr vert="horz" wrap="square" lIns="0" tIns="13335" rIns="0" bIns="0" rtlCol="0">
            <a:spAutoFit/>
          </a:bodyPr>
          <a:lstStyle/>
          <a:p>
            <a:pPr marL="12700">
              <a:lnSpc>
                <a:spcPct val="100000"/>
              </a:lnSpc>
              <a:spcBef>
                <a:spcPts val="105"/>
              </a:spcBef>
            </a:pPr>
            <a:r>
              <a:rPr dirty="0"/>
              <a:t>4.</a:t>
            </a:r>
            <a:r>
              <a:rPr spc="-85" dirty="0"/>
              <a:t> </a:t>
            </a:r>
            <a:r>
              <a:t>RTL</a:t>
            </a:r>
            <a:r>
              <a:rPr spc="-110"/>
              <a:t> </a:t>
            </a:r>
            <a:r>
              <a:rPr lang="en-US" spc="-20"/>
              <a:t>Verification</a:t>
            </a:r>
            <a:endParaRPr spc="-10" dirty="0"/>
          </a:p>
        </p:txBody>
      </p:sp>
      <p:sp>
        <p:nvSpPr>
          <p:cNvPr id="3" name="object 3"/>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4" name="object 4"/>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37</a:t>
            </a:fld>
            <a:endParaRPr spc="-25" dirty="0"/>
          </a:p>
        </p:txBody>
      </p:sp>
      <p:sp>
        <p:nvSpPr>
          <p:cNvPr id="5" name="object 5"/>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08317" y="370616"/>
            <a:ext cx="7871459" cy="678231"/>
          </a:xfrm>
          <a:prstGeom prst="rect">
            <a:avLst/>
          </a:prstGeom>
        </p:spPr>
        <p:txBody>
          <a:bodyPr vert="horz" wrap="square" lIns="0" tIns="123032" rIns="0" bIns="0" rtlCol="0">
            <a:spAutoFit/>
          </a:bodyPr>
          <a:lstStyle/>
          <a:p>
            <a:pPr marL="12700">
              <a:lnSpc>
                <a:spcPct val="100000"/>
              </a:lnSpc>
              <a:spcBef>
                <a:spcPts val="105"/>
              </a:spcBef>
            </a:pPr>
            <a:r>
              <a:rPr lang="en-US"/>
              <a:t>4.</a:t>
            </a:r>
            <a:r>
              <a:rPr lang="en-US" spc="-85"/>
              <a:t> </a:t>
            </a:r>
            <a:r>
              <a:rPr lang="en-US"/>
              <a:t>RTL</a:t>
            </a:r>
            <a:r>
              <a:rPr lang="en-US" spc="-110"/>
              <a:t> </a:t>
            </a:r>
            <a:r>
              <a:rPr lang="en-US" spc="-20"/>
              <a:t>Verification</a:t>
            </a:r>
            <a:endParaRPr spc="-10" dirty="0"/>
          </a:p>
        </p:txBody>
      </p:sp>
      <p:sp>
        <p:nvSpPr>
          <p:cNvPr id="7" name="object 7"/>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8" name="object 8"/>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38</a:t>
            </a:fld>
            <a:endParaRPr spc="-25" dirty="0"/>
          </a:p>
        </p:txBody>
      </p:sp>
      <p:sp>
        <p:nvSpPr>
          <p:cNvPr id="9" name="object 9"/>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pic>
        <p:nvPicPr>
          <p:cNvPr id="4" name="Picture 3">
            <a:extLst>
              <a:ext uri="{FF2B5EF4-FFF2-40B4-BE49-F238E27FC236}">
                <a16:creationId xmlns:a16="http://schemas.microsoft.com/office/drawing/2014/main" id="{B3F828E3-5116-F0F2-745B-53E9DF65960B}"/>
              </a:ext>
            </a:extLst>
          </p:cNvPr>
          <p:cNvPicPr>
            <a:picLocks noChangeAspect="1"/>
          </p:cNvPicPr>
          <p:nvPr/>
        </p:nvPicPr>
        <p:blipFill>
          <a:blip r:embed="rId2"/>
          <a:stretch>
            <a:fillRect/>
          </a:stretch>
        </p:blipFill>
        <p:spPr>
          <a:xfrm>
            <a:off x="3663282" y="4419600"/>
            <a:ext cx="4865307" cy="1703945"/>
          </a:xfrm>
          <a:prstGeom prst="rect">
            <a:avLst/>
          </a:prstGeom>
        </p:spPr>
      </p:pic>
      <p:pic>
        <p:nvPicPr>
          <p:cNvPr id="6" name="Picture 5">
            <a:extLst>
              <a:ext uri="{FF2B5EF4-FFF2-40B4-BE49-F238E27FC236}">
                <a16:creationId xmlns:a16="http://schemas.microsoft.com/office/drawing/2014/main" id="{C24C8C53-671B-25D3-39BE-26E0195C6CB6}"/>
              </a:ext>
            </a:extLst>
          </p:cNvPr>
          <p:cNvPicPr>
            <a:picLocks noChangeAspect="1"/>
          </p:cNvPicPr>
          <p:nvPr/>
        </p:nvPicPr>
        <p:blipFill>
          <a:blip r:embed="rId3"/>
          <a:stretch>
            <a:fillRect/>
          </a:stretch>
        </p:blipFill>
        <p:spPr>
          <a:xfrm>
            <a:off x="532701" y="1706977"/>
            <a:ext cx="4377759" cy="2291535"/>
          </a:xfrm>
          <a:prstGeom prst="rect">
            <a:avLst/>
          </a:prstGeom>
        </p:spPr>
      </p:pic>
      <p:pic>
        <p:nvPicPr>
          <p:cNvPr id="11" name="Picture 10">
            <a:extLst>
              <a:ext uri="{FF2B5EF4-FFF2-40B4-BE49-F238E27FC236}">
                <a16:creationId xmlns:a16="http://schemas.microsoft.com/office/drawing/2014/main" id="{8C6B7DA4-E7AF-8A3C-9992-0C90AF36B641}"/>
              </a:ext>
            </a:extLst>
          </p:cNvPr>
          <p:cNvPicPr>
            <a:picLocks noChangeAspect="1"/>
          </p:cNvPicPr>
          <p:nvPr/>
        </p:nvPicPr>
        <p:blipFill>
          <a:blip r:embed="rId4"/>
          <a:stretch>
            <a:fillRect/>
          </a:stretch>
        </p:blipFill>
        <p:spPr>
          <a:xfrm>
            <a:off x="8225817" y="1967278"/>
            <a:ext cx="2399574" cy="1770932"/>
          </a:xfrm>
          <a:prstGeom prst="rect">
            <a:avLst/>
          </a:prstGeom>
        </p:spPr>
      </p:pic>
      <p:sp>
        <p:nvSpPr>
          <p:cNvPr id="12" name="object 3">
            <a:extLst>
              <a:ext uri="{FF2B5EF4-FFF2-40B4-BE49-F238E27FC236}">
                <a16:creationId xmlns:a16="http://schemas.microsoft.com/office/drawing/2014/main" id="{C4CF8311-391C-4623-AFC7-49C2079BF768}"/>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4.1 RTL Design</a:t>
            </a:r>
            <a:endParaRPr sz="3000">
              <a:latin typeface="Arial"/>
              <a:cs typeface="Arial"/>
            </a:endParaRPr>
          </a:p>
        </p:txBody>
      </p:sp>
      <p:sp>
        <p:nvSpPr>
          <p:cNvPr id="13" name="TextBox 12">
            <a:extLst>
              <a:ext uri="{FF2B5EF4-FFF2-40B4-BE49-F238E27FC236}">
                <a16:creationId xmlns:a16="http://schemas.microsoft.com/office/drawing/2014/main" id="{08758B42-74FE-426B-F1E7-F4DB0D0FEB57}"/>
              </a:ext>
            </a:extLst>
          </p:cNvPr>
          <p:cNvSpPr txBox="1"/>
          <p:nvPr/>
        </p:nvSpPr>
        <p:spPr>
          <a:xfrm>
            <a:off x="639240" y="3924538"/>
            <a:ext cx="4164680"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Master</a:t>
            </a:r>
          </a:p>
        </p:txBody>
      </p:sp>
      <p:sp>
        <p:nvSpPr>
          <p:cNvPr id="14" name="TextBox 13">
            <a:extLst>
              <a:ext uri="{FF2B5EF4-FFF2-40B4-BE49-F238E27FC236}">
                <a16:creationId xmlns:a16="http://schemas.microsoft.com/office/drawing/2014/main" id="{E72B99B7-B1B2-5883-9845-997B1FDD2A5F}"/>
              </a:ext>
            </a:extLst>
          </p:cNvPr>
          <p:cNvSpPr txBox="1"/>
          <p:nvPr/>
        </p:nvSpPr>
        <p:spPr>
          <a:xfrm>
            <a:off x="7343264" y="3924538"/>
            <a:ext cx="4164680"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Slave</a:t>
            </a:r>
          </a:p>
        </p:txBody>
      </p:sp>
      <p:sp>
        <p:nvSpPr>
          <p:cNvPr id="15" name="TextBox 14">
            <a:extLst>
              <a:ext uri="{FF2B5EF4-FFF2-40B4-BE49-F238E27FC236}">
                <a16:creationId xmlns:a16="http://schemas.microsoft.com/office/drawing/2014/main" id="{9F69EB1A-138E-A88D-C13C-C9F67C9DBCD0}"/>
              </a:ext>
            </a:extLst>
          </p:cNvPr>
          <p:cNvSpPr txBox="1"/>
          <p:nvPr/>
        </p:nvSpPr>
        <p:spPr>
          <a:xfrm>
            <a:off x="3861260" y="5976399"/>
            <a:ext cx="4164680"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Top</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0610CEB-9CCA-1625-4285-2204BB584B6C}"/>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3B3CBD56-F135-899E-14B9-7C59667C4F62}"/>
              </a:ext>
            </a:extLst>
          </p:cNvPr>
          <p:cNvSpPr txBox="1">
            <a:spLocks noGrp="1"/>
          </p:cNvSpPr>
          <p:nvPr>
            <p:ph type="title"/>
          </p:nvPr>
        </p:nvSpPr>
        <p:spPr>
          <a:xfrm>
            <a:off x="508317" y="370616"/>
            <a:ext cx="7871459" cy="678231"/>
          </a:xfrm>
          <a:prstGeom prst="rect">
            <a:avLst/>
          </a:prstGeom>
        </p:spPr>
        <p:txBody>
          <a:bodyPr vert="horz" wrap="square" lIns="0" tIns="123032" rIns="0" bIns="0" rtlCol="0">
            <a:spAutoFit/>
          </a:bodyPr>
          <a:lstStyle/>
          <a:p>
            <a:pPr marL="12700">
              <a:lnSpc>
                <a:spcPct val="100000"/>
              </a:lnSpc>
              <a:spcBef>
                <a:spcPts val="105"/>
              </a:spcBef>
            </a:pPr>
            <a:r>
              <a:rPr lang="en-US"/>
              <a:t>4.</a:t>
            </a:r>
            <a:r>
              <a:rPr lang="en-US" spc="-85"/>
              <a:t> </a:t>
            </a:r>
            <a:r>
              <a:rPr lang="en-US"/>
              <a:t>RTL</a:t>
            </a:r>
            <a:r>
              <a:rPr lang="en-US" spc="-110"/>
              <a:t> </a:t>
            </a:r>
            <a:r>
              <a:rPr lang="en-US" spc="-20"/>
              <a:t>Verification</a:t>
            </a:r>
            <a:endParaRPr spc="-10" dirty="0"/>
          </a:p>
        </p:txBody>
      </p:sp>
      <p:sp>
        <p:nvSpPr>
          <p:cNvPr id="7" name="object 7">
            <a:extLst>
              <a:ext uri="{FF2B5EF4-FFF2-40B4-BE49-F238E27FC236}">
                <a16:creationId xmlns:a16="http://schemas.microsoft.com/office/drawing/2014/main" id="{3817BB96-3EA9-B04F-C845-F61E2624851D}"/>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8" name="object 8">
            <a:extLst>
              <a:ext uri="{FF2B5EF4-FFF2-40B4-BE49-F238E27FC236}">
                <a16:creationId xmlns:a16="http://schemas.microsoft.com/office/drawing/2014/main" id="{040DA6C0-3BD4-AC50-11EE-13CFA87147F1}"/>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39</a:t>
            </a:fld>
            <a:endParaRPr spc="-25" dirty="0"/>
          </a:p>
        </p:txBody>
      </p:sp>
      <p:sp>
        <p:nvSpPr>
          <p:cNvPr id="9" name="object 9">
            <a:extLst>
              <a:ext uri="{FF2B5EF4-FFF2-40B4-BE49-F238E27FC236}">
                <a16:creationId xmlns:a16="http://schemas.microsoft.com/office/drawing/2014/main" id="{07AC2D6C-45F3-8972-C6FE-7C5AEFC4AD2A}"/>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3" name="object 3">
            <a:extLst>
              <a:ext uri="{FF2B5EF4-FFF2-40B4-BE49-F238E27FC236}">
                <a16:creationId xmlns:a16="http://schemas.microsoft.com/office/drawing/2014/main" id="{30BDD015-3648-26C5-6647-C22B6E536936}"/>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4.2 Verification Plans</a:t>
            </a:r>
            <a:endParaRPr sz="3000">
              <a:latin typeface="Arial"/>
              <a:cs typeface="Arial"/>
            </a:endParaRPr>
          </a:p>
        </p:txBody>
      </p:sp>
      <p:graphicFrame>
        <p:nvGraphicFramePr>
          <p:cNvPr id="4" name="Table 3">
            <a:extLst>
              <a:ext uri="{FF2B5EF4-FFF2-40B4-BE49-F238E27FC236}">
                <a16:creationId xmlns:a16="http://schemas.microsoft.com/office/drawing/2014/main" id="{36D36BAC-C679-0EA5-4088-B8C0C9B18E81}"/>
              </a:ext>
            </a:extLst>
          </p:cNvPr>
          <p:cNvGraphicFramePr>
            <a:graphicFrameLocks noGrp="1"/>
          </p:cNvGraphicFramePr>
          <p:nvPr>
            <p:extLst>
              <p:ext uri="{D42A27DB-BD31-4B8C-83A1-F6EECF244321}">
                <p14:modId xmlns:p14="http://schemas.microsoft.com/office/powerpoint/2010/main" val="248873931"/>
              </p:ext>
            </p:extLst>
          </p:nvPr>
        </p:nvGraphicFramePr>
        <p:xfrm>
          <a:off x="508317" y="1668593"/>
          <a:ext cx="11199176" cy="4572000"/>
        </p:xfrm>
        <a:graphic>
          <a:graphicData uri="http://schemas.openxmlformats.org/drawingml/2006/table">
            <a:tbl>
              <a:tblPr firstRow="1" bandRow="1">
                <a:tableStyleId>{00A15C55-8517-42AA-B614-E9B94910E393}</a:tableStyleId>
              </a:tblPr>
              <a:tblGrid>
                <a:gridCol w="1930083">
                  <a:extLst>
                    <a:ext uri="{9D8B030D-6E8A-4147-A177-3AD203B41FA5}">
                      <a16:colId xmlns:a16="http://schemas.microsoft.com/office/drawing/2014/main" val="579931218"/>
                    </a:ext>
                  </a:extLst>
                </a:gridCol>
                <a:gridCol w="5536034">
                  <a:extLst>
                    <a:ext uri="{9D8B030D-6E8A-4147-A177-3AD203B41FA5}">
                      <a16:colId xmlns:a16="http://schemas.microsoft.com/office/drawing/2014/main" val="1158279828"/>
                    </a:ext>
                  </a:extLst>
                </a:gridCol>
                <a:gridCol w="3733059">
                  <a:extLst>
                    <a:ext uri="{9D8B030D-6E8A-4147-A177-3AD203B41FA5}">
                      <a16:colId xmlns:a16="http://schemas.microsoft.com/office/drawing/2014/main" val="1379675645"/>
                    </a:ext>
                  </a:extLst>
                </a:gridCol>
              </a:tblGrid>
              <a:tr h="198120">
                <a:tc>
                  <a:txBody>
                    <a:bodyPr/>
                    <a:lstStyle/>
                    <a:p>
                      <a:pPr algn="ctr"/>
                      <a:r>
                        <a:rPr lang="en-US" sz="1600">
                          <a:latin typeface="Arial" panose="020B0604020202020204" pitchFamily="34" charset="0"/>
                          <a:cs typeface="Arial" panose="020B0604020202020204" pitchFamily="34" charset="0"/>
                        </a:rPr>
                        <a:t>Test case</a:t>
                      </a:r>
                    </a:p>
                  </a:txBody>
                  <a:tcPr>
                    <a:solidFill>
                      <a:srgbClr val="7030A0"/>
                    </a:solidFill>
                  </a:tcPr>
                </a:tc>
                <a:tc>
                  <a:txBody>
                    <a:bodyPr/>
                    <a:lstStyle/>
                    <a:p>
                      <a:pPr algn="ctr"/>
                      <a:r>
                        <a:rPr lang="en-US" sz="1600">
                          <a:latin typeface="Arial" panose="020B0604020202020204" pitchFamily="34" charset="0"/>
                          <a:cs typeface="Arial" panose="020B0604020202020204" pitchFamily="34" charset="0"/>
                        </a:rPr>
                        <a:t>Descriptions</a:t>
                      </a:r>
                    </a:p>
                  </a:txBody>
                  <a:tcPr>
                    <a:solidFill>
                      <a:srgbClr val="7030A0"/>
                    </a:solidFill>
                  </a:tcPr>
                </a:tc>
                <a:tc>
                  <a:txBody>
                    <a:bodyPr/>
                    <a:lstStyle/>
                    <a:p>
                      <a:pPr algn="ctr"/>
                      <a:r>
                        <a:rPr lang="en-US" sz="1600">
                          <a:latin typeface="Arial" panose="020B0604020202020204" pitchFamily="34" charset="0"/>
                          <a:cs typeface="Arial" panose="020B0604020202020204" pitchFamily="34" charset="0"/>
                        </a:rPr>
                        <a:t>Expected results</a:t>
                      </a:r>
                    </a:p>
                  </a:txBody>
                  <a:tcPr>
                    <a:solidFill>
                      <a:srgbClr val="7030A0"/>
                    </a:solidFill>
                  </a:tcPr>
                </a:tc>
                <a:extLst>
                  <a:ext uri="{0D108BD9-81ED-4DB2-BD59-A6C34878D82A}">
                    <a16:rowId xmlns:a16="http://schemas.microsoft.com/office/drawing/2014/main" val="539352098"/>
                  </a:ext>
                </a:extLst>
              </a:tr>
              <a:tr h="0">
                <a:tc rowSpan="3">
                  <a:txBody>
                    <a:bodyPr/>
                    <a:lstStyle/>
                    <a:p>
                      <a:pPr algn="ctr"/>
                      <a:r>
                        <a:rPr lang="en-US" sz="1600">
                          <a:latin typeface="Arial" panose="020B0604020202020204" pitchFamily="34" charset="0"/>
                          <a:cs typeface="Arial" panose="020B0604020202020204" pitchFamily="34" charset="0"/>
                        </a:rPr>
                        <a:t>Write/Read Slave 0</a:t>
                      </a:r>
                    </a:p>
                  </a:txBody>
                  <a:tcPr anchor="ctr"/>
                </a:tc>
                <a:tc rowSpan="3">
                  <a:txBody>
                    <a:bodyPr/>
                    <a:lstStyle/>
                    <a:p>
                      <a:pPr algn="just"/>
                      <a:r>
                        <a:rPr lang="en-US" sz="1600">
                          <a:latin typeface="Arial" panose="020B0604020202020204" pitchFamily="34" charset="0"/>
                          <a:cs typeface="Arial" panose="020B0604020202020204" pitchFamily="34" charset="0"/>
                        </a:rPr>
                        <a:t>Perform a write of </a:t>
                      </a:r>
                      <a:r>
                        <a:rPr lang="en-US" sz="1600">
                          <a:solidFill>
                            <a:schemeClr val="dk1"/>
                          </a:solidFill>
                          <a:latin typeface="Arial" panose="020B0604020202020204" pitchFamily="34" charset="0"/>
                          <a:ea typeface="+mn-ea"/>
                          <a:cs typeface="Arial" panose="020B0604020202020204" pitchFamily="34" charset="0"/>
                        </a:rPr>
                        <a:t>0xDEADBEEF</a:t>
                      </a:r>
                      <a:r>
                        <a:rPr lang="en-US" sz="1600">
                          <a:latin typeface="Arial" panose="020B0604020202020204" pitchFamily="34" charset="0"/>
                          <a:cs typeface="Arial" panose="020B0604020202020204" pitchFamily="34" charset="0"/>
                        </a:rPr>
                        <a:t> to address </a:t>
                      </a:r>
                      <a:r>
                        <a:rPr lang="en-US" sz="1600">
                          <a:solidFill>
                            <a:schemeClr val="dk1"/>
                          </a:solidFill>
                          <a:latin typeface="Arial" panose="020B0604020202020204" pitchFamily="34" charset="0"/>
                          <a:ea typeface="+mn-ea"/>
                          <a:cs typeface="Arial" panose="020B0604020202020204" pitchFamily="34" charset="0"/>
                        </a:rPr>
                        <a:t>0x8 (Slave 0, Wait = 0)</a:t>
                      </a:r>
                      <a:r>
                        <a:rPr lang="en-US" sz="1600">
                          <a:latin typeface="Arial" panose="020B0604020202020204" pitchFamily="34" charset="0"/>
                          <a:cs typeface="Arial" panose="020B0604020202020204" pitchFamily="34" charset="0"/>
                        </a:rPr>
                        <a:t> of Slave 0, followed by a read from the same address.</a:t>
                      </a:r>
                    </a:p>
                  </a:txBody>
                  <a:tcPr/>
                </a:tc>
                <a:tc>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a:solidFill>
                            <a:schemeClr val="dk1"/>
                          </a:solidFill>
                          <a:latin typeface="+mn-lt"/>
                          <a:ea typeface="+mn-ea"/>
                          <a:cs typeface="+mn-cs"/>
                        </a:rPr>
                        <a:t>PSELx[0]</a:t>
                      </a:r>
                      <a:r>
                        <a:rPr lang="en-US" sz="1600"/>
                        <a:t> must be asserted (logic 1).</a:t>
                      </a:r>
                    </a:p>
                  </a:txBody>
                  <a:tcPr/>
                </a:tc>
                <a:extLst>
                  <a:ext uri="{0D108BD9-81ED-4DB2-BD59-A6C34878D82A}">
                    <a16:rowId xmlns:a16="http://schemas.microsoft.com/office/drawing/2014/main" val="1815105458"/>
                  </a:ext>
                </a:extLst>
              </a:tr>
              <a:tr h="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pPr algn="just"/>
                      <a:endParaRPr lang="en-US" sz="1600">
                        <a:latin typeface="Arial" panose="020B0604020202020204" pitchFamily="34" charset="0"/>
                        <a:cs typeface="Arial" panose="020B0604020202020204" pitchFamily="34" charset="0"/>
                      </a:endParaRPr>
                    </a:p>
                  </a:txBody>
                  <a:tcPr/>
                </a:tc>
                <a:tc>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Read data must match the written value (</a:t>
                      </a:r>
                      <a:r>
                        <a:rPr lang="en-US" sz="1600">
                          <a:solidFill>
                            <a:schemeClr val="dk1"/>
                          </a:solidFill>
                          <a:latin typeface="Arial" panose="020B0604020202020204" pitchFamily="34" charset="0"/>
                          <a:ea typeface="+mn-ea"/>
                          <a:cs typeface="Arial" panose="020B0604020202020204" pitchFamily="34" charset="0"/>
                        </a:rPr>
                        <a:t>0xDEADBEEF</a:t>
                      </a:r>
                      <a:r>
                        <a:rPr lang="en-US" sz="160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3378172955"/>
                  </a:ext>
                </a:extLst>
              </a:tr>
              <a:tr h="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pPr algn="just"/>
                      <a:endParaRPr lang="en-US" sz="1600">
                        <a:latin typeface="Arial" panose="020B0604020202020204" pitchFamily="34" charset="0"/>
                        <a:cs typeface="Arial" panose="020B0604020202020204" pitchFamily="34" charset="0"/>
                      </a:endParaRPr>
                    </a:p>
                  </a:txBody>
                  <a:tcPr/>
                </a:tc>
                <a:tc>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a:solidFill>
                            <a:schemeClr val="dk1"/>
                          </a:solidFill>
                          <a:latin typeface="Arial" panose="020B0604020202020204" pitchFamily="34" charset="0"/>
                          <a:ea typeface="+mn-ea"/>
                          <a:cs typeface="Arial" panose="020B0604020202020204" pitchFamily="34" charset="0"/>
                        </a:rPr>
                        <a:t>PSLVERR</a:t>
                      </a:r>
                      <a:r>
                        <a:rPr lang="en-US" sz="1600">
                          <a:latin typeface="Arial" panose="020B0604020202020204" pitchFamily="34" charset="0"/>
                          <a:cs typeface="Arial" panose="020B0604020202020204" pitchFamily="34" charset="0"/>
                        </a:rPr>
                        <a:t> must be </a:t>
                      </a:r>
                      <a:r>
                        <a:rPr lang="en-US" sz="1600">
                          <a:solidFill>
                            <a:schemeClr val="dk1"/>
                          </a:solidFill>
                          <a:latin typeface="Arial" panose="020B0604020202020204" pitchFamily="34" charset="0"/>
                          <a:ea typeface="+mn-ea"/>
                          <a:cs typeface="Arial" panose="020B0604020202020204" pitchFamily="34" charset="0"/>
                        </a:rPr>
                        <a:t>0</a:t>
                      </a:r>
                      <a:r>
                        <a:rPr lang="en-US" sz="160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4059865615"/>
                  </a:ext>
                </a:extLst>
              </a:tr>
              <a:tr h="152400">
                <a:tc rowSpan="3">
                  <a:txBody>
                    <a:bodyPr/>
                    <a:lstStyle/>
                    <a:p>
                      <a:pPr algn="ctr"/>
                      <a:r>
                        <a:rPr lang="en-US" sz="1600">
                          <a:latin typeface="Arial" panose="020B0604020202020204" pitchFamily="34" charset="0"/>
                          <a:cs typeface="Arial" panose="020B0604020202020204" pitchFamily="34" charset="0"/>
                        </a:rPr>
                        <a:t>Write/Read Slave 1</a:t>
                      </a:r>
                    </a:p>
                  </a:txBody>
                  <a:tcPr anchor="ctr"/>
                </a:tc>
                <a:tc rowSpan="3">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Perform a write of </a:t>
                      </a:r>
                      <a:r>
                        <a:rPr lang="en-US" sz="1600">
                          <a:solidFill>
                            <a:schemeClr val="dk1"/>
                          </a:solidFill>
                          <a:latin typeface="Arial" panose="020B0604020202020204" pitchFamily="34" charset="0"/>
                          <a:ea typeface="+mn-ea"/>
                          <a:cs typeface="Arial" panose="020B0604020202020204" pitchFamily="34" charset="0"/>
                        </a:rPr>
                        <a:t>0xCAFEBABE</a:t>
                      </a:r>
                      <a:r>
                        <a:rPr lang="en-US" sz="1600">
                          <a:latin typeface="Arial" panose="020B0604020202020204" pitchFamily="34" charset="0"/>
                          <a:cs typeface="Arial" panose="020B0604020202020204" pitchFamily="34" charset="0"/>
                        </a:rPr>
                        <a:t> to address </a:t>
                      </a:r>
                      <a:r>
                        <a:rPr lang="en-US" sz="1600">
                          <a:solidFill>
                            <a:schemeClr val="dk1"/>
                          </a:solidFill>
                          <a:latin typeface="Arial" panose="020B0604020202020204" pitchFamily="34" charset="0"/>
                          <a:ea typeface="+mn-ea"/>
                          <a:cs typeface="Arial" panose="020B0604020202020204" pitchFamily="34" charset="0"/>
                        </a:rPr>
                        <a:t>0x8000_0004</a:t>
                      </a:r>
                      <a:r>
                        <a:rPr lang="en-US" sz="1600">
                          <a:latin typeface="Arial" panose="020B0604020202020204" pitchFamily="34" charset="0"/>
                          <a:cs typeface="Arial" panose="020B0604020202020204" pitchFamily="34" charset="0"/>
                        </a:rPr>
                        <a:t> (Slave 1, Wait = 0), followed by a read from the same address.</a:t>
                      </a:r>
                    </a:p>
                  </a:txBody>
                  <a:tcPr/>
                </a:tc>
                <a:tc>
                  <a:txBody>
                    <a:bodyPr/>
                    <a:lstStyle/>
                    <a:p>
                      <a:pPr algn="just"/>
                      <a:r>
                        <a:rPr lang="en-US" sz="1600">
                          <a:solidFill>
                            <a:schemeClr val="dk1"/>
                          </a:solidFill>
                          <a:latin typeface="Arial" panose="020B0604020202020204" pitchFamily="34" charset="0"/>
                          <a:ea typeface="+mn-ea"/>
                          <a:cs typeface="Arial" panose="020B0604020202020204" pitchFamily="34" charset="0"/>
                        </a:rPr>
                        <a:t>PSELx[1]</a:t>
                      </a:r>
                      <a:r>
                        <a:rPr lang="en-US" sz="1600">
                          <a:latin typeface="Arial" panose="020B0604020202020204" pitchFamily="34" charset="0"/>
                          <a:cs typeface="Arial" panose="020B0604020202020204" pitchFamily="34" charset="0"/>
                        </a:rPr>
                        <a:t> must be asserted.</a:t>
                      </a:r>
                    </a:p>
                  </a:txBody>
                  <a:tcPr/>
                </a:tc>
                <a:extLst>
                  <a:ext uri="{0D108BD9-81ED-4DB2-BD59-A6C34878D82A}">
                    <a16:rowId xmlns:a16="http://schemas.microsoft.com/office/drawing/2014/main" val="738089962"/>
                  </a:ext>
                </a:extLst>
              </a:tr>
              <a:tr h="15240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endParaRPr lang="en-US" sz="1600">
                        <a:latin typeface="Arial" panose="020B0604020202020204" pitchFamily="34" charset="0"/>
                        <a:cs typeface="Arial" panose="020B0604020202020204" pitchFamily="34" charset="0"/>
                      </a:endParaRPr>
                    </a:p>
                  </a:txBody>
                  <a:tcPr/>
                </a:tc>
                <a:tc>
                  <a:txBody>
                    <a:bodyPr/>
                    <a:lstStyle/>
                    <a:p>
                      <a:pPr algn="just"/>
                      <a:r>
                        <a:rPr lang="en-US" sz="1600">
                          <a:latin typeface="Arial" panose="020B0604020202020204" pitchFamily="34" charset="0"/>
                          <a:cs typeface="Arial" panose="020B0604020202020204" pitchFamily="34" charset="0"/>
                        </a:rPr>
                        <a:t>Read data must match the written value (</a:t>
                      </a:r>
                      <a:r>
                        <a:rPr lang="en-US" sz="1600">
                          <a:solidFill>
                            <a:schemeClr val="dk1"/>
                          </a:solidFill>
                          <a:latin typeface="Arial" panose="020B0604020202020204" pitchFamily="34" charset="0"/>
                          <a:ea typeface="+mn-ea"/>
                          <a:cs typeface="Arial" panose="020B0604020202020204" pitchFamily="34" charset="0"/>
                        </a:rPr>
                        <a:t>0xCAFEBABE</a:t>
                      </a:r>
                      <a:r>
                        <a:rPr lang="en-US" sz="160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4248575633"/>
                  </a:ext>
                </a:extLst>
              </a:tr>
              <a:tr h="15240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endParaRPr lang="en-US" sz="1600">
                        <a:latin typeface="Arial" panose="020B0604020202020204" pitchFamily="34" charset="0"/>
                        <a:cs typeface="Arial" panose="020B0604020202020204" pitchFamily="34" charset="0"/>
                      </a:endParaRPr>
                    </a:p>
                  </a:txBody>
                  <a:tcPr/>
                </a:tc>
                <a:tc>
                  <a:txBody>
                    <a:bodyPr/>
                    <a:lstStyle/>
                    <a:p>
                      <a:pPr algn="just"/>
                      <a:r>
                        <a:rPr lang="en-US" sz="1600">
                          <a:solidFill>
                            <a:schemeClr val="dk1"/>
                          </a:solidFill>
                          <a:latin typeface="Arial" panose="020B0604020202020204" pitchFamily="34" charset="0"/>
                          <a:ea typeface="+mn-ea"/>
                          <a:cs typeface="Arial" panose="020B0604020202020204" pitchFamily="34" charset="0"/>
                        </a:rPr>
                        <a:t>PSLVERR</a:t>
                      </a:r>
                      <a:r>
                        <a:rPr lang="en-US" sz="1600">
                          <a:latin typeface="Arial" panose="020B0604020202020204" pitchFamily="34" charset="0"/>
                          <a:cs typeface="Arial" panose="020B0604020202020204" pitchFamily="34" charset="0"/>
                        </a:rPr>
                        <a:t> must be </a:t>
                      </a:r>
                      <a:r>
                        <a:rPr lang="en-US" sz="1600">
                          <a:solidFill>
                            <a:schemeClr val="dk1"/>
                          </a:solidFill>
                          <a:latin typeface="Arial" panose="020B0604020202020204" pitchFamily="34" charset="0"/>
                          <a:ea typeface="+mn-ea"/>
                          <a:cs typeface="Arial" panose="020B0604020202020204" pitchFamily="34" charset="0"/>
                        </a:rPr>
                        <a:t>0</a:t>
                      </a:r>
                      <a:r>
                        <a:rPr lang="en-US" sz="160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001921777"/>
                  </a:ext>
                </a:extLst>
              </a:tr>
              <a:tr h="152400">
                <a:tc rowSpan="3">
                  <a:txBody>
                    <a:bodyPr/>
                    <a:lstStyle/>
                    <a:p>
                      <a:pPr algn="ctr"/>
                      <a:r>
                        <a:rPr lang="en-US" sz="1600">
                          <a:latin typeface="Arial" panose="020B0604020202020204" pitchFamily="34" charset="0"/>
                          <a:cs typeface="Arial" panose="020B0604020202020204" pitchFamily="34" charset="0"/>
                        </a:rPr>
                        <a:t>Address Range Error</a:t>
                      </a:r>
                    </a:p>
                  </a:txBody>
                  <a:tcPr anchor="ctr"/>
                </a:tc>
                <a:tc rowSpan="3">
                  <a:txBody>
                    <a:bodyPr/>
                    <a:lstStyle/>
                    <a:p>
                      <a:r>
                        <a:rPr lang="en-US" sz="1600">
                          <a:latin typeface="Arial" panose="020B0604020202020204" pitchFamily="34" charset="0"/>
                          <a:cs typeface="Arial" panose="020B0604020202020204" pitchFamily="34" charset="0"/>
                        </a:rPr>
                        <a:t>Access (Read/Write) address </a:t>
                      </a:r>
                      <a:r>
                        <a:rPr lang="en-US" sz="1600" b="0" i="0">
                          <a:solidFill>
                            <a:schemeClr val="dk1"/>
                          </a:solidFill>
                          <a:effectLst/>
                          <a:latin typeface="+mn-lt"/>
                          <a:ea typeface="+mn-ea"/>
                          <a:cs typeface="+mn-cs"/>
                        </a:rPr>
                        <a:t>0x00005000</a:t>
                      </a:r>
                      <a:r>
                        <a:rPr lang="en-US" sz="1600">
                          <a:latin typeface="Arial" panose="020B0604020202020204" pitchFamily="34" charset="0"/>
                          <a:cs typeface="Arial" panose="020B0604020202020204" pitchFamily="34" charset="0"/>
                        </a:rPr>
                        <a:t> (PADDR[30:2] is 1400 in Decimal), which exceeds the memory size (1024) of the Slave.</a:t>
                      </a:r>
                    </a:p>
                  </a:txBody>
                  <a:tcPr/>
                </a:tc>
                <a:tc>
                  <a:txBody>
                    <a:bodyPr/>
                    <a:lstStyle/>
                    <a:p>
                      <a:pPr algn="just"/>
                      <a:r>
                        <a:rPr lang="en-US" sz="1600">
                          <a:latin typeface="Arial" panose="020B0604020202020204" pitchFamily="34" charset="0"/>
                          <a:cs typeface="Arial" panose="020B0604020202020204" pitchFamily="34" charset="0"/>
                        </a:rPr>
                        <a:t>Slave must still respond with </a:t>
                      </a:r>
                      <a:r>
                        <a:rPr lang="en-US" sz="1600">
                          <a:solidFill>
                            <a:schemeClr val="dk1"/>
                          </a:solidFill>
                          <a:latin typeface="Arial" panose="020B0604020202020204" pitchFamily="34" charset="0"/>
                          <a:ea typeface="+mn-ea"/>
                          <a:cs typeface="Arial" panose="020B0604020202020204" pitchFamily="34" charset="0"/>
                        </a:rPr>
                        <a:t>PREADY = 1</a:t>
                      </a:r>
                      <a:r>
                        <a:rPr lang="en-US" sz="160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2656015"/>
                  </a:ext>
                </a:extLst>
              </a:tr>
              <a:tr h="15240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endParaRPr lang="en-US" sz="1600">
                        <a:latin typeface="Arial" panose="020B0604020202020204" pitchFamily="34" charset="0"/>
                        <a:cs typeface="Arial" panose="020B0604020202020204" pitchFamily="34" charset="0"/>
                      </a:endParaRPr>
                    </a:p>
                  </a:txBody>
                  <a:tcPr/>
                </a:tc>
                <a:tc>
                  <a:txBody>
                    <a:bodyPr/>
                    <a:lstStyle/>
                    <a:p>
                      <a:pPr algn="just"/>
                      <a:r>
                        <a:rPr lang="en-US" sz="1600">
                          <a:solidFill>
                            <a:schemeClr val="dk1"/>
                          </a:solidFill>
                          <a:latin typeface="Arial" panose="020B0604020202020204" pitchFamily="34" charset="0"/>
                          <a:ea typeface="+mn-ea"/>
                          <a:cs typeface="Arial" panose="020B0604020202020204" pitchFamily="34" charset="0"/>
                        </a:rPr>
                        <a:t>PSLVERR</a:t>
                      </a:r>
                      <a:r>
                        <a:rPr lang="en-US" sz="1600">
                          <a:latin typeface="Arial" panose="020B0604020202020204" pitchFamily="34" charset="0"/>
                          <a:cs typeface="Arial" panose="020B0604020202020204" pitchFamily="34" charset="0"/>
                        </a:rPr>
                        <a:t> signal must be asserted (logic 1) during both Write and Read cycles.</a:t>
                      </a:r>
                    </a:p>
                  </a:txBody>
                  <a:tcPr/>
                </a:tc>
                <a:extLst>
                  <a:ext uri="{0D108BD9-81ED-4DB2-BD59-A6C34878D82A}">
                    <a16:rowId xmlns:a16="http://schemas.microsoft.com/office/drawing/2014/main" val="2453470509"/>
                  </a:ext>
                </a:extLst>
              </a:tr>
              <a:tr h="15240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endParaRPr lang="en-US" sz="1600">
                        <a:latin typeface="Arial" panose="020B0604020202020204" pitchFamily="34" charset="0"/>
                        <a:cs typeface="Arial" panose="020B0604020202020204" pitchFamily="34" charset="0"/>
                      </a:endParaRPr>
                    </a:p>
                  </a:txBody>
                  <a:tcPr/>
                </a:tc>
                <a:tc>
                  <a:txBody>
                    <a:bodyPr/>
                    <a:lstStyle/>
                    <a:p>
                      <a:pPr algn="just"/>
                      <a:r>
                        <a:rPr lang="en-US" sz="1600">
                          <a:latin typeface="Arial" panose="020B0604020202020204" pitchFamily="34" charset="0"/>
                          <a:cs typeface="Arial" panose="020B0604020202020204" pitchFamily="34" charset="0"/>
                        </a:rPr>
                        <a:t>Read data should return </a:t>
                      </a:r>
                      <a:r>
                        <a:rPr lang="en-US" sz="1600">
                          <a:solidFill>
                            <a:schemeClr val="dk1"/>
                          </a:solidFill>
                          <a:latin typeface="Arial" panose="020B0604020202020204" pitchFamily="34" charset="0"/>
                          <a:ea typeface="+mn-ea"/>
                          <a:cs typeface="Arial" panose="020B0604020202020204" pitchFamily="34" charset="0"/>
                        </a:rPr>
                        <a:t>0</a:t>
                      </a:r>
                      <a:r>
                        <a:rPr lang="en-US" sz="160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3693121582"/>
                  </a:ext>
                </a:extLst>
              </a:tr>
            </a:tbl>
          </a:graphicData>
        </a:graphic>
      </p:graphicFrame>
    </p:spTree>
    <p:extLst>
      <p:ext uri="{BB962C8B-B14F-4D97-AF65-F5344CB8AC3E}">
        <p14:creationId xmlns:p14="http://schemas.microsoft.com/office/powerpoint/2010/main" val="2598695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E7A0446-7F17-5564-A7F0-1527D8CD7999}"/>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255B472B-C6B7-169E-2948-2DAEA8F78BFB}"/>
              </a:ext>
            </a:extLst>
          </p:cNvPr>
          <p:cNvSpPr txBox="1">
            <a:spLocks noGrp="1"/>
          </p:cNvSpPr>
          <p:nvPr>
            <p:ph type="title"/>
          </p:nvPr>
        </p:nvSpPr>
        <p:spPr>
          <a:xfrm>
            <a:off x="508317" y="370616"/>
            <a:ext cx="7871459" cy="678231"/>
          </a:xfrm>
          <a:prstGeom prst="rect">
            <a:avLst/>
          </a:prstGeom>
        </p:spPr>
        <p:txBody>
          <a:bodyPr vert="horz" wrap="square" lIns="0" tIns="123032" rIns="0" bIns="0" rtlCol="0">
            <a:spAutoFit/>
          </a:bodyPr>
          <a:lstStyle/>
          <a:p>
            <a:pPr marL="12700">
              <a:lnSpc>
                <a:spcPct val="100000"/>
              </a:lnSpc>
              <a:spcBef>
                <a:spcPts val="105"/>
              </a:spcBef>
            </a:pPr>
            <a:r>
              <a:rPr lang="en-US"/>
              <a:t>4.</a:t>
            </a:r>
            <a:r>
              <a:rPr lang="en-US" spc="-85"/>
              <a:t> </a:t>
            </a:r>
            <a:r>
              <a:rPr lang="en-US"/>
              <a:t>RTL</a:t>
            </a:r>
            <a:r>
              <a:rPr lang="en-US" spc="-110"/>
              <a:t> </a:t>
            </a:r>
            <a:r>
              <a:rPr lang="en-US" spc="-20"/>
              <a:t>Verification</a:t>
            </a:r>
            <a:endParaRPr spc="-10" dirty="0"/>
          </a:p>
        </p:txBody>
      </p:sp>
      <p:sp>
        <p:nvSpPr>
          <p:cNvPr id="7" name="object 7">
            <a:extLst>
              <a:ext uri="{FF2B5EF4-FFF2-40B4-BE49-F238E27FC236}">
                <a16:creationId xmlns:a16="http://schemas.microsoft.com/office/drawing/2014/main" id="{9FAD5252-EAA5-0AE2-F84F-C1BF282E2708}"/>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8" name="object 8">
            <a:extLst>
              <a:ext uri="{FF2B5EF4-FFF2-40B4-BE49-F238E27FC236}">
                <a16:creationId xmlns:a16="http://schemas.microsoft.com/office/drawing/2014/main" id="{676CC1E4-BAE9-F21D-1C9F-2791B7C2CF3C}"/>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40</a:t>
            </a:fld>
            <a:endParaRPr spc="-25" dirty="0"/>
          </a:p>
        </p:txBody>
      </p:sp>
      <p:sp>
        <p:nvSpPr>
          <p:cNvPr id="9" name="object 9">
            <a:extLst>
              <a:ext uri="{FF2B5EF4-FFF2-40B4-BE49-F238E27FC236}">
                <a16:creationId xmlns:a16="http://schemas.microsoft.com/office/drawing/2014/main" id="{504A900D-6706-3210-B994-B9B506635B19}"/>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3" name="object 3">
            <a:extLst>
              <a:ext uri="{FF2B5EF4-FFF2-40B4-BE49-F238E27FC236}">
                <a16:creationId xmlns:a16="http://schemas.microsoft.com/office/drawing/2014/main" id="{FDF47E7D-FE0D-706A-FE80-ED446F54EE74}"/>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4.2 Verification Plans</a:t>
            </a:r>
            <a:endParaRPr sz="3000">
              <a:latin typeface="Arial"/>
              <a:cs typeface="Arial"/>
            </a:endParaRPr>
          </a:p>
        </p:txBody>
      </p:sp>
      <p:graphicFrame>
        <p:nvGraphicFramePr>
          <p:cNvPr id="4" name="Table 3">
            <a:extLst>
              <a:ext uri="{FF2B5EF4-FFF2-40B4-BE49-F238E27FC236}">
                <a16:creationId xmlns:a16="http://schemas.microsoft.com/office/drawing/2014/main" id="{DF5D3D98-8FFF-1B29-4739-D65A08825AB7}"/>
              </a:ext>
            </a:extLst>
          </p:cNvPr>
          <p:cNvGraphicFramePr>
            <a:graphicFrameLocks noGrp="1"/>
          </p:cNvGraphicFramePr>
          <p:nvPr>
            <p:extLst>
              <p:ext uri="{D42A27DB-BD31-4B8C-83A1-F6EECF244321}">
                <p14:modId xmlns:p14="http://schemas.microsoft.com/office/powerpoint/2010/main" val="477032141"/>
              </p:ext>
            </p:extLst>
          </p:nvPr>
        </p:nvGraphicFramePr>
        <p:xfrm>
          <a:off x="508317" y="1668593"/>
          <a:ext cx="11199176" cy="3535680"/>
        </p:xfrm>
        <a:graphic>
          <a:graphicData uri="http://schemas.openxmlformats.org/drawingml/2006/table">
            <a:tbl>
              <a:tblPr firstRow="1" bandRow="1">
                <a:tableStyleId>{00A15C55-8517-42AA-B614-E9B94910E393}</a:tableStyleId>
              </a:tblPr>
              <a:tblGrid>
                <a:gridCol w="1930083">
                  <a:extLst>
                    <a:ext uri="{9D8B030D-6E8A-4147-A177-3AD203B41FA5}">
                      <a16:colId xmlns:a16="http://schemas.microsoft.com/office/drawing/2014/main" val="579931218"/>
                    </a:ext>
                  </a:extLst>
                </a:gridCol>
                <a:gridCol w="5536034">
                  <a:extLst>
                    <a:ext uri="{9D8B030D-6E8A-4147-A177-3AD203B41FA5}">
                      <a16:colId xmlns:a16="http://schemas.microsoft.com/office/drawing/2014/main" val="1158279828"/>
                    </a:ext>
                  </a:extLst>
                </a:gridCol>
                <a:gridCol w="3733059">
                  <a:extLst>
                    <a:ext uri="{9D8B030D-6E8A-4147-A177-3AD203B41FA5}">
                      <a16:colId xmlns:a16="http://schemas.microsoft.com/office/drawing/2014/main" val="1379675645"/>
                    </a:ext>
                  </a:extLst>
                </a:gridCol>
              </a:tblGrid>
              <a:tr h="198120">
                <a:tc>
                  <a:txBody>
                    <a:bodyPr/>
                    <a:lstStyle/>
                    <a:p>
                      <a:pPr algn="ctr"/>
                      <a:r>
                        <a:rPr lang="en-US" sz="1600">
                          <a:latin typeface="Arial" panose="020B0604020202020204" pitchFamily="34" charset="0"/>
                          <a:cs typeface="Arial" panose="020B0604020202020204" pitchFamily="34" charset="0"/>
                        </a:rPr>
                        <a:t>Test case</a:t>
                      </a:r>
                    </a:p>
                  </a:txBody>
                  <a:tcPr>
                    <a:solidFill>
                      <a:srgbClr val="7030A0"/>
                    </a:solidFill>
                  </a:tcPr>
                </a:tc>
                <a:tc>
                  <a:txBody>
                    <a:bodyPr/>
                    <a:lstStyle/>
                    <a:p>
                      <a:pPr algn="ctr"/>
                      <a:r>
                        <a:rPr lang="en-US" sz="1600">
                          <a:latin typeface="Arial" panose="020B0604020202020204" pitchFamily="34" charset="0"/>
                          <a:cs typeface="Arial" panose="020B0604020202020204" pitchFamily="34" charset="0"/>
                        </a:rPr>
                        <a:t>Descriptions</a:t>
                      </a:r>
                    </a:p>
                  </a:txBody>
                  <a:tcPr>
                    <a:solidFill>
                      <a:srgbClr val="7030A0"/>
                    </a:solidFill>
                  </a:tcPr>
                </a:tc>
                <a:tc>
                  <a:txBody>
                    <a:bodyPr/>
                    <a:lstStyle/>
                    <a:p>
                      <a:pPr algn="ctr"/>
                      <a:r>
                        <a:rPr lang="en-US" sz="1600">
                          <a:latin typeface="Arial" panose="020B0604020202020204" pitchFamily="34" charset="0"/>
                          <a:cs typeface="Arial" panose="020B0604020202020204" pitchFamily="34" charset="0"/>
                        </a:rPr>
                        <a:t>Expected results</a:t>
                      </a:r>
                    </a:p>
                  </a:txBody>
                  <a:tcPr>
                    <a:solidFill>
                      <a:srgbClr val="7030A0"/>
                    </a:solidFill>
                  </a:tcPr>
                </a:tc>
                <a:extLst>
                  <a:ext uri="{0D108BD9-81ED-4DB2-BD59-A6C34878D82A}">
                    <a16:rowId xmlns:a16="http://schemas.microsoft.com/office/drawing/2014/main" val="539352098"/>
                  </a:ext>
                </a:extLst>
              </a:tr>
              <a:tr h="0">
                <a:tc rowSpan="3">
                  <a:txBody>
                    <a:bodyPr/>
                    <a:lstStyle/>
                    <a:p>
                      <a:pPr algn="ctr"/>
                      <a:r>
                        <a:rPr lang="en-US" sz="1600">
                          <a:latin typeface="Arial" panose="020B0604020202020204" pitchFamily="34" charset="0"/>
                          <a:cs typeface="Arial" panose="020B0604020202020204" pitchFamily="34" charset="0"/>
                        </a:rPr>
                        <a:t>Write/Read with Dynamic Wait States</a:t>
                      </a:r>
                    </a:p>
                  </a:txBody>
                  <a:tcPr anchor="ctr"/>
                </a:tc>
                <a:tc rowSpan="3">
                  <a:txBody>
                    <a:bodyPr/>
                    <a:lstStyle/>
                    <a:p>
                      <a:pPr algn="just"/>
                      <a:r>
                        <a:rPr lang="en-US" sz="1600">
                          <a:latin typeface="Arial" panose="020B0604020202020204" pitchFamily="34" charset="0"/>
                          <a:cs typeface="Arial" panose="020B0604020202020204" pitchFamily="34" charset="0"/>
                        </a:rPr>
                        <a:t>Perform Write and Read transactions using addresses with specific last two bits (</a:t>
                      </a:r>
                      <a:r>
                        <a:rPr lang="en-US" sz="1600">
                          <a:solidFill>
                            <a:schemeClr val="dk1"/>
                          </a:solidFill>
                          <a:latin typeface="Arial" panose="020B0604020202020204" pitchFamily="34" charset="0"/>
                          <a:ea typeface="+mn-ea"/>
                          <a:cs typeface="Arial" panose="020B0604020202020204" pitchFamily="34" charset="0"/>
                        </a:rPr>
                        <a:t>PADDR[1:0]</a:t>
                      </a:r>
                      <a:r>
                        <a:rPr lang="en-US" sz="1600">
                          <a:latin typeface="Arial" panose="020B0604020202020204" pitchFamily="34" charset="0"/>
                          <a:cs typeface="Arial" panose="020B0604020202020204" pitchFamily="34" charset="0"/>
                        </a:rPr>
                        <a:t>, e.g., </a:t>
                      </a:r>
                      <a:r>
                        <a:rPr lang="en-US" sz="1600">
                          <a:solidFill>
                            <a:schemeClr val="dk1"/>
                          </a:solidFill>
                          <a:latin typeface="Arial" panose="020B0604020202020204" pitchFamily="34" charset="0"/>
                          <a:ea typeface="+mn-ea"/>
                          <a:cs typeface="Arial" panose="020B0604020202020204" pitchFamily="34" charset="0"/>
                        </a:rPr>
                        <a:t>...03</a:t>
                      </a:r>
                      <a:r>
                        <a:rPr lang="en-US" sz="1600">
                          <a:latin typeface="Arial" panose="020B0604020202020204" pitchFamily="34" charset="0"/>
                          <a:cs typeface="Arial" panose="020B0604020202020204" pitchFamily="34" charset="0"/>
                        </a:rPr>
                        <a:t> and </a:t>
                      </a:r>
                      <a:r>
                        <a:rPr lang="en-US" sz="1600">
                          <a:solidFill>
                            <a:schemeClr val="dk1"/>
                          </a:solidFill>
                          <a:latin typeface="Arial" panose="020B0604020202020204" pitchFamily="34" charset="0"/>
                          <a:ea typeface="+mn-ea"/>
                          <a:cs typeface="Arial" panose="020B0604020202020204" pitchFamily="34" charset="0"/>
                        </a:rPr>
                        <a:t>...01</a:t>
                      </a:r>
                      <a:r>
                        <a:rPr lang="en-US" sz="1600">
                          <a:latin typeface="Arial" panose="020B0604020202020204" pitchFamily="34" charset="0"/>
                          <a:cs typeface="Arial" panose="020B0604020202020204" pitchFamily="34" charset="0"/>
                        </a:rPr>
                        <a:t>) to trigger the Slave's delayed response mechanism.</a:t>
                      </a:r>
                    </a:p>
                  </a:txBody>
                  <a:tcPr/>
                </a:tc>
                <a:tc>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Master must maintain the </a:t>
                      </a:r>
                      <a:r>
                        <a:rPr lang="en-US" sz="1600" b="1">
                          <a:latin typeface="Arial" panose="020B0604020202020204" pitchFamily="34" charset="0"/>
                          <a:cs typeface="Arial" panose="020B0604020202020204" pitchFamily="34" charset="0"/>
                        </a:rPr>
                        <a:t>ACCESS</a:t>
                      </a:r>
                      <a:r>
                        <a:rPr lang="en-US" sz="1600">
                          <a:latin typeface="Arial" panose="020B0604020202020204" pitchFamily="34" charset="0"/>
                          <a:cs typeface="Arial" panose="020B0604020202020204" pitchFamily="34" charset="0"/>
                        </a:rPr>
                        <a:t> state (PENABLE=1) and keep address/data stable throughout the wait cycles.</a:t>
                      </a:r>
                    </a:p>
                  </a:txBody>
                  <a:tcPr/>
                </a:tc>
                <a:extLst>
                  <a:ext uri="{0D108BD9-81ED-4DB2-BD59-A6C34878D82A}">
                    <a16:rowId xmlns:a16="http://schemas.microsoft.com/office/drawing/2014/main" val="1815105458"/>
                  </a:ext>
                </a:extLst>
              </a:tr>
              <a:tr h="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pPr algn="just"/>
                      <a:endParaRPr lang="en-US" sz="1600">
                        <a:latin typeface="Arial" panose="020B0604020202020204" pitchFamily="34" charset="0"/>
                        <a:cs typeface="Arial" panose="020B0604020202020204" pitchFamily="34" charset="0"/>
                      </a:endParaRPr>
                    </a:p>
                  </a:txBody>
                  <a:tcPr/>
                </a:tc>
                <a:tc>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For an address ending in </a:t>
                      </a:r>
                      <a:r>
                        <a:rPr lang="en-US" sz="1600">
                          <a:solidFill>
                            <a:schemeClr val="dk1"/>
                          </a:solidFill>
                          <a:latin typeface="Arial" panose="020B0604020202020204" pitchFamily="34" charset="0"/>
                          <a:ea typeface="+mn-ea"/>
                          <a:cs typeface="Arial" panose="020B0604020202020204" pitchFamily="34" charset="0"/>
                        </a:rPr>
                        <a:t>...03</a:t>
                      </a:r>
                      <a:r>
                        <a:rPr lang="en-US" sz="1600">
                          <a:latin typeface="Arial" panose="020B0604020202020204" pitchFamily="34" charset="0"/>
                          <a:cs typeface="Arial" panose="020B0604020202020204" pitchFamily="34" charset="0"/>
                        </a:rPr>
                        <a:t>, the Slave must hold </a:t>
                      </a:r>
                      <a:r>
                        <a:rPr lang="en-US" sz="1600">
                          <a:solidFill>
                            <a:schemeClr val="dk1"/>
                          </a:solidFill>
                          <a:latin typeface="Arial" panose="020B0604020202020204" pitchFamily="34" charset="0"/>
                          <a:ea typeface="+mn-ea"/>
                          <a:cs typeface="Arial" panose="020B0604020202020204" pitchFamily="34" charset="0"/>
                        </a:rPr>
                        <a:t>PREADY</a:t>
                      </a:r>
                      <a:r>
                        <a:rPr lang="en-US" sz="1600">
                          <a:latin typeface="Arial" panose="020B0604020202020204" pitchFamily="34" charset="0"/>
                          <a:cs typeface="Arial" panose="020B0604020202020204" pitchFamily="34" charset="0"/>
                        </a:rPr>
                        <a:t> low for exactly 3 clock cycles before completion.</a:t>
                      </a:r>
                    </a:p>
                  </a:txBody>
                  <a:tcPr/>
                </a:tc>
                <a:extLst>
                  <a:ext uri="{0D108BD9-81ED-4DB2-BD59-A6C34878D82A}">
                    <a16:rowId xmlns:a16="http://schemas.microsoft.com/office/drawing/2014/main" val="3378172955"/>
                  </a:ext>
                </a:extLst>
              </a:tr>
              <a:tr h="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pPr algn="just"/>
                      <a:endParaRPr lang="en-US" sz="1600">
                        <a:latin typeface="Arial" panose="020B0604020202020204" pitchFamily="34" charset="0"/>
                        <a:cs typeface="Arial" panose="020B0604020202020204" pitchFamily="34" charset="0"/>
                      </a:endParaRPr>
                    </a:p>
                  </a:txBody>
                  <a:tcPr/>
                </a:tc>
                <a:tc>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The simulation log must display </a:t>
                      </a:r>
                      <a:r>
                        <a:rPr lang="en-US" sz="1600">
                          <a:solidFill>
                            <a:schemeClr val="dk1"/>
                          </a:solidFill>
                          <a:latin typeface="Arial" panose="020B0604020202020204" pitchFamily="34" charset="0"/>
                          <a:ea typeface="+mn-ea"/>
                          <a:cs typeface="Arial" panose="020B0604020202020204" pitchFamily="34" charset="0"/>
                        </a:rPr>
                        <a:t>[WAITING]</a:t>
                      </a:r>
                      <a:r>
                        <a:rPr lang="en-US" sz="1600">
                          <a:latin typeface="Arial" panose="020B0604020202020204" pitchFamily="34" charset="0"/>
                          <a:cs typeface="Arial" panose="020B0604020202020204" pitchFamily="34" charset="0"/>
                        </a:rPr>
                        <a:t> messages corresponding to the actual number of wait cycles injected.</a:t>
                      </a:r>
                    </a:p>
                  </a:txBody>
                  <a:tcPr/>
                </a:tc>
                <a:extLst>
                  <a:ext uri="{0D108BD9-81ED-4DB2-BD59-A6C34878D82A}">
                    <a16:rowId xmlns:a16="http://schemas.microsoft.com/office/drawing/2014/main" val="4059865615"/>
                  </a:ext>
                </a:extLst>
              </a:tr>
            </a:tbl>
          </a:graphicData>
        </a:graphic>
      </p:graphicFrame>
    </p:spTree>
    <p:extLst>
      <p:ext uri="{BB962C8B-B14F-4D97-AF65-F5344CB8AC3E}">
        <p14:creationId xmlns:p14="http://schemas.microsoft.com/office/powerpoint/2010/main" val="274406792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3BEAB3F-EF56-E700-8DAB-628428809460}"/>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37037406-CB23-0843-7984-512EF9FBBAA4}"/>
              </a:ext>
            </a:extLst>
          </p:cNvPr>
          <p:cNvSpPr txBox="1">
            <a:spLocks noGrp="1"/>
          </p:cNvSpPr>
          <p:nvPr>
            <p:ph type="title"/>
          </p:nvPr>
        </p:nvSpPr>
        <p:spPr>
          <a:xfrm>
            <a:off x="508317" y="370616"/>
            <a:ext cx="7871459" cy="678231"/>
          </a:xfrm>
          <a:prstGeom prst="rect">
            <a:avLst/>
          </a:prstGeom>
        </p:spPr>
        <p:txBody>
          <a:bodyPr vert="horz" wrap="square" lIns="0" tIns="123032" rIns="0" bIns="0" rtlCol="0">
            <a:spAutoFit/>
          </a:bodyPr>
          <a:lstStyle/>
          <a:p>
            <a:pPr marL="12700">
              <a:lnSpc>
                <a:spcPct val="100000"/>
              </a:lnSpc>
              <a:spcBef>
                <a:spcPts val="105"/>
              </a:spcBef>
            </a:pPr>
            <a:r>
              <a:rPr lang="en-US"/>
              <a:t>4.</a:t>
            </a:r>
            <a:r>
              <a:rPr lang="en-US" spc="-85"/>
              <a:t> </a:t>
            </a:r>
            <a:r>
              <a:rPr lang="en-US"/>
              <a:t>RTL</a:t>
            </a:r>
            <a:r>
              <a:rPr lang="en-US" spc="-110"/>
              <a:t> </a:t>
            </a:r>
            <a:r>
              <a:rPr lang="en-US" spc="-20"/>
              <a:t>Verification</a:t>
            </a:r>
            <a:endParaRPr spc="-10" dirty="0"/>
          </a:p>
        </p:txBody>
      </p:sp>
      <p:sp>
        <p:nvSpPr>
          <p:cNvPr id="7" name="object 7">
            <a:extLst>
              <a:ext uri="{FF2B5EF4-FFF2-40B4-BE49-F238E27FC236}">
                <a16:creationId xmlns:a16="http://schemas.microsoft.com/office/drawing/2014/main" id="{D652D771-999B-63F4-45EA-2596C12937BF}"/>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8" name="object 8">
            <a:extLst>
              <a:ext uri="{FF2B5EF4-FFF2-40B4-BE49-F238E27FC236}">
                <a16:creationId xmlns:a16="http://schemas.microsoft.com/office/drawing/2014/main" id="{E06FC934-6339-83F4-2344-A2D1FDD674BF}"/>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41</a:t>
            </a:fld>
            <a:endParaRPr spc="-25" dirty="0"/>
          </a:p>
        </p:txBody>
      </p:sp>
      <p:sp>
        <p:nvSpPr>
          <p:cNvPr id="9" name="object 9">
            <a:extLst>
              <a:ext uri="{FF2B5EF4-FFF2-40B4-BE49-F238E27FC236}">
                <a16:creationId xmlns:a16="http://schemas.microsoft.com/office/drawing/2014/main" id="{13CD6513-85DC-AE1B-FECA-C70902B83287}"/>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3" name="object 3">
            <a:extLst>
              <a:ext uri="{FF2B5EF4-FFF2-40B4-BE49-F238E27FC236}">
                <a16:creationId xmlns:a16="http://schemas.microsoft.com/office/drawing/2014/main" id="{77498FB7-4C9B-E579-C2E9-2582753EFC00}"/>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4.3 Results</a:t>
            </a:r>
            <a:endParaRPr sz="3000">
              <a:latin typeface="Arial"/>
              <a:cs typeface="Arial"/>
            </a:endParaRPr>
          </a:p>
        </p:txBody>
      </p:sp>
      <p:pic>
        <p:nvPicPr>
          <p:cNvPr id="5" name="Picture 4">
            <a:extLst>
              <a:ext uri="{FF2B5EF4-FFF2-40B4-BE49-F238E27FC236}">
                <a16:creationId xmlns:a16="http://schemas.microsoft.com/office/drawing/2014/main" id="{E1D87966-108E-D2D9-C9F4-7D85CC38DF98}"/>
              </a:ext>
            </a:extLst>
          </p:cNvPr>
          <p:cNvPicPr>
            <a:picLocks noChangeAspect="1"/>
          </p:cNvPicPr>
          <p:nvPr/>
        </p:nvPicPr>
        <p:blipFill>
          <a:blip r:embed="rId2"/>
          <a:stretch>
            <a:fillRect/>
          </a:stretch>
        </p:blipFill>
        <p:spPr>
          <a:xfrm>
            <a:off x="6522810" y="3221756"/>
            <a:ext cx="4644680" cy="3141007"/>
          </a:xfrm>
          <a:prstGeom prst="rect">
            <a:avLst/>
          </a:prstGeom>
        </p:spPr>
      </p:pic>
      <p:pic>
        <p:nvPicPr>
          <p:cNvPr id="6" name="Picture 5">
            <a:extLst>
              <a:ext uri="{FF2B5EF4-FFF2-40B4-BE49-F238E27FC236}">
                <a16:creationId xmlns:a16="http://schemas.microsoft.com/office/drawing/2014/main" id="{91835600-E831-475C-97FD-BD0AB2764C5D}"/>
              </a:ext>
            </a:extLst>
          </p:cNvPr>
          <p:cNvPicPr>
            <a:picLocks noChangeAspect="1"/>
          </p:cNvPicPr>
          <p:nvPr/>
        </p:nvPicPr>
        <p:blipFill>
          <a:blip r:embed="rId3"/>
          <a:stretch>
            <a:fillRect/>
          </a:stretch>
        </p:blipFill>
        <p:spPr>
          <a:xfrm>
            <a:off x="508317" y="1828800"/>
            <a:ext cx="4369391" cy="1893403"/>
          </a:xfrm>
          <a:prstGeom prst="rect">
            <a:avLst/>
          </a:prstGeom>
        </p:spPr>
      </p:pic>
      <p:pic>
        <p:nvPicPr>
          <p:cNvPr id="11" name="Picture 10">
            <a:extLst>
              <a:ext uri="{FF2B5EF4-FFF2-40B4-BE49-F238E27FC236}">
                <a16:creationId xmlns:a16="http://schemas.microsoft.com/office/drawing/2014/main" id="{420447CF-EDB8-FAA4-A14D-DA828248EBF2}"/>
              </a:ext>
            </a:extLst>
          </p:cNvPr>
          <p:cNvPicPr>
            <a:picLocks noChangeAspect="1"/>
          </p:cNvPicPr>
          <p:nvPr/>
        </p:nvPicPr>
        <p:blipFill>
          <a:blip r:embed="rId4"/>
          <a:stretch>
            <a:fillRect/>
          </a:stretch>
        </p:blipFill>
        <p:spPr>
          <a:xfrm>
            <a:off x="508317" y="4050428"/>
            <a:ext cx="4369391" cy="2057631"/>
          </a:xfrm>
          <a:prstGeom prst="rect">
            <a:avLst/>
          </a:prstGeom>
        </p:spPr>
      </p:pic>
      <p:pic>
        <p:nvPicPr>
          <p:cNvPr id="15" name="Picture 14">
            <a:extLst>
              <a:ext uri="{FF2B5EF4-FFF2-40B4-BE49-F238E27FC236}">
                <a16:creationId xmlns:a16="http://schemas.microsoft.com/office/drawing/2014/main" id="{6DD99901-B6CB-0511-26BF-34179C9AFDB3}"/>
              </a:ext>
            </a:extLst>
          </p:cNvPr>
          <p:cNvPicPr>
            <a:picLocks noChangeAspect="1"/>
          </p:cNvPicPr>
          <p:nvPr/>
        </p:nvPicPr>
        <p:blipFill>
          <a:blip r:embed="rId5"/>
          <a:stretch>
            <a:fillRect/>
          </a:stretch>
        </p:blipFill>
        <p:spPr>
          <a:xfrm>
            <a:off x="6639719" y="914400"/>
            <a:ext cx="4369391" cy="2075879"/>
          </a:xfrm>
          <a:prstGeom prst="rect">
            <a:avLst/>
          </a:prstGeom>
        </p:spPr>
      </p:pic>
    </p:spTree>
    <p:extLst>
      <p:ext uri="{BB962C8B-B14F-4D97-AF65-F5344CB8AC3E}">
        <p14:creationId xmlns:p14="http://schemas.microsoft.com/office/powerpoint/2010/main" val="15898080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72D4D53-2C29-2F98-6285-38B069F0CC85}"/>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3EE3715A-33A9-760E-DFA7-CFFF9CE093D0}"/>
              </a:ext>
            </a:extLst>
          </p:cNvPr>
          <p:cNvSpPr txBox="1">
            <a:spLocks noGrp="1"/>
          </p:cNvSpPr>
          <p:nvPr>
            <p:ph type="title"/>
          </p:nvPr>
        </p:nvSpPr>
        <p:spPr>
          <a:xfrm>
            <a:off x="508317" y="370616"/>
            <a:ext cx="7871459" cy="678231"/>
          </a:xfrm>
          <a:prstGeom prst="rect">
            <a:avLst/>
          </a:prstGeom>
        </p:spPr>
        <p:txBody>
          <a:bodyPr vert="horz" wrap="square" lIns="0" tIns="123032" rIns="0" bIns="0" rtlCol="0">
            <a:spAutoFit/>
          </a:bodyPr>
          <a:lstStyle/>
          <a:p>
            <a:pPr marL="12700">
              <a:lnSpc>
                <a:spcPct val="100000"/>
              </a:lnSpc>
              <a:spcBef>
                <a:spcPts val="105"/>
              </a:spcBef>
            </a:pPr>
            <a:r>
              <a:rPr lang="en-US"/>
              <a:t>4.</a:t>
            </a:r>
            <a:r>
              <a:rPr lang="en-US" spc="-85"/>
              <a:t> </a:t>
            </a:r>
            <a:r>
              <a:rPr lang="en-US"/>
              <a:t>RTL</a:t>
            </a:r>
            <a:r>
              <a:rPr lang="en-US" spc="-110"/>
              <a:t> </a:t>
            </a:r>
            <a:r>
              <a:rPr lang="en-US" spc="-20"/>
              <a:t>Verification</a:t>
            </a:r>
            <a:endParaRPr spc="-10" dirty="0"/>
          </a:p>
        </p:txBody>
      </p:sp>
      <p:sp>
        <p:nvSpPr>
          <p:cNvPr id="7" name="object 7">
            <a:extLst>
              <a:ext uri="{FF2B5EF4-FFF2-40B4-BE49-F238E27FC236}">
                <a16:creationId xmlns:a16="http://schemas.microsoft.com/office/drawing/2014/main" id="{9DA91BDE-D64F-BB51-3216-C06F76D0E3F5}"/>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8" name="object 8">
            <a:extLst>
              <a:ext uri="{FF2B5EF4-FFF2-40B4-BE49-F238E27FC236}">
                <a16:creationId xmlns:a16="http://schemas.microsoft.com/office/drawing/2014/main" id="{51BFBB3E-F5EC-17CF-B15F-3509EAC07A76}"/>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42</a:t>
            </a:fld>
            <a:endParaRPr spc="-25" dirty="0"/>
          </a:p>
        </p:txBody>
      </p:sp>
      <p:sp>
        <p:nvSpPr>
          <p:cNvPr id="9" name="object 9">
            <a:extLst>
              <a:ext uri="{FF2B5EF4-FFF2-40B4-BE49-F238E27FC236}">
                <a16:creationId xmlns:a16="http://schemas.microsoft.com/office/drawing/2014/main" id="{2DF6D3E2-C635-9809-BC2B-CF848DB7B5B2}"/>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3" name="object 3">
            <a:extLst>
              <a:ext uri="{FF2B5EF4-FFF2-40B4-BE49-F238E27FC236}">
                <a16:creationId xmlns:a16="http://schemas.microsoft.com/office/drawing/2014/main" id="{AE523072-FDE9-78C7-8145-D04D9CAFDE5B}"/>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4.3 Results</a:t>
            </a:r>
            <a:endParaRPr sz="3000">
              <a:latin typeface="Arial"/>
              <a:cs typeface="Arial"/>
            </a:endParaRPr>
          </a:p>
        </p:txBody>
      </p:sp>
      <p:pic>
        <p:nvPicPr>
          <p:cNvPr id="6" name="Picture 5">
            <a:extLst>
              <a:ext uri="{FF2B5EF4-FFF2-40B4-BE49-F238E27FC236}">
                <a16:creationId xmlns:a16="http://schemas.microsoft.com/office/drawing/2014/main" id="{5F1FEAE1-EE9A-8DF2-3E57-E8D780A9FBDB}"/>
              </a:ext>
            </a:extLst>
          </p:cNvPr>
          <p:cNvPicPr>
            <a:picLocks noChangeAspect="1"/>
          </p:cNvPicPr>
          <p:nvPr/>
        </p:nvPicPr>
        <p:blipFill>
          <a:blip r:embed="rId2"/>
          <a:stretch>
            <a:fillRect/>
          </a:stretch>
        </p:blipFill>
        <p:spPr>
          <a:xfrm>
            <a:off x="0" y="2089302"/>
            <a:ext cx="12192000" cy="2679396"/>
          </a:xfrm>
          <a:prstGeom prst="rect">
            <a:avLst/>
          </a:prstGeom>
        </p:spPr>
      </p:pic>
    </p:spTree>
    <p:extLst>
      <p:ext uri="{BB962C8B-B14F-4D97-AF65-F5344CB8AC3E}">
        <p14:creationId xmlns:p14="http://schemas.microsoft.com/office/powerpoint/2010/main" val="384360204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1"/>
            <a:ext cx="12192000" cy="6857999"/>
            <a:chOff x="0" y="1"/>
            <a:chExt cx="12192000" cy="6857999"/>
          </a:xfrm>
        </p:grpSpPr>
        <p:pic>
          <p:nvPicPr>
            <p:cNvPr id="3" name="object 3"/>
            <p:cNvPicPr/>
            <p:nvPr/>
          </p:nvPicPr>
          <p:blipFill>
            <a:blip r:embed="rId2" cstate="print"/>
            <a:stretch>
              <a:fillRect/>
            </a:stretch>
          </p:blipFill>
          <p:spPr>
            <a:xfrm>
              <a:off x="0" y="1"/>
              <a:ext cx="12192000" cy="6857999"/>
            </a:xfrm>
            <a:prstGeom prst="rect">
              <a:avLst/>
            </a:prstGeom>
          </p:spPr>
        </p:pic>
        <p:pic>
          <p:nvPicPr>
            <p:cNvPr id="4" name="object 4"/>
            <p:cNvPicPr/>
            <p:nvPr/>
          </p:nvPicPr>
          <p:blipFill>
            <a:blip r:embed="rId3" cstate="print"/>
            <a:stretch>
              <a:fillRect/>
            </a:stretch>
          </p:blipFill>
          <p:spPr>
            <a:xfrm>
              <a:off x="0" y="800100"/>
              <a:ext cx="9163049" cy="5257800"/>
            </a:xfrm>
            <a:prstGeom prst="rect">
              <a:avLst/>
            </a:prstGeom>
          </p:spPr>
        </p:pic>
        <p:pic>
          <p:nvPicPr>
            <p:cNvPr id="5" name="object 5"/>
            <p:cNvPicPr/>
            <p:nvPr/>
          </p:nvPicPr>
          <p:blipFill>
            <a:blip r:embed="rId4" cstate="print"/>
            <a:stretch>
              <a:fillRect/>
            </a:stretch>
          </p:blipFill>
          <p:spPr>
            <a:xfrm>
              <a:off x="28575" y="762000"/>
              <a:ext cx="9163050" cy="85725"/>
            </a:xfrm>
            <a:prstGeom prst="rect">
              <a:avLst/>
            </a:prstGeom>
          </p:spPr>
        </p:pic>
        <p:pic>
          <p:nvPicPr>
            <p:cNvPr id="6" name="object 6"/>
            <p:cNvPicPr/>
            <p:nvPr/>
          </p:nvPicPr>
          <p:blipFill>
            <a:blip r:embed="rId5" cstate="print"/>
            <a:stretch>
              <a:fillRect/>
            </a:stretch>
          </p:blipFill>
          <p:spPr>
            <a:xfrm>
              <a:off x="0" y="485775"/>
              <a:ext cx="8943974" cy="5876925"/>
            </a:xfrm>
            <a:prstGeom prst="rect">
              <a:avLst/>
            </a:prstGeom>
          </p:spPr>
        </p:pic>
        <p:pic>
          <p:nvPicPr>
            <p:cNvPr id="7" name="object 7"/>
            <p:cNvPicPr/>
            <p:nvPr/>
          </p:nvPicPr>
          <p:blipFill>
            <a:blip r:embed="rId6" cstate="print"/>
            <a:stretch>
              <a:fillRect/>
            </a:stretch>
          </p:blipFill>
          <p:spPr>
            <a:xfrm>
              <a:off x="0" y="514350"/>
              <a:ext cx="8924924" cy="5819775"/>
            </a:xfrm>
            <a:prstGeom prst="rect">
              <a:avLst/>
            </a:prstGeom>
          </p:spPr>
        </p:pic>
      </p:grpSp>
      <p:sp>
        <p:nvSpPr>
          <p:cNvPr id="8" name="object 8"/>
          <p:cNvSpPr txBox="1">
            <a:spLocks noGrp="1"/>
          </p:cNvSpPr>
          <p:nvPr>
            <p:ph type="title"/>
          </p:nvPr>
        </p:nvSpPr>
        <p:spPr>
          <a:xfrm>
            <a:off x="2697733" y="2503487"/>
            <a:ext cx="3277870" cy="1670050"/>
          </a:xfrm>
          <a:prstGeom prst="rect">
            <a:avLst/>
          </a:prstGeom>
        </p:spPr>
        <p:txBody>
          <a:bodyPr vert="horz" wrap="square" lIns="0" tIns="28575" rIns="0" bIns="0" rtlCol="0">
            <a:spAutoFit/>
          </a:bodyPr>
          <a:lstStyle/>
          <a:p>
            <a:pPr marL="12700" marR="5080" indent="10160">
              <a:lnSpc>
                <a:spcPts val="6459"/>
              </a:lnSpc>
              <a:spcBef>
                <a:spcPts val="225"/>
              </a:spcBef>
            </a:pPr>
            <a:r>
              <a:rPr sz="5400" b="0" dirty="0">
                <a:solidFill>
                  <a:srgbClr val="FFFFFF"/>
                </a:solidFill>
                <a:latin typeface="Arial"/>
                <a:cs typeface="Arial"/>
              </a:rPr>
              <a:t>Thanks</a:t>
            </a:r>
            <a:r>
              <a:rPr sz="5400" b="0" spc="-20" dirty="0">
                <a:solidFill>
                  <a:srgbClr val="FFFFFF"/>
                </a:solidFill>
                <a:latin typeface="Arial"/>
                <a:cs typeface="Arial"/>
              </a:rPr>
              <a:t> </a:t>
            </a:r>
            <a:r>
              <a:rPr sz="5400" b="0" spc="-25" dirty="0">
                <a:solidFill>
                  <a:srgbClr val="FFFFFF"/>
                </a:solidFill>
                <a:latin typeface="Arial"/>
                <a:cs typeface="Arial"/>
              </a:rPr>
              <a:t>for </a:t>
            </a:r>
            <a:r>
              <a:rPr sz="5400" b="0" spc="-10" dirty="0">
                <a:solidFill>
                  <a:srgbClr val="FFFFFF"/>
                </a:solidFill>
                <a:latin typeface="Arial"/>
                <a:cs typeface="Arial"/>
              </a:rPr>
              <a:t>watching</a:t>
            </a:r>
            <a:endParaRPr sz="5400">
              <a:latin typeface="Arial"/>
              <a:cs typeface="Aria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463</TotalTime>
  <Words>3441</Words>
  <Application>Microsoft Office PowerPoint</Application>
  <PresentationFormat>Widescreen</PresentationFormat>
  <Paragraphs>506</Paragraphs>
  <Slides>43</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Design Specifications IP AMBA ABP Protocol</vt:lpstr>
      <vt:lpstr>Table Content</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2. High Level Block Design</vt:lpstr>
      <vt:lpstr>2. High Level Block Design</vt:lpstr>
      <vt:lpstr>2. High Level Block Design</vt:lpstr>
      <vt:lpstr>2. High Level Block Design</vt:lpstr>
      <vt:lpstr>2. High Level Block Design</vt:lpstr>
      <vt:lpstr>2. High Level Block Design</vt:lpstr>
      <vt:lpstr>2. High Level Block Design</vt:lpstr>
      <vt:lpstr>3. Low Level Block Design</vt:lpstr>
      <vt:lpstr>3. Low Level Block Design</vt:lpstr>
      <vt:lpstr>3. Low Level Block Design</vt:lpstr>
      <vt:lpstr>3. Low Level Block Design</vt:lpstr>
      <vt:lpstr>3. Low Level Block Design</vt:lpstr>
      <vt:lpstr>3. Low Level Block Design</vt:lpstr>
      <vt:lpstr>4. RTL Verification</vt:lpstr>
      <vt:lpstr>4. RTL Verification</vt:lpstr>
      <vt:lpstr>4. RTL Verification</vt:lpstr>
      <vt:lpstr>4. RTL Verification</vt:lpstr>
      <vt:lpstr>4. RTL Verification</vt:lpstr>
      <vt:lpstr>4. RTL Verification</vt:lpstr>
      <vt:lpstr>Thanks for watching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Hoàng Bảo Long</cp:lastModifiedBy>
  <cp:revision>44</cp:revision>
  <dcterms:created xsi:type="dcterms:W3CDTF">2025-12-13T15:45:28Z</dcterms:created>
  <dcterms:modified xsi:type="dcterms:W3CDTF">2025-12-22T08:11:49Z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2025-06-10T00:00:00Z</vt:filetime>
  </property>
  <property fmtid="{D5CDD505-2E9C-101B-9397-08002B2CF9AE}" pid="3" name="LastSaved">
    <vt:filetime>2025-12-13T00:00:00Z</vt:filetime>
  </property>
  <property fmtid="{D5CDD505-2E9C-101B-9397-08002B2CF9AE}" pid="4" name="Producer">
    <vt:lpwstr>3-Heights(TM) PDF Security Shell 4.8.25.2 (http://www.pdf-tools.com)</vt:lpwstr>
  </property>
</Properties>
</file>
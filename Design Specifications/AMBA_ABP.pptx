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4" r:id="rId6"/>
    <p:sldId id="275" r:id="rId7"/>
    <p:sldId id="277" r:id="rId8"/>
    <p:sldId id="278" r:id="rId9"/>
    <p:sldId id="280" r:id="rId10"/>
    <p:sldId id="276" r:id="rId11"/>
    <p:sldId id="279" r:id="rId12"/>
    <p:sldId id="283" r:id="rId13"/>
    <p:sldId id="281" r:id="rId14"/>
    <p:sldId id="282" r:id="rId15"/>
    <p:sldId id="284" r:id="rId16"/>
    <p:sldId id="285" r:id="rId17"/>
    <p:sldId id="286" r:id="rId18"/>
    <p:sldId id="288" r:id="rId19"/>
    <p:sldId id="287" r:id="rId20"/>
    <p:sldId id="290" r:id="rId21"/>
    <p:sldId id="289" r:id="rId22"/>
    <p:sldId id="291" r:id="rId23"/>
    <p:sldId id="292" r:id="rId24"/>
    <p:sldId id="260" r:id="rId25"/>
    <p:sldId id="261" r:id="rId26"/>
    <p:sldId id="301" r:id="rId27"/>
    <p:sldId id="296" r:id="rId28"/>
    <p:sldId id="298" r:id="rId29"/>
    <p:sldId id="299" r:id="rId30"/>
    <p:sldId id="300" r:id="rId31"/>
    <p:sldId id="264" r:id="rId32"/>
    <p:sldId id="265" r:id="rId33"/>
    <p:sldId id="297" r:id="rId34"/>
    <p:sldId id="269" r:id="rId35"/>
    <p:sldId id="270" r:id="rId36"/>
    <p:sldId id="302" r:id="rId37"/>
    <p:sldId id="303" r:id="rId38"/>
    <p:sldId id="305" r:id="rId39"/>
    <p:sldId id="273" r:id="rId4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14"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08317" y="480313"/>
            <a:ext cx="7871459" cy="575310"/>
          </a:xfrm>
          <a:prstGeom prst="rect">
            <a:avLst/>
          </a:prstGeom>
        </p:spPr>
        <p:txBody>
          <a:bodyPr wrap="square" lIns="0" tIns="0" rIns="0" bIns="0">
            <a:spAutoFit/>
          </a:bodyPr>
          <a:lstStyle>
            <a:lvl1pPr>
              <a:defRPr sz="3600" b="1" i="0">
                <a:solidFill>
                  <a:srgbClr val="7C45A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5" name="Holder 5"/>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Holder 6"/>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C45A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5" name="Holder 5"/>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Holder 6"/>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C45A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6" name="Holder 6"/>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7" name="Holder 7"/>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809625"/>
            <a:ext cx="11810999" cy="3438525"/>
          </a:xfrm>
          <a:prstGeom prst="rect">
            <a:avLst/>
          </a:prstGeom>
        </p:spPr>
      </p:pic>
      <p:sp>
        <p:nvSpPr>
          <p:cNvPr id="2" name="Holder 2"/>
          <p:cNvSpPr>
            <a:spLocks noGrp="1"/>
          </p:cNvSpPr>
          <p:nvPr>
            <p:ph type="title"/>
          </p:nvPr>
        </p:nvSpPr>
        <p:spPr/>
        <p:txBody>
          <a:bodyPr lIns="0" tIns="0" rIns="0" bIns="0"/>
          <a:lstStyle>
            <a:lvl1pPr>
              <a:defRPr sz="3600" b="1" i="0">
                <a:solidFill>
                  <a:srgbClr val="7C45A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4" name="Holder 4"/>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Holder 5"/>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3" name="Holder 3"/>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Holder 4"/>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8317" y="370616"/>
            <a:ext cx="7871459" cy="1234440"/>
          </a:xfrm>
          <a:prstGeom prst="rect">
            <a:avLst/>
          </a:prstGeom>
        </p:spPr>
        <p:txBody>
          <a:bodyPr wrap="square" lIns="0" tIns="0" rIns="0" bIns="0">
            <a:spAutoFit/>
          </a:bodyPr>
          <a:lstStyle>
            <a:lvl1pPr>
              <a:defRPr sz="3600" b="1" i="0">
                <a:solidFill>
                  <a:srgbClr val="7C45AD"/>
                </a:solidFill>
                <a:latin typeface="Arial"/>
                <a:cs typeface="Arial"/>
              </a:defRPr>
            </a:lvl1pPr>
          </a:lstStyle>
          <a:p>
            <a:endParaRPr/>
          </a:p>
        </p:txBody>
      </p:sp>
      <p:sp>
        <p:nvSpPr>
          <p:cNvPr id="3" name="Holder 3"/>
          <p:cNvSpPr>
            <a:spLocks noGrp="1"/>
          </p:cNvSpPr>
          <p:nvPr>
            <p:ph type="body" idx="1"/>
          </p:nvPr>
        </p:nvSpPr>
        <p:spPr>
          <a:xfrm>
            <a:off x="476250" y="1898650"/>
            <a:ext cx="7112000" cy="35648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0138156" y="6594240"/>
            <a:ext cx="1029334" cy="142875"/>
          </a:xfrm>
          <a:prstGeom prst="rect">
            <a:avLst/>
          </a:prstGeom>
        </p:spPr>
        <p:txBody>
          <a:bodyPr wrap="square" lIns="0" tIns="0" rIns="0" bIns="0">
            <a:spAutoFit/>
          </a:bodyPr>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5" name="Holder 5"/>
          <p:cNvSpPr>
            <a:spLocks noGrp="1"/>
          </p:cNvSpPr>
          <p:nvPr>
            <p:ph type="dt" sz="half" idx="6"/>
          </p:nvPr>
        </p:nvSpPr>
        <p:spPr>
          <a:xfrm>
            <a:off x="5679059" y="6567917"/>
            <a:ext cx="833754" cy="142875"/>
          </a:xfrm>
          <a:prstGeom prst="rect">
            <a:avLst/>
          </a:prstGeom>
        </p:spPr>
        <p:txBody>
          <a:bodyPr wrap="square" lIns="0" tIns="0" rIns="0" bIns="0">
            <a:spAutoFit/>
          </a:bodyPr>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Holder 6"/>
          <p:cNvSpPr>
            <a:spLocks noGrp="1"/>
          </p:cNvSpPr>
          <p:nvPr>
            <p:ph type="sldNum" sz="quarter" idx="7"/>
          </p:nvPr>
        </p:nvSpPr>
        <p:spPr>
          <a:xfrm>
            <a:off x="11541759" y="6567917"/>
            <a:ext cx="165734" cy="142875"/>
          </a:xfrm>
          <a:prstGeom prst="rect">
            <a:avLst/>
          </a:prstGeom>
        </p:spPr>
        <p:txBody>
          <a:bodyPr wrap="square" lIns="0" tIns="0" rIns="0" bIns="0">
            <a:spAutoFit/>
          </a:bodyPr>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0" y="1200150"/>
              <a:ext cx="9163049" cy="4457700"/>
            </a:xfrm>
            <a:prstGeom prst="rect">
              <a:avLst/>
            </a:prstGeom>
          </p:spPr>
        </p:pic>
        <p:pic>
          <p:nvPicPr>
            <p:cNvPr id="5" name="object 5"/>
            <p:cNvPicPr/>
            <p:nvPr/>
          </p:nvPicPr>
          <p:blipFill>
            <a:blip r:embed="rId4" cstate="print"/>
            <a:stretch>
              <a:fillRect/>
            </a:stretch>
          </p:blipFill>
          <p:spPr>
            <a:xfrm>
              <a:off x="0" y="923925"/>
              <a:ext cx="9001124" cy="5000625"/>
            </a:xfrm>
            <a:prstGeom prst="rect">
              <a:avLst/>
            </a:prstGeom>
          </p:spPr>
        </p:pic>
        <p:pic>
          <p:nvPicPr>
            <p:cNvPr id="6" name="object 6"/>
            <p:cNvPicPr/>
            <p:nvPr/>
          </p:nvPicPr>
          <p:blipFill>
            <a:blip r:embed="rId5" cstate="print"/>
            <a:stretch>
              <a:fillRect/>
            </a:stretch>
          </p:blipFill>
          <p:spPr>
            <a:xfrm>
              <a:off x="0" y="952500"/>
              <a:ext cx="8972549" cy="4943475"/>
            </a:xfrm>
            <a:prstGeom prst="rect">
              <a:avLst/>
            </a:prstGeom>
          </p:spPr>
        </p:pic>
      </p:grpSp>
      <p:sp>
        <p:nvSpPr>
          <p:cNvPr id="7" name="object 7"/>
          <p:cNvSpPr txBox="1">
            <a:spLocks noGrp="1"/>
          </p:cNvSpPr>
          <p:nvPr>
            <p:ph type="title"/>
          </p:nvPr>
        </p:nvSpPr>
        <p:spPr>
          <a:xfrm>
            <a:off x="513715" y="2614930"/>
            <a:ext cx="7469505" cy="1012190"/>
          </a:xfrm>
          <a:prstGeom prst="rect">
            <a:avLst/>
          </a:prstGeom>
        </p:spPr>
        <p:txBody>
          <a:bodyPr vert="horz" wrap="square" lIns="0" tIns="13335" rIns="0" bIns="0" rtlCol="0">
            <a:spAutoFit/>
          </a:bodyPr>
          <a:lstStyle/>
          <a:p>
            <a:pPr marL="12700">
              <a:lnSpc>
                <a:spcPct val="100000"/>
              </a:lnSpc>
              <a:spcBef>
                <a:spcPts val="105"/>
              </a:spcBef>
            </a:pPr>
            <a:r>
              <a:rPr dirty="0">
                <a:solidFill>
                  <a:srgbClr val="FFFFFF"/>
                </a:solidFill>
              </a:rPr>
              <a:t>Design</a:t>
            </a:r>
            <a:r>
              <a:rPr spc="-204" dirty="0">
                <a:solidFill>
                  <a:srgbClr val="FFFFFF"/>
                </a:solidFill>
              </a:rPr>
              <a:t> </a:t>
            </a:r>
            <a:r>
              <a:rPr spc="-10" dirty="0">
                <a:solidFill>
                  <a:srgbClr val="FFFFFF"/>
                </a:solidFill>
              </a:rPr>
              <a:t>Specifications</a:t>
            </a:r>
          </a:p>
          <a:p>
            <a:pPr marL="12700">
              <a:lnSpc>
                <a:spcPct val="100000"/>
              </a:lnSpc>
              <a:spcBef>
                <a:spcPts val="135"/>
              </a:spcBef>
            </a:pPr>
            <a:r>
              <a:rPr lang="en-US" sz="2750" b="0">
                <a:solidFill>
                  <a:srgbClr val="A6A8AB"/>
                </a:solidFill>
                <a:latin typeface="Arial"/>
                <a:cs typeface="Arial"/>
              </a:rPr>
              <a:t>IP AMBA ABP Protocol</a:t>
            </a:r>
            <a:endParaRPr sz="275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2190750"/>
            <a:ext cx="10010775" cy="819150"/>
          </a:xfrm>
          <a:prstGeom prst="rect">
            <a:avLst/>
          </a:prstGeom>
        </p:spPr>
      </p:pic>
      <p:pic>
        <p:nvPicPr>
          <p:cNvPr id="3" name="object 3"/>
          <p:cNvPicPr/>
          <p:nvPr/>
        </p:nvPicPr>
        <p:blipFill>
          <a:blip r:embed="rId2" cstate="print"/>
          <a:stretch>
            <a:fillRect/>
          </a:stretch>
        </p:blipFill>
        <p:spPr>
          <a:xfrm>
            <a:off x="0" y="352425"/>
            <a:ext cx="12191999" cy="1276350"/>
          </a:xfrm>
          <a:prstGeom prst="rect">
            <a:avLst/>
          </a:prstGeom>
        </p:spPr>
      </p:pic>
      <p:pic>
        <p:nvPicPr>
          <p:cNvPr id="4" name="object 4"/>
          <p:cNvPicPr/>
          <p:nvPr/>
        </p:nvPicPr>
        <p:blipFill>
          <a:blip r:embed="rId3" cstate="print"/>
          <a:stretch>
            <a:fillRect/>
          </a:stretch>
        </p:blipFill>
        <p:spPr>
          <a:xfrm>
            <a:off x="0" y="276225"/>
            <a:ext cx="12191999" cy="19050"/>
          </a:xfrm>
          <a:prstGeom prst="rect">
            <a:avLst/>
          </a:prstGeom>
        </p:spPr>
      </p:pic>
      <p:sp>
        <p:nvSpPr>
          <p:cNvPr id="5" name="object 5"/>
          <p:cNvSpPr txBox="1">
            <a:spLocks noGrp="1"/>
          </p:cNvSpPr>
          <p:nvPr>
            <p:ph type="title"/>
          </p:nvPr>
        </p:nvSpPr>
        <p:spPr>
          <a:prstGeom prst="rect">
            <a:avLst/>
          </a:prstGeom>
        </p:spPr>
        <p:txBody>
          <a:bodyPr vert="horz" wrap="square" lIns="0" tIns="253842" rIns="0" bIns="0" rtlCol="0">
            <a:spAutoFit/>
          </a:bodyPr>
          <a:lstStyle/>
          <a:p>
            <a:pPr marL="25400">
              <a:lnSpc>
                <a:spcPct val="100000"/>
              </a:lnSpc>
              <a:spcBef>
                <a:spcPts val="130"/>
              </a:spcBef>
            </a:pPr>
            <a:r>
              <a:rPr sz="4400" dirty="0"/>
              <a:t>Table</a:t>
            </a:r>
            <a:r>
              <a:rPr sz="4400" spc="-50" dirty="0"/>
              <a:t> </a:t>
            </a:r>
            <a:r>
              <a:rPr sz="4400" spc="-10" dirty="0"/>
              <a:t>Content</a:t>
            </a:r>
            <a:endParaRPr sz="4400"/>
          </a:p>
        </p:txBody>
      </p:sp>
      <p:sp>
        <p:nvSpPr>
          <p:cNvPr id="6" name="object 6"/>
          <p:cNvSpPr/>
          <p:nvPr/>
        </p:nvSpPr>
        <p:spPr>
          <a:xfrm>
            <a:off x="523875" y="2247900"/>
            <a:ext cx="723900" cy="704850"/>
          </a:xfrm>
          <a:custGeom>
            <a:avLst/>
            <a:gdLst/>
            <a:ahLst/>
            <a:cxnLst/>
            <a:rect l="l" t="t" r="r" b="b"/>
            <a:pathLst>
              <a:path w="723900" h="704850">
                <a:moveTo>
                  <a:pt x="361911" y="0"/>
                </a:moveTo>
                <a:lnTo>
                  <a:pt x="308432" y="3810"/>
                </a:lnTo>
                <a:lnTo>
                  <a:pt x="257390" y="14859"/>
                </a:lnTo>
                <a:lnTo>
                  <a:pt x="209346" y="32765"/>
                </a:lnTo>
                <a:lnTo>
                  <a:pt x="164858" y="56769"/>
                </a:lnTo>
                <a:lnTo>
                  <a:pt x="124485" y="86360"/>
                </a:lnTo>
                <a:lnTo>
                  <a:pt x="88773" y="121158"/>
                </a:lnTo>
                <a:lnTo>
                  <a:pt x="58305" y="160527"/>
                </a:lnTo>
                <a:lnTo>
                  <a:pt x="33642" y="203835"/>
                </a:lnTo>
                <a:lnTo>
                  <a:pt x="15328" y="250571"/>
                </a:lnTo>
                <a:lnTo>
                  <a:pt x="3924" y="300227"/>
                </a:lnTo>
                <a:lnTo>
                  <a:pt x="0" y="352298"/>
                </a:lnTo>
                <a:lnTo>
                  <a:pt x="990" y="378587"/>
                </a:lnTo>
                <a:lnTo>
                  <a:pt x="8724" y="429513"/>
                </a:lnTo>
                <a:lnTo>
                  <a:pt x="23647" y="477900"/>
                </a:lnTo>
                <a:lnTo>
                  <a:pt x="45212" y="522986"/>
                </a:lnTo>
                <a:lnTo>
                  <a:pt x="72859" y="564388"/>
                </a:lnTo>
                <a:lnTo>
                  <a:pt x="106006" y="601472"/>
                </a:lnTo>
                <a:lnTo>
                  <a:pt x="144119" y="633729"/>
                </a:lnTo>
                <a:lnTo>
                  <a:pt x="186626" y="660653"/>
                </a:lnTo>
                <a:lnTo>
                  <a:pt x="232968" y="681609"/>
                </a:lnTo>
                <a:lnTo>
                  <a:pt x="282575" y="696087"/>
                </a:lnTo>
                <a:lnTo>
                  <a:pt x="334911" y="703707"/>
                </a:lnTo>
                <a:lnTo>
                  <a:pt x="361911" y="704596"/>
                </a:lnTo>
                <a:lnTo>
                  <a:pt x="388924" y="703707"/>
                </a:lnTo>
                <a:lnTo>
                  <a:pt x="441248" y="696087"/>
                </a:lnTo>
                <a:lnTo>
                  <a:pt x="490867" y="681609"/>
                </a:lnTo>
                <a:lnTo>
                  <a:pt x="537210" y="660653"/>
                </a:lnTo>
                <a:lnTo>
                  <a:pt x="579704" y="633729"/>
                </a:lnTo>
                <a:lnTo>
                  <a:pt x="617816" y="601472"/>
                </a:lnTo>
                <a:lnTo>
                  <a:pt x="650976" y="564388"/>
                </a:lnTo>
                <a:lnTo>
                  <a:pt x="678611" y="522986"/>
                </a:lnTo>
                <a:lnTo>
                  <a:pt x="700176" y="477900"/>
                </a:lnTo>
                <a:lnTo>
                  <a:pt x="715098" y="429513"/>
                </a:lnTo>
                <a:lnTo>
                  <a:pt x="722833" y="378587"/>
                </a:lnTo>
                <a:lnTo>
                  <a:pt x="723823" y="352298"/>
                </a:lnTo>
                <a:lnTo>
                  <a:pt x="722833" y="326009"/>
                </a:lnTo>
                <a:lnTo>
                  <a:pt x="715098" y="275082"/>
                </a:lnTo>
                <a:lnTo>
                  <a:pt x="700176" y="226822"/>
                </a:lnTo>
                <a:lnTo>
                  <a:pt x="678611" y="181610"/>
                </a:lnTo>
                <a:lnTo>
                  <a:pt x="650976" y="140335"/>
                </a:lnTo>
                <a:lnTo>
                  <a:pt x="617816" y="103250"/>
                </a:lnTo>
                <a:lnTo>
                  <a:pt x="579704" y="70865"/>
                </a:lnTo>
                <a:lnTo>
                  <a:pt x="537210" y="44069"/>
                </a:lnTo>
                <a:lnTo>
                  <a:pt x="490867" y="22987"/>
                </a:lnTo>
                <a:lnTo>
                  <a:pt x="441248" y="8509"/>
                </a:lnTo>
                <a:lnTo>
                  <a:pt x="388924" y="1015"/>
                </a:lnTo>
                <a:lnTo>
                  <a:pt x="361911" y="0"/>
                </a:lnTo>
                <a:close/>
              </a:path>
            </a:pathLst>
          </a:custGeom>
          <a:solidFill>
            <a:srgbClr val="7C45AD"/>
          </a:solidFill>
        </p:spPr>
        <p:txBody>
          <a:bodyPr wrap="square" lIns="0" tIns="0" rIns="0" bIns="0" rtlCol="0"/>
          <a:lstStyle/>
          <a:p>
            <a:endParaRPr/>
          </a:p>
        </p:txBody>
      </p:sp>
      <p:sp>
        <p:nvSpPr>
          <p:cNvPr id="7" name="object 7"/>
          <p:cNvSpPr/>
          <p:nvPr/>
        </p:nvSpPr>
        <p:spPr>
          <a:xfrm>
            <a:off x="523875" y="3248025"/>
            <a:ext cx="723900" cy="704850"/>
          </a:xfrm>
          <a:custGeom>
            <a:avLst/>
            <a:gdLst/>
            <a:ahLst/>
            <a:cxnLst/>
            <a:rect l="l" t="t" r="r" b="b"/>
            <a:pathLst>
              <a:path w="723900" h="704850">
                <a:moveTo>
                  <a:pt x="361911" y="0"/>
                </a:moveTo>
                <a:lnTo>
                  <a:pt x="308432" y="3810"/>
                </a:lnTo>
                <a:lnTo>
                  <a:pt x="257390" y="14859"/>
                </a:lnTo>
                <a:lnTo>
                  <a:pt x="209346" y="32765"/>
                </a:lnTo>
                <a:lnTo>
                  <a:pt x="164858" y="56769"/>
                </a:lnTo>
                <a:lnTo>
                  <a:pt x="124485" y="86360"/>
                </a:lnTo>
                <a:lnTo>
                  <a:pt x="88773" y="121158"/>
                </a:lnTo>
                <a:lnTo>
                  <a:pt x="58305" y="160527"/>
                </a:lnTo>
                <a:lnTo>
                  <a:pt x="33642" y="203835"/>
                </a:lnTo>
                <a:lnTo>
                  <a:pt x="15328" y="250571"/>
                </a:lnTo>
                <a:lnTo>
                  <a:pt x="3924" y="300227"/>
                </a:lnTo>
                <a:lnTo>
                  <a:pt x="0" y="352298"/>
                </a:lnTo>
                <a:lnTo>
                  <a:pt x="990" y="378587"/>
                </a:lnTo>
                <a:lnTo>
                  <a:pt x="8724" y="429513"/>
                </a:lnTo>
                <a:lnTo>
                  <a:pt x="23647" y="477900"/>
                </a:lnTo>
                <a:lnTo>
                  <a:pt x="45212" y="522986"/>
                </a:lnTo>
                <a:lnTo>
                  <a:pt x="72859" y="564388"/>
                </a:lnTo>
                <a:lnTo>
                  <a:pt x="106006" y="601472"/>
                </a:lnTo>
                <a:lnTo>
                  <a:pt x="144119" y="633730"/>
                </a:lnTo>
                <a:lnTo>
                  <a:pt x="186626" y="660654"/>
                </a:lnTo>
                <a:lnTo>
                  <a:pt x="232968" y="681608"/>
                </a:lnTo>
                <a:lnTo>
                  <a:pt x="282575" y="696087"/>
                </a:lnTo>
                <a:lnTo>
                  <a:pt x="334911" y="703707"/>
                </a:lnTo>
                <a:lnTo>
                  <a:pt x="361911" y="704595"/>
                </a:lnTo>
                <a:lnTo>
                  <a:pt x="388924" y="703707"/>
                </a:lnTo>
                <a:lnTo>
                  <a:pt x="441248" y="696087"/>
                </a:lnTo>
                <a:lnTo>
                  <a:pt x="490867" y="681608"/>
                </a:lnTo>
                <a:lnTo>
                  <a:pt x="537210" y="660654"/>
                </a:lnTo>
                <a:lnTo>
                  <a:pt x="579704" y="633730"/>
                </a:lnTo>
                <a:lnTo>
                  <a:pt x="617816" y="601472"/>
                </a:lnTo>
                <a:lnTo>
                  <a:pt x="650976" y="564388"/>
                </a:lnTo>
                <a:lnTo>
                  <a:pt x="678611" y="522986"/>
                </a:lnTo>
                <a:lnTo>
                  <a:pt x="700176" y="477900"/>
                </a:lnTo>
                <a:lnTo>
                  <a:pt x="715098" y="429513"/>
                </a:lnTo>
                <a:lnTo>
                  <a:pt x="722833" y="378587"/>
                </a:lnTo>
                <a:lnTo>
                  <a:pt x="723823" y="352298"/>
                </a:lnTo>
                <a:lnTo>
                  <a:pt x="722833" y="326009"/>
                </a:lnTo>
                <a:lnTo>
                  <a:pt x="715098" y="275082"/>
                </a:lnTo>
                <a:lnTo>
                  <a:pt x="700176" y="226822"/>
                </a:lnTo>
                <a:lnTo>
                  <a:pt x="678611" y="181610"/>
                </a:lnTo>
                <a:lnTo>
                  <a:pt x="650976" y="140335"/>
                </a:lnTo>
                <a:lnTo>
                  <a:pt x="617816" y="103250"/>
                </a:lnTo>
                <a:lnTo>
                  <a:pt x="579704" y="70865"/>
                </a:lnTo>
                <a:lnTo>
                  <a:pt x="537210" y="44069"/>
                </a:lnTo>
                <a:lnTo>
                  <a:pt x="490867" y="22987"/>
                </a:lnTo>
                <a:lnTo>
                  <a:pt x="441248" y="8509"/>
                </a:lnTo>
                <a:lnTo>
                  <a:pt x="388924" y="1015"/>
                </a:lnTo>
                <a:lnTo>
                  <a:pt x="361911" y="0"/>
                </a:lnTo>
                <a:close/>
              </a:path>
            </a:pathLst>
          </a:custGeom>
          <a:solidFill>
            <a:srgbClr val="7C45AD"/>
          </a:solidFill>
        </p:spPr>
        <p:txBody>
          <a:bodyPr wrap="square" lIns="0" tIns="0" rIns="0" bIns="0" rtlCol="0"/>
          <a:lstStyle/>
          <a:p>
            <a:endParaRPr/>
          </a:p>
        </p:txBody>
      </p:sp>
      <p:sp>
        <p:nvSpPr>
          <p:cNvPr id="8" name="object 8"/>
          <p:cNvSpPr/>
          <p:nvPr/>
        </p:nvSpPr>
        <p:spPr>
          <a:xfrm>
            <a:off x="523875" y="4248150"/>
            <a:ext cx="723900" cy="704850"/>
          </a:xfrm>
          <a:custGeom>
            <a:avLst/>
            <a:gdLst/>
            <a:ahLst/>
            <a:cxnLst/>
            <a:rect l="l" t="t" r="r" b="b"/>
            <a:pathLst>
              <a:path w="723900" h="704850">
                <a:moveTo>
                  <a:pt x="361911" y="0"/>
                </a:moveTo>
                <a:lnTo>
                  <a:pt x="308432" y="3810"/>
                </a:lnTo>
                <a:lnTo>
                  <a:pt x="257390" y="14858"/>
                </a:lnTo>
                <a:lnTo>
                  <a:pt x="209346" y="32766"/>
                </a:lnTo>
                <a:lnTo>
                  <a:pt x="164858" y="56768"/>
                </a:lnTo>
                <a:lnTo>
                  <a:pt x="124485" y="86360"/>
                </a:lnTo>
                <a:lnTo>
                  <a:pt x="88773" y="121157"/>
                </a:lnTo>
                <a:lnTo>
                  <a:pt x="58305" y="160527"/>
                </a:lnTo>
                <a:lnTo>
                  <a:pt x="33642" y="203835"/>
                </a:lnTo>
                <a:lnTo>
                  <a:pt x="15328" y="250570"/>
                </a:lnTo>
                <a:lnTo>
                  <a:pt x="3924" y="300227"/>
                </a:lnTo>
                <a:lnTo>
                  <a:pt x="0" y="352298"/>
                </a:lnTo>
                <a:lnTo>
                  <a:pt x="990" y="378587"/>
                </a:lnTo>
                <a:lnTo>
                  <a:pt x="8724" y="429513"/>
                </a:lnTo>
                <a:lnTo>
                  <a:pt x="23647" y="477900"/>
                </a:lnTo>
                <a:lnTo>
                  <a:pt x="45212" y="522986"/>
                </a:lnTo>
                <a:lnTo>
                  <a:pt x="72859" y="564388"/>
                </a:lnTo>
                <a:lnTo>
                  <a:pt x="106006" y="601472"/>
                </a:lnTo>
                <a:lnTo>
                  <a:pt x="144119" y="633730"/>
                </a:lnTo>
                <a:lnTo>
                  <a:pt x="186626" y="660654"/>
                </a:lnTo>
                <a:lnTo>
                  <a:pt x="232968" y="681608"/>
                </a:lnTo>
                <a:lnTo>
                  <a:pt x="282575" y="696087"/>
                </a:lnTo>
                <a:lnTo>
                  <a:pt x="334911" y="703707"/>
                </a:lnTo>
                <a:lnTo>
                  <a:pt x="361911" y="704595"/>
                </a:lnTo>
                <a:lnTo>
                  <a:pt x="388924" y="703707"/>
                </a:lnTo>
                <a:lnTo>
                  <a:pt x="441248" y="696087"/>
                </a:lnTo>
                <a:lnTo>
                  <a:pt x="490867" y="681608"/>
                </a:lnTo>
                <a:lnTo>
                  <a:pt x="537210" y="660654"/>
                </a:lnTo>
                <a:lnTo>
                  <a:pt x="579704" y="633730"/>
                </a:lnTo>
                <a:lnTo>
                  <a:pt x="617816" y="601472"/>
                </a:lnTo>
                <a:lnTo>
                  <a:pt x="650976" y="564388"/>
                </a:lnTo>
                <a:lnTo>
                  <a:pt x="678611" y="522986"/>
                </a:lnTo>
                <a:lnTo>
                  <a:pt x="700176" y="477900"/>
                </a:lnTo>
                <a:lnTo>
                  <a:pt x="715098" y="429513"/>
                </a:lnTo>
                <a:lnTo>
                  <a:pt x="722833" y="378587"/>
                </a:lnTo>
                <a:lnTo>
                  <a:pt x="723823" y="352298"/>
                </a:lnTo>
                <a:lnTo>
                  <a:pt x="722833" y="326008"/>
                </a:lnTo>
                <a:lnTo>
                  <a:pt x="715098" y="275081"/>
                </a:lnTo>
                <a:lnTo>
                  <a:pt x="700176" y="226822"/>
                </a:lnTo>
                <a:lnTo>
                  <a:pt x="678611" y="181610"/>
                </a:lnTo>
                <a:lnTo>
                  <a:pt x="650976" y="140335"/>
                </a:lnTo>
                <a:lnTo>
                  <a:pt x="617816" y="103250"/>
                </a:lnTo>
                <a:lnTo>
                  <a:pt x="579704" y="70866"/>
                </a:lnTo>
                <a:lnTo>
                  <a:pt x="537210" y="44068"/>
                </a:lnTo>
                <a:lnTo>
                  <a:pt x="490867" y="22987"/>
                </a:lnTo>
                <a:lnTo>
                  <a:pt x="441248" y="8508"/>
                </a:lnTo>
                <a:lnTo>
                  <a:pt x="388924" y="1016"/>
                </a:lnTo>
                <a:lnTo>
                  <a:pt x="361911" y="0"/>
                </a:lnTo>
                <a:close/>
              </a:path>
            </a:pathLst>
          </a:custGeom>
          <a:solidFill>
            <a:srgbClr val="7C45AD"/>
          </a:solidFill>
        </p:spPr>
        <p:txBody>
          <a:bodyPr wrap="square" lIns="0" tIns="0" rIns="0" bIns="0" rtlCol="0"/>
          <a:lstStyle/>
          <a:p>
            <a:endParaRPr/>
          </a:p>
        </p:txBody>
      </p:sp>
      <p:sp>
        <p:nvSpPr>
          <p:cNvPr id="9" name="object 9"/>
          <p:cNvSpPr txBox="1"/>
          <p:nvPr/>
        </p:nvSpPr>
        <p:spPr>
          <a:xfrm>
            <a:off x="1525905" y="2310130"/>
            <a:ext cx="3084830" cy="575310"/>
          </a:xfrm>
          <a:prstGeom prst="rect">
            <a:avLst/>
          </a:prstGeom>
        </p:spPr>
        <p:txBody>
          <a:bodyPr vert="horz" wrap="square" lIns="0" tIns="13335" rIns="0" bIns="0" rtlCol="0">
            <a:spAutoFit/>
          </a:bodyPr>
          <a:lstStyle/>
          <a:p>
            <a:pPr marL="12700">
              <a:lnSpc>
                <a:spcPct val="100000"/>
              </a:lnSpc>
              <a:spcBef>
                <a:spcPts val="105"/>
              </a:spcBef>
            </a:pPr>
            <a:r>
              <a:rPr sz="3600" b="1" spc="-25" dirty="0">
                <a:solidFill>
                  <a:srgbClr val="7C45AD"/>
                </a:solidFill>
                <a:latin typeface="Arial"/>
                <a:cs typeface="Arial"/>
              </a:rPr>
              <a:t>Specifications</a:t>
            </a:r>
            <a:endParaRPr sz="3600">
              <a:latin typeface="Arial"/>
              <a:cs typeface="Arial"/>
            </a:endParaRPr>
          </a:p>
        </p:txBody>
      </p:sp>
      <p:pic>
        <p:nvPicPr>
          <p:cNvPr id="10" name="object 10"/>
          <p:cNvPicPr/>
          <p:nvPr/>
        </p:nvPicPr>
        <p:blipFill>
          <a:blip r:embed="rId2" cstate="print"/>
          <a:stretch>
            <a:fillRect/>
          </a:stretch>
        </p:blipFill>
        <p:spPr>
          <a:xfrm>
            <a:off x="1533525" y="3181350"/>
            <a:ext cx="10010775" cy="828675"/>
          </a:xfrm>
          <a:prstGeom prst="rect">
            <a:avLst/>
          </a:prstGeom>
        </p:spPr>
      </p:pic>
      <p:pic>
        <p:nvPicPr>
          <p:cNvPr id="11" name="object 11"/>
          <p:cNvPicPr/>
          <p:nvPr/>
        </p:nvPicPr>
        <p:blipFill>
          <a:blip r:embed="rId2" cstate="print"/>
          <a:stretch>
            <a:fillRect/>
          </a:stretch>
        </p:blipFill>
        <p:spPr>
          <a:xfrm>
            <a:off x="1533525" y="4191000"/>
            <a:ext cx="10010775" cy="828675"/>
          </a:xfrm>
          <a:prstGeom prst="rect">
            <a:avLst/>
          </a:prstGeom>
        </p:spPr>
      </p:pic>
      <p:sp>
        <p:nvSpPr>
          <p:cNvPr id="12" name="object 12"/>
          <p:cNvSpPr txBox="1"/>
          <p:nvPr/>
        </p:nvSpPr>
        <p:spPr>
          <a:xfrm>
            <a:off x="1544955" y="4317110"/>
            <a:ext cx="5260340" cy="575310"/>
          </a:xfrm>
          <a:prstGeom prst="rect">
            <a:avLst/>
          </a:prstGeom>
        </p:spPr>
        <p:txBody>
          <a:bodyPr vert="horz" wrap="square" lIns="0" tIns="13335" rIns="0" bIns="0" rtlCol="0">
            <a:spAutoFit/>
          </a:bodyPr>
          <a:lstStyle/>
          <a:p>
            <a:pPr marL="12700">
              <a:lnSpc>
                <a:spcPct val="100000"/>
              </a:lnSpc>
              <a:spcBef>
                <a:spcPts val="105"/>
              </a:spcBef>
            </a:pPr>
            <a:r>
              <a:rPr sz="3600" b="1" dirty="0">
                <a:solidFill>
                  <a:srgbClr val="7C45AD"/>
                </a:solidFill>
                <a:latin typeface="Arial"/>
                <a:cs typeface="Arial"/>
              </a:rPr>
              <a:t>Low</a:t>
            </a:r>
            <a:r>
              <a:rPr sz="3600" b="1" spc="-60" dirty="0">
                <a:solidFill>
                  <a:srgbClr val="7C45AD"/>
                </a:solidFill>
                <a:latin typeface="Arial"/>
                <a:cs typeface="Arial"/>
              </a:rPr>
              <a:t> </a:t>
            </a:r>
            <a:r>
              <a:rPr sz="3600" b="1" dirty="0">
                <a:solidFill>
                  <a:srgbClr val="7C45AD"/>
                </a:solidFill>
                <a:latin typeface="Arial"/>
                <a:cs typeface="Arial"/>
              </a:rPr>
              <a:t>Level</a:t>
            </a:r>
            <a:r>
              <a:rPr sz="3600" b="1" spc="-40" dirty="0">
                <a:solidFill>
                  <a:srgbClr val="7C45AD"/>
                </a:solidFill>
                <a:latin typeface="Arial"/>
                <a:cs typeface="Arial"/>
              </a:rPr>
              <a:t> </a:t>
            </a:r>
            <a:r>
              <a:rPr sz="3600" b="1" dirty="0">
                <a:solidFill>
                  <a:srgbClr val="7C45AD"/>
                </a:solidFill>
                <a:latin typeface="Arial"/>
                <a:cs typeface="Arial"/>
              </a:rPr>
              <a:t>Block </a:t>
            </a:r>
            <a:r>
              <a:rPr sz="3600" b="1" spc="-10" dirty="0">
                <a:solidFill>
                  <a:srgbClr val="7C45AD"/>
                </a:solidFill>
                <a:latin typeface="Arial"/>
                <a:cs typeface="Arial"/>
              </a:rPr>
              <a:t>Design</a:t>
            </a:r>
            <a:endParaRPr sz="3600">
              <a:latin typeface="Arial"/>
              <a:cs typeface="Arial"/>
            </a:endParaRPr>
          </a:p>
        </p:txBody>
      </p:sp>
      <p:sp>
        <p:nvSpPr>
          <p:cNvPr id="13" name="object 13"/>
          <p:cNvSpPr/>
          <p:nvPr/>
        </p:nvSpPr>
        <p:spPr>
          <a:xfrm>
            <a:off x="552450" y="5267325"/>
            <a:ext cx="733425" cy="704850"/>
          </a:xfrm>
          <a:custGeom>
            <a:avLst/>
            <a:gdLst/>
            <a:ahLst/>
            <a:cxnLst/>
            <a:rect l="l" t="t" r="r" b="b"/>
            <a:pathLst>
              <a:path w="733425" h="704850">
                <a:moveTo>
                  <a:pt x="366674" y="0"/>
                </a:moveTo>
                <a:lnTo>
                  <a:pt x="312496" y="3809"/>
                </a:lnTo>
                <a:lnTo>
                  <a:pt x="260781" y="14859"/>
                </a:lnTo>
                <a:lnTo>
                  <a:pt x="212102" y="32765"/>
                </a:lnTo>
                <a:lnTo>
                  <a:pt x="167030" y="56768"/>
                </a:lnTo>
                <a:lnTo>
                  <a:pt x="126123" y="86359"/>
                </a:lnTo>
                <a:lnTo>
                  <a:pt x="89941" y="121158"/>
                </a:lnTo>
                <a:lnTo>
                  <a:pt x="59080" y="160528"/>
                </a:lnTo>
                <a:lnTo>
                  <a:pt x="34086" y="203834"/>
                </a:lnTo>
                <a:lnTo>
                  <a:pt x="15532" y="250571"/>
                </a:lnTo>
                <a:lnTo>
                  <a:pt x="3975" y="300228"/>
                </a:lnTo>
                <a:lnTo>
                  <a:pt x="0" y="352323"/>
                </a:lnTo>
                <a:lnTo>
                  <a:pt x="1003" y="378612"/>
                </a:lnTo>
                <a:lnTo>
                  <a:pt x="8839" y="429564"/>
                </a:lnTo>
                <a:lnTo>
                  <a:pt x="23964" y="477862"/>
                </a:lnTo>
                <a:lnTo>
                  <a:pt x="45808" y="522973"/>
                </a:lnTo>
                <a:lnTo>
                  <a:pt x="73812" y="564349"/>
                </a:lnTo>
                <a:lnTo>
                  <a:pt x="107403" y="601446"/>
                </a:lnTo>
                <a:lnTo>
                  <a:pt x="146011" y="633730"/>
                </a:lnTo>
                <a:lnTo>
                  <a:pt x="189077" y="660628"/>
                </a:lnTo>
                <a:lnTo>
                  <a:pt x="236029" y="681621"/>
                </a:lnTo>
                <a:lnTo>
                  <a:pt x="286296" y="696150"/>
                </a:lnTo>
                <a:lnTo>
                  <a:pt x="339318" y="703681"/>
                </a:lnTo>
                <a:lnTo>
                  <a:pt x="366674" y="704646"/>
                </a:lnTo>
                <a:lnTo>
                  <a:pt x="394042" y="703681"/>
                </a:lnTo>
                <a:lnTo>
                  <a:pt x="447052" y="696150"/>
                </a:lnTo>
                <a:lnTo>
                  <a:pt x="497319" y="681621"/>
                </a:lnTo>
                <a:lnTo>
                  <a:pt x="544271" y="660628"/>
                </a:lnTo>
                <a:lnTo>
                  <a:pt x="587336" y="633730"/>
                </a:lnTo>
                <a:lnTo>
                  <a:pt x="625944" y="601446"/>
                </a:lnTo>
                <a:lnTo>
                  <a:pt x="659536" y="564349"/>
                </a:lnTo>
                <a:lnTo>
                  <a:pt x="687539" y="522973"/>
                </a:lnTo>
                <a:lnTo>
                  <a:pt x="709383" y="477862"/>
                </a:lnTo>
                <a:lnTo>
                  <a:pt x="724535" y="429564"/>
                </a:lnTo>
                <a:lnTo>
                  <a:pt x="732409" y="378612"/>
                </a:lnTo>
                <a:lnTo>
                  <a:pt x="733297" y="352323"/>
                </a:lnTo>
                <a:lnTo>
                  <a:pt x="732409" y="326021"/>
                </a:lnTo>
                <a:lnTo>
                  <a:pt x="724535" y="275081"/>
                </a:lnTo>
                <a:lnTo>
                  <a:pt x="709383" y="226822"/>
                </a:lnTo>
                <a:lnTo>
                  <a:pt x="687539" y="181609"/>
                </a:lnTo>
                <a:lnTo>
                  <a:pt x="659536" y="140334"/>
                </a:lnTo>
                <a:lnTo>
                  <a:pt x="625944" y="103250"/>
                </a:lnTo>
                <a:lnTo>
                  <a:pt x="587336" y="70865"/>
                </a:lnTo>
                <a:lnTo>
                  <a:pt x="544271" y="44068"/>
                </a:lnTo>
                <a:lnTo>
                  <a:pt x="497319" y="22987"/>
                </a:lnTo>
                <a:lnTo>
                  <a:pt x="447052" y="8509"/>
                </a:lnTo>
                <a:lnTo>
                  <a:pt x="394042" y="1015"/>
                </a:lnTo>
                <a:lnTo>
                  <a:pt x="366674" y="0"/>
                </a:lnTo>
                <a:close/>
              </a:path>
            </a:pathLst>
          </a:custGeom>
          <a:solidFill>
            <a:srgbClr val="7C45AD"/>
          </a:solidFill>
        </p:spPr>
        <p:txBody>
          <a:bodyPr wrap="square" lIns="0" tIns="0" rIns="0" bIns="0" rtlCol="0"/>
          <a:lstStyle/>
          <a:p>
            <a:endParaRPr/>
          </a:p>
        </p:txBody>
      </p:sp>
      <p:sp>
        <p:nvSpPr>
          <p:cNvPr id="14" name="object 14"/>
          <p:cNvSpPr txBox="1"/>
          <p:nvPr/>
        </p:nvSpPr>
        <p:spPr>
          <a:xfrm>
            <a:off x="672147" y="1988883"/>
            <a:ext cx="439420" cy="4048760"/>
          </a:xfrm>
          <a:prstGeom prst="rect">
            <a:avLst/>
          </a:prstGeom>
        </p:spPr>
        <p:txBody>
          <a:bodyPr vert="horz" wrap="square" lIns="0" tIns="186690" rIns="0" bIns="0" rtlCol="0">
            <a:spAutoFit/>
          </a:bodyPr>
          <a:lstStyle/>
          <a:p>
            <a:pPr marL="21590">
              <a:lnSpc>
                <a:spcPct val="100000"/>
              </a:lnSpc>
              <a:spcBef>
                <a:spcPts val="1470"/>
              </a:spcBef>
            </a:pPr>
            <a:r>
              <a:rPr sz="5400" spc="-50" dirty="0">
                <a:solidFill>
                  <a:srgbClr val="FFFFFF"/>
                </a:solidFill>
                <a:latin typeface="Arial"/>
                <a:cs typeface="Arial"/>
              </a:rPr>
              <a:t>1</a:t>
            </a:r>
            <a:endParaRPr sz="5400">
              <a:latin typeface="Arial"/>
              <a:cs typeface="Arial"/>
            </a:endParaRPr>
          </a:p>
          <a:p>
            <a:pPr marL="21590">
              <a:lnSpc>
                <a:spcPct val="100000"/>
              </a:lnSpc>
              <a:spcBef>
                <a:spcPts val="1375"/>
              </a:spcBef>
            </a:pPr>
            <a:r>
              <a:rPr sz="5400" spc="-50" dirty="0">
                <a:solidFill>
                  <a:srgbClr val="FFFFFF"/>
                </a:solidFill>
                <a:latin typeface="Arial"/>
                <a:cs typeface="Arial"/>
              </a:rPr>
              <a:t>2</a:t>
            </a:r>
            <a:endParaRPr sz="5400">
              <a:latin typeface="Arial"/>
              <a:cs typeface="Arial"/>
            </a:endParaRPr>
          </a:p>
          <a:p>
            <a:pPr marL="12700">
              <a:lnSpc>
                <a:spcPct val="100000"/>
              </a:lnSpc>
              <a:spcBef>
                <a:spcPts val="1470"/>
              </a:spcBef>
            </a:pPr>
            <a:r>
              <a:rPr sz="5400" spc="-50" dirty="0">
                <a:solidFill>
                  <a:srgbClr val="FFFFFF"/>
                </a:solidFill>
                <a:latin typeface="Arial"/>
                <a:cs typeface="Arial"/>
              </a:rPr>
              <a:t>3</a:t>
            </a:r>
            <a:endParaRPr sz="5400">
              <a:latin typeface="Arial"/>
              <a:cs typeface="Arial"/>
            </a:endParaRPr>
          </a:p>
          <a:p>
            <a:pPr marL="44450">
              <a:lnSpc>
                <a:spcPct val="100000"/>
              </a:lnSpc>
              <a:spcBef>
                <a:spcPts val="1540"/>
              </a:spcBef>
            </a:pPr>
            <a:r>
              <a:rPr sz="5400" spc="-50" dirty="0">
                <a:solidFill>
                  <a:srgbClr val="FFFFFF"/>
                </a:solidFill>
                <a:latin typeface="Arial"/>
                <a:cs typeface="Arial"/>
              </a:rPr>
              <a:t>4</a:t>
            </a:r>
            <a:endParaRPr sz="5400">
              <a:latin typeface="Arial"/>
              <a:cs typeface="Arial"/>
            </a:endParaRPr>
          </a:p>
        </p:txBody>
      </p:sp>
      <p:pic>
        <p:nvPicPr>
          <p:cNvPr id="15" name="object 15"/>
          <p:cNvPicPr/>
          <p:nvPr/>
        </p:nvPicPr>
        <p:blipFill>
          <a:blip r:embed="rId2" cstate="print"/>
          <a:stretch>
            <a:fillRect/>
          </a:stretch>
        </p:blipFill>
        <p:spPr>
          <a:xfrm>
            <a:off x="1562100" y="5210175"/>
            <a:ext cx="10010775" cy="828675"/>
          </a:xfrm>
          <a:prstGeom prst="rect">
            <a:avLst/>
          </a:prstGeom>
        </p:spPr>
      </p:pic>
      <p:sp>
        <p:nvSpPr>
          <p:cNvPr id="16" name="object 16"/>
          <p:cNvSpPr txBox="1"/>
          <p:nvPr/>
        </p:nvSpPr>
        <p:spPr>
          <a:xfrm>
            <a:off x="1576705" y="5335587"/>
            <a:ext cx="7375525" cy="575310"/>
          </a:xfrm>
          <a:prstGeom prst="rect">
            <a:avLst/>
          </a:prstGeom>
        </p:spPr>
        <p:txBody>
          <a:bodyPr vert="horz" wrap="square" lIns="0" tIns="13335" rIns="0" bIns="0" rtlCol="0">
            <a:spAutoFit/>
          </a:bodyPr>
          <a:lstStyle/>
          <a:p>
            <a:pPr marL="12700">
              <a:lnSpc>
                <a:spcPct val="100000"/>
              </a:lnSpc>
              <a:spcBef>
                <a:spcPts val="105"/>
              </a:spcBef>
            </a:pPr>
            <a:r>
              <a:rPr sz="3600" b="1">
                <a:solidFill>
                  <a:srgbClr val="7C45AD"/>
                </a:solidFill>
                <a:latin typeface="Arial"/>
                <a:cs typeface="Arial"/>
              </a:rPr>
              <a:t>RTL</a:t>
            </a:r>
            <a:r>
              <a:rPr sz="3600" b="1" spc="-160">
                <a:solidFill>
                  <a:srgbClr val="7C45AD"/>
                </a:solidFill>
                <a:latin typeface="Arial"/>
                <a:cs typeface="Arial"/>
              </a:rPr>
              <a:t> </a:t>
            </a:r>
            <a:r>
              <a:rPr lang="en-US" sz="3600" b="1" spc="-10">
                <a:solidFill>
                  <a:srgbClr val="7C45AD"/>
                </a:solidFill>
                <a:latin typeface="Arial"/>
                <a:cs typeface="Arial"/>
              </a:rPr>
              <a:t>Verification</a:t>
            </a:r>
            <a:endParaRPr sz="3600">
              <a:latin typeface="Arial"/>
              <a:cs typeface="Arial"/>
            </a:endParaRPr>
          </a:p>
        </p:txBody>
      </p:sp>
      <p:sp>
        <p:nvSpPr>
          <p:cNvPr id="18" name="object 18"/>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19" name="object 1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a:t>
            </a:fld>
            <a:endParaRPr spc="-25" dirty="0"/>
          </a:p>
        </p:txBody>
      </p:sp>
      <p:sp>
        <p:nvSpPr>
          <p:cNvPr id="20" name="object 20"/>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17" name="object 17"/>
          <p:cNvSpPr txBox="1"/>
          <p:nvPr/>
        </p:nvSpPr>
        <p:spPr>
          <a:xfrm>
            <a:off x="1569085" y="3303904"/>
            <a:ext cx="5289550" cy="575310"/>
          </a:xfrm>
          <a:prstGeom prst="rect">
            <a:avLst/>
          </a:prstGeom>
        </p:spPr>
        <p:txBody>
          <a:bodyPr vert="horz" wrap="square" lIns="0" tIns="13335" rIns="0" bIns="0" rtlCol="0">
            <a:spAutoFit/>
          </a:bodyPr>
          <a:lstStyle/>
          <a:p>
            <a:pPr marL="12700">
              <a:lnSpc>
                <a:spcPct val="100000"/>
              </a:lnSpc>
              <a:spcBef>
                <a:spcPts val="105"/>
              </a:spcBef>
            </a:pPr>
            <a:r>
              <a:rPr sz="3600" b="1" dirty="0">
                <a:solidFill>
                  <a:srgbClr val="7C45AD"/>
                </a:solidFill>
                <a:latin typeface="Arial"/>
                <a:cs typeface="Arial"/>
              </a:rPr>
              <a:t>High</a:t>
            </a:r>
            <a:r>
              <a:rPr sz="3600" b="1" spc="-175" dirty="0">
                <a:solidFill>
                  <a:srgbClr val="7C45AD"/>
                </a:solidFill>
                <a:latin typeface="Arial"/>
                <a:cs typeface="Arial"/>
              </a:rPr>
              <a:t> </a:t>
            </a:r>
            <a:r>
              <a:rPr sz="3600" b="1" dirty="0">
                <a:solidFill>
                  <a:srgbClr val="7C45AD"/>
                </a:solidFill>
                <a:latin typeface="Arial"/>
                <a:cs typeface="Arial"/>
              </a:rPr>
              <a:t>Level</a:t>
            </a:r>
            <a:r>
              <a:rPr sz="3600" b="1" spc="-165" dirty="0">
                <a:solidFill>
                  <a:srgbClr val="7C45AD"/>
                </a:solidFill>
                <a:latin typeface="Arial"/>
                <a:cs typeface="Arial"/>
              </a:rPr>
              <a:t> </a:t>
            </a:r>
            <a:r>
              <a:rPr sz="3600" b="1" dirty="0">
                <a:solidFill>
                  <a:srgbClr val="7C45AD"/>
                </a:solidFill>
                <a:latin typeface="Arial"/>
                <a:cs typeface="Arial"/>
              </a:rPr>
              <a:t>Block</a:t>
            </a:r>
            <a:r>
              <a:rPr sz="3600" b="1" spc="-185" dirty="0">
                <a:solidFill>
                  <a:srgbClr val="7C45AD"/>
                </a:solidFill>
                <a:latin typeface="Arial"/>
                <a:cs typeface="Arial"/>
              </a:rPr>
              <a:t> </a:t>
            </a:r>
            <a:r>
              <a:rPr sz="3600" b="1" spc="-10" dirty="0">
                <a:solidFill>
                  <a:srgbClr val="7C45AD"/>
                </a:solidFill>
                <a:latin typeface="Arial"/>
                <a:cs typeface="Arial"/>
              </a:rPr>
              <a:t>Design</a:t>
            </a:r>
            <a:endParaRPr sz="36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a:t>
            </a:fld>
            <a:endParaRPr spc="-25" dirty="0"/>
          </a:p>
        </p:txBody>
      </p:sp>
      <p:sp>
        <p:nvSpPr>
          <p:cNvPr id="5" name="object 5"/>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a:t>
            </a:fld>
            <a:endParaRPr spc="-25" dirty="0"/>
          </a:p>
        </p:txBody>
      </p:sp>
      <p:sp>
        <p:nvSpPr>
          <p:cNvPr id="6" name="object 6"/>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7" name="object 3">
            <a:extLst>
              <a:ext uri="{FF2B5EF4-FFF2-40B4-BE49-F238E27FC236}">
                <a16:creationId xmlns:a16="http://schemas.microsoft.com/office/drawing/2014/main" id="{CA90AF8F-A1B1-B0EF-BD90-25C3457FA1F5}"/>
              </a:ext>
            </a:extLst>
          </p:cNvPr>
          <p:cNvSpPr txBox="1"/>
          <p:nvPr/>
        </p:nvSpPr>
        <p:spPr>
          <a:xfrm>
            <a:off x="457200" y="1121155"/>
            <a:ext cx="80260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a:t>
            </a:r>
            <a:r>
              <a:rPr sz="3000" b="1">
                <a:solidFill>
                  <a:srgbClr val="7C45AD"/>
                </a:solidFill>
                <a:latin typeface="Arial"/>
                <a:cs typeface="Arial"/>
              </a:rPr>
              <a:t>.1</a:t>
            </a:r>
            <a:r>
              <a:rPr lang="en-US" sz="3000" b="1">
                <a:solidFill>
                  <a:srgbClr val="7C45AD"/>
                </a:solidFill>
                <a:latin typeface="Arial"/>
                <a:cs typeface="Arial"/>
              </a:rPr>
              <a:t> Overview of the AMBA specification</a:t>
            </a:r>
          </a:p>
        </p:txBody>
      </p:sp>
      <p:sp>
        <p:nvSpPr>
          <p:cNvPr id="9" name="TextBox 8">
            <a:extLst>
              <a:ext uri="{FF2B5EF4-FFF2-40B4-BE49-F238E27FC236}">
                <a16:creationId xmlns:a16="http://schemas.microsoft.com/office/drawing/2014/main" id="{370CF898-9432-7BB6-6633-F407E9A3D23A}"/>
              </a:ext>
            </a:extLst>
          </p:cNvPr>
          <p:cNvSpPr txBox="1"/>
          <p:nvPr/>
        </p:nvSpPr>
        <p:spPr>
          <a:xfrm>
            <a:off x="508316" y="1905000"/>
            <a:ext cx="11033443" cy="646331"/>
          </a:xfrm>
          <a:prstGeom prst="rect">
            <a:avLst/>
          </a:prstGeom>
          <a:noFill/>
        </p:spPr>
        <p:txBody>
          <a:bodyPr wrap="square">
            <a:spAutoFit/>
          </a:bodyPr>
          <a:lstStyle/>
          <a:p>
            <a:pPr algn="just"/>
            <a:r>
              <a:rPr lang="en-US"/>
              <a:t>The Advanced Microcontroller Bus Architecture (AMBA) specification defines an on-chip communications standard for designing high-performance embedded microcontrollers. </a:t>
            </a:r>
          </a:p>
        </p:txBody>
      </p:sp>
      <p:sp>
        <p:nvSpPr>
          <p:cNvPr id="11" name="TextBox 10">
            <a:extLst>
              <a:ext uri="{FF2B5EF4-FFF2-40B4-BE49-F238E27FC236}">
                <a16:creationId xmlns:a16="http://schemas.microsoft.com/office/drawing/2014/main" id="{AE1AFCB2-CB93-363F-C556-64F9790378B6}"/>
              </a:ext>
            </a:extLst>
          </p:cNvPr>
          <p:cNvSpPr txBox="1"/>
          <p:nvPr/>
        </p:nvSpPr>
        <p:spPr>
          <a:xfrm>
            <a:off x="508315" y="2860046"/>
            <a:ext cx="11033443" cy="1477328"/>
          </a:xfrm>
          <a:prstGeom prst="rect">
            <a:avLst/>
          </a:prstGeom>
          <a:noFill/>
        </p:spPr>
        <p:txBody>
          <a:bodyPr wrap="square">
            <a:spAutoFit/>
          </a:bodyPr>
          <a:lstStyle/>
          <a:p>
            <a:r>
              <a:rPr lang="en-US"/>
              <a:t>Four distinct buses are defined within the AMBA specification: </a:t>
            </a:r>
          </a:p>
          <a:p>
            <a:pPr marL="285750" indent="-285750">
              <a:buFont typeface="Arial" panose="020B0604020202020204" pitchFamily="34" charset="0"/>
              <a:buChar char="•"/>
            </a:pPr>
            <a:r>
              <a:rPr lang="en-US"/>
              <a:t>The Advanced High-performance Bus (AHB) </a:t>
            </a:r>
          </a:p>
          <a:p>
            <a:pPr marL="285750" indent="-285750">
              <a:buFont typeface="Arial" panose="020B0604020202020204" pitchFamily="34" charset="0"/>
              <a:buChar char="•"/>
            </a:pPr>
            <a:r>
              <a:rPr lang="en-US"/>
              <a:t>The Advanced System Bus (ASB) </a:t>
            </a:r>
          </a:p>
          <a:p>
            <a:pPr marL="285750" indent="-285750">
              <a:buFont typeface="Arial" panose="020B0604020202020204" pitchFamily="34" charset="0"/>
              <a:buChar char="•"/>
            </a:pPr>
            <a:r>
              <a:rPr lang="en-US"/>
              <a:t>The Advanced Peripheral Bus (APB).</a:t>
            </a:r>
          </a:p>
          <a:p>
            <a:pPr marL="285750" indent="-285750">
              <a:buFont typeface="Arial" panose="020B0604020202020204" pitchFamily="34" charset="0"/>
              <a:buChar char="•"/>
            </a:pPr>
            <a:r>
              <a:rPr lang="en-US"/>
              <a:t>The Advanced eXtensible Interface (AXI)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882D64-296B-AE06-F3ED-A3F2DCA631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406709-AAAC-D022-4C7F-499D455EF52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5973D2DD-C4AE-ECBC-1339-AF01FB4C85C9}"/>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a:t>
            </a:fld>
            <a:endParaRPr spc="-25" dirty="0"/>
          </a:p>
        </p:txBody>
      </p:sp>
      <p:sp>
        <p:nvSpPr>
          <p:cNvPr id="6" name="object 6">
            <a:extLst>
              <a:ext uri="{FF2B5EF4-FFF2-40B4-BE49-F238E27FC236}">
                <a16:creationId xmlns:a16="http://schemas.microsoft.com/office/drawing/2014/main" id="{0D37DA53-6538-8EF1-6D4D-E6E6994C498D}"/>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CC2AF74A-0505-40E7-0992-BC4A047D838D}"/>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pic>
        <p:nvPicPr>
          <p:cNvPr id="7" name="Picture 6" descr="A diagram of a computer network&#10;&#10;AI-generated content may be incorrect.">
            <a:extLst>
              <a:ext uri="{FF2B5EF4-FFF2-40B4-BE49-F238E27FC236}">
                <a16:creationId xmlns:a16="http://schemas.microsoft.com/office/drawing/2014/main" id="{666DF2CB-F4DB-D5BA-07D7-4A9F73F0344E}"/>
              </a:ext>
            </a:extLst>
          </p:cNvPr>
          <p:cNvPicPr>
            <a:picLocks noChangeAspect="1"/>
          </p:cNvPicPr>
          <p:nvPr/>
        </p:nvPicPr>
        <p:blipFill>
          <a:blip r:embed="rId2"/>
          <a:stretch>
            <a:fillRect/>
          </a:stretch>
        </p:blipFill>
        <p:spPr>
          <a:xfrm>
            <a:off x="3354871" y="1731940"/>
            <a:ext cx="5482127" cy="2333550"/>
          </a:xfrm>
          <a:prstGeom prst="rect">
            <a:avLst/>
          </a:prstGeom>
        </p:spPr>
      </p:pic>
      <p:sp>
        <p:nvSpPr>
          <p:cNvPr id="10" name="object 3">
            <a:extLst>
              <a:ext uri="{FF2B5EF4-FFF2-40B4-BE49-F238E27FC236}">
                <a16:creationId xmlns:a16="http://schemas.microsoft.com/office/drawing/2014/main" id="{B7F44AE8-83E5-6CD3-DB7F-94A161121CFF}"/>
              </a:ext>
            </a:extLst>
          </p:cNvPr>
          <p:cNvSpPr txBox="1"/>
          <p:nvPr/>
        </p:nvSpPr>
        <p:spPr>
          <a:xfrm>
            <a:off x="457200" y="1121155"/>
            <a:ext cx="80260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a:t>
            </a:r>
            <a:r>
              <a:rPr sz="3000" b="1">
                <a:solidFill>
                  <a:srgbClr val="7C45AD"/>
                </a:solidFill>
                <a:latin typeface="Arial"/>
                <a:cs typeface="Arial"/>
              </a:rPr>
              <a:t>.1</a:t>
            </a:r>
            <a:r>
              <a:rPr lang="en-US" sz="3000" b="1">
                <a:solidFill>
                  <a:srgbClr val="7C45AD"/>
                </a:solidFill>
                <a:latin typeface="Arial"/>
                <a:cs typeface="Arial"/>
              </a:rPr>
              <a:t> Overview of the AMBA specification</a:t>
            </a:r>
          </a:p>
        </p:txBody>
      </p:sp>
      <p:graphicFrame>
        <p:nvGraphicFramePr>
          <p:cNvPr id="11" name="Table 10">
            <a:extLst>
              <a:ext uri="{FF2B5EF4-FFF2-40B4-BE49-F238E27FC236}">
                <a16:creationId xmlns:a16="http://schemas.microsoft.com/office/drawing/2014/main" id="{EF8FEA09-FD6B-2324-A111-EF7675A50F92}"/>
              </a:ext>
            </a:extLst>
          </p:cNvPr>
          <p:cNvGraphicFramePr>
            <a:graphicFrameLocks noGrp="1"/>
          </p:cNvGraphicFramePr>
          <p:nvPr>
            <p:extLst>
              <p:ext uri="{D42A27DB-BD31-4B8C-83A1-F6EECF244321}">
                <p14:modId xmlns:p14="http://schemas.microsoft.com/office/powerpoint/2010/main" val="3577031098"/>
              </p:ext>
            </p:extLst>
          </p:nvPr>
        </p:nvGraphicFramePr>
        <p:xfrm>
          <a:off x="820356" y="4173694"/>
          <a:ext cx="10551159" cy="2225040"/>
        </p:xfrm>
        <a:graphic>
          <a:graphicData uri="http://schemas.openxmlformats.org/drawingml/2006/table">
            <a:tbl>
              <a:tblPr firstRow="1" bandRow="1">
                <a:tableStyleId>{5C22544A-7EE6-4342-B048-85BDC9FD1C3A}</a:tableStyleId>
              </a:tblPr>
              <a:tblGrid>
                <a:gridCol w="3517053">
                  <a:extLst>
                    <a:ext uri="{9D8B030D-6E8A-4147-A177-3AD203B41FA5}">
                      <a16:colId xmlns:a16="http://schemas.microsoft.com/office/drawing/2014/main" val="1205175989"/>
                    </a:ext>
                  </a:extLst>
                </a:gridCol>
                <a:gridCol w="3517053">
                  <a:extLst>
                    <a:ext uri="{9D8B030D-6E8A-4147-A177-3AD203B41FA5}">
                      <a16:colId xmlns:a16="http://schemas.microsoft.com/office/drawing/2014/main" val="948741232"/>
                    </a:ext>
                  </a:extLst>
                </a:gridCol>
                <a:gridCol w="3517053">
                  <a:extLst>
                    <a:ext uri="{9D8B030D-6E8A-4147-A177-3AD203B41FA5}">
                      <a16:colId xmlns:a16="http://schemas.microsoft.com/office/drawing/2014/main" val="3842210722"/>
                    </a:ext>
                  </a:extLst>
                </a:gridCol>
              </a:tblGrid>
              <a:tr h="370840">
                <a:tc>
                  <a:txBody>
                    <a:bodyPr/>
                    <a:lstStyle/>
                    <a:p>
                      <a:pPr algn="ctr"/>
                      <a:r>
                        <a:rPr lang="en-US">
                          <a:solidFill>
                            <a:schemeClr val="bg1"/>
                          </a:solidFill>
                          <a:latin typeface="Arial" panose="020B0604020202020204" pitchFamily="34" charset="0"/>
                          <a:cs typeface="Arial" panose="020B0604020202020204" pitchFamily="34" charset="0"/>
                        </a:rPr>
                        <a:t>AMBA AHB</a:t>
                      </a:r>
                    </a:p>
                  </a:txBody>
                  <a:tcPr>
                    <a:solidFill>
                      <a:srgbClr val="7030A0"/>
                    </a:solidFill>
                  </a:tcPr>
                </a:tc>
                <a:tc>
                  <a:txBody>
                    <a:bodyPr/>
                    <a:lstStyle/>
                    <a:p>
                      <a:pPr algn="ctr"/>
                      <a:r>
                        <a:rPr lang="en-US">
                          <a:solidFill>
                            <a:schemeClr val="bg1"/>
                          </a:solidFill>
                          <a:latin typeface="Arial" panose="020B0604020202020204" pitchFamily="34" charset="0"/>
                          <a:cs typeface="Arial" panose="020B0604020202020204" pitchFamily="34" charset="0"/>
                        </a:rPr>
                        <a:t>AMBA ASB</a:t>
                      </a:r>
                    </a:p>
                  </a:txBody>
                  <a:tcPr>
                    <a:solidFill>
                      <a:srgbClr val="7030A0"/>
                    </a:solidFill>
                  </a:tcPr>
                </a:tc>
                <a:tc>
                  <a:txBody>
                    <a:bodyPr/>
                    <a:lstStyle/>
                    <a:p>
                      <a:pPr algn="ctr"/>
                      <a:r>
                        <a:rPr lang="en-US">
                          <a:solidFill>
                            <a:schemeClr val="bg1"/>
                          </a:solidFill>
                          <a:latin typeface="Arial" panose="020B0604020202020204" pitchFamily="34" charset="0"/>
                          <a:cs typeface="Arial" panose="020B0604020202020204" pitchFamily="34" charset="0"/>
                        </a:rPr>
                        <a:t>AMBA APB</a:t>
                      </a:r>
                    </a:p>
                  </a:txBody>
                  <a:tcPr>
                    <a:solidFill>
                      <a:srgbClr val="7030A0"/>
                    </a:solidFill>
                  </a:tcPr>
                </a:tc>
                <a:extLst>
                  <a:ext uri="{0D108BD9-81ED-4DB2-BD59-A6C34878D82A}">
                    <a16:rowId xmlns:a16="http://schemas.microsoft.com/office/drawing/2014/main" val="2965510425"/>
                  </a:ext>
                </a:extLst>
              </a:tr>
              <a:tr h="370840">
                <a:tc>
                  <a:txBody>
                    <a:bodyPr/>
                    <a:lstStyle/>
                    <a:p>
                      <a:r>
                        <a:rPr lang="en-US">
                          <a:latin typeface="Arial" panose="020B0604020202020204" pitchFamily="34" charset="0"/>
                          <a:cs typeface="Arial" panose="020B0604020202020204" pitchFamily="34" charset="0"/>
                        </a:rPr>
                        <a:t>High performance</a:t>
                      </a:r>
                    </a:p>
                  </a:txBody>
                  <a:tcPr/>
                </a:tc>
                <a:tc>
                  <a:txBody>
                    <a:bodyPr/>
                    <a:lstStyle/>
                    <a:p>
                      <a:r>
                        <a:rPr lang="en-US">
                          <a:latin typeface="Arial" panose="020B0604020202020204" pitchFamily="34" charset="0"/>
                          <a:cs typeface="Arial" panose="020B0604020202020204" pitchFamily="34" charset="0"/>
                        </a:rPr>
                        <a:t>High performance</a:t>
                      </a:r>
                    </a:p>
                  </a:txBody>
                  <a:tcPr/>
                </a:tc>
                <a:tc>
                  <a:txBody>
                    <a:bodyPr/>
                    <a:lstStyle/>
                    <a:p>
                      <a:r>
                        <a:rPr lang="en-US">
                          <a:latin typeface="Arial" panose="020B0604020202020204" pitchFamily="34" charset="0"/>
                          <a:cs typeface="Arial" panose="020B0604020202020204" pitchFamily="34" charset="0"/>
                        </a:rPr>
                        <a:t>Low power</a:t>
                      </a:r>
                    </a:p>
                  </a:txBody>
                  <a:tcPr/>
                </a:tc>
                <a:extLst>
                  <a:ext uri="{0D108BD9-81ED-4DB2-BD59-A6C34878D82A}">
                    <a16:rowId xmlns:a16="http://schemas.microsoft.com/office/drawing/2014/main" val="3700784814"/>
                  </a:ext>
                </a:extLst>
              </a:tr>
              <a:tr h="370840">
                <a:tc>
                  <a:txBody>
                    <a:bodyPr/>
                    <a:lstStyle/>
                    <a:p>
                      <a:r>
                        <a:rPr lang="en-US">
                          <a:latin typeface="Arial" panose="020B0604020202020204" pitchFamily="34" charset="0"/>
                          <a:cs typeface="Arial" panose="020B0604020202020204" pitchFamily="34" charset="0"/>
                        </a:rPr>
                        <a:t>Pipelined operation</a:t>
                      </a:r>
                    </a:p>
                  </a:txBody>
                  <a:tcPr/>
                </a:tc>
                <a:tc>
                  <a:txBody>
                    <a:bodyPr/>
                    <a:lstStyle/>
                    <a:p>
                      <a:r>
                        <a:rPr lang="en-US">
                          <a:latin typeface="Arial" panose="020B0604020202020204" pitchFamily="34" charset="0"/>
                          <a:cs typeface="Arial" panose="020B0604020202020204" pitchFamily="34" charset="0"/>
                        </a:rPr>
                        <a:t>Pipelined operation</a:t>
                      </a:r>
                    </a:p>
                  </a:txBody>
                  <a:tcPr/>
                </a:tc>
                <a:tc>
                  <a:txBody>
                    <a:bodyPr/>
                    <a:lstStyle/>
                    <a:p>
                      <a:r>
                        <a:rPr lang="en-US">
                          <a:latin typeface="Arial" panose="020B0604020202020204" pitchFamily="34" charset="0"/>
                          <a:cs typeface="Arial" panose="020B0604020202020204" pitchFamily="34" charset="0"/>
                        </a:rPr>
                        <a:t>Latched address and control</a:t>
                      </a:r>
                    </a:p>
                  </a:txBody>
                  <a:tcPr/>
                </a:tc>
                <a:extLst>
                  <a:ext uri="{0D108BD9-81ED-4DB2-BD59-A6C34878D82A}">
                    <a16:rowId xmlns:a16="http://schemas.microsoft.com/office/drawing/2014/main" val="2058006778"/>
                  </a:ext>
                </a:extLst>
              </a:tr>
              <a:tr h="370840">
                <a:tc>
                  <a:txBody>
                    <a:bodyPr/>
                    <a:lstStyle/>
                    <a:p>
                      <a:r>
                        <a:rPr lang="en-US">
                          <a:latin typeface="Arial" panose="020B0604020202020204" pitchFamily="34" charset="0"/>
                          <a:cs typeface="Arial" panose="020B0604020202020204" pitchFamily="34" charset="0"/>
                        </a:rPr>
                        <a:t>Multiple bus masters</a:t>
                      </a:r>
                    </a:p>
                  </a:txBody>
                  <a:tcPr/>
                </a:tc>
                <a:tc>
                  <a:txBody>
                    <a:bodyPr/>
                    <a:lstStyle/>
                    <a:p>
                      <a:r>
                        <a:rPr lang="en-US">
                          <a:latin typeface="Arial" panose="020B0604020202020204" pitchFamily="34" charset="0"/>
                          <a:cs typeface="Arial" panose="020B0604020202020204" pitchFamily="34" charset="0"/>
                        </a:rPr>
                        <a:t>Multiple bus masters</a:t>
                      </a:r>
                    </a:p>
                  </a:txBody>
                  <a:tcPr/>
                </a:tc>
                <a:tc>
                  <a:txBody>
                    <a:bodyPr/>
                    <a:lstStyle/>
                    <a:p>
                      <a:r>
                        <a:rPr lang="en-US">
                          <a:latin typeface="Arial" panose="020B0604020202020204" pitchFamily="34" charset="0"/>
                          <a:cs typeface="Arial" panose="020B0604020202020204" pitchFamily="34" charset="0"/>
                        </a:rPr>
                        <a:t>Simple interface</a:t>
                      </a:r>
                    </a:p>
                  </a:txBody>
                  <a:tcPr/>
                </a:tc>
                <a:extLst>
                  <a:ext uri="{0D108BD9-81ED-4DB2-BD59-A6C34878D82A}">
                    <a16:rowId xmlns:a16="http://schemas.microsoft.com/office/drawing/2014/main" val="302855955"/>
                  </a:ext>
                </a:extLst>
              </a:tr>
              <a:tr h="370840">
                <a:tc>
                  <a:txBody>
                    <a:bodyPr/>
                    <a:lstStyle/>
                    <a:p>
                      <a:r>
                        <a:rPr lang="en-US">
                          <a:latin typeface="Arial" panose="020B0604020202020204" pitchFamily="34" charset="0"/>
                          <a:cs typeface="Arial" panose="020B0604020202020204" pitchFamily="34" charset="0"/>
                        </a:rPr>
                        <a:t>Burst transfers</a:t>
                      </a: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r>
                        <a:rPr lang="en-US">
                          <a:latin typeface="Arial" panose="020B0604020202020204" pitchFamily="34" charset="0"/>
                          <a:cs typeface="Arial" panose="020B0604020202020204" pitchFamily="34" charset="0"/>
                        </a:rPr>
                        <a:t>Suitable for many peripherals</a:t>
                      </a:r>
                    </a:p>
                  </a:txBody>
                  <a:tcPr/>
                </a:tc>
                <a:extLst>
                  <a:ext uri="{0D108BD9-81ED-4DB2-BD59-A6C34878D82A}">
                    <a16:rowId xmlns:a16="http://schemas.microsoft.com/office/drawing/2014/main" val="2842609111"/>
                  </a:ext>
                </a:extLst>
              </a:tr>
              <a:tr h="370840">
                <a:tc>
                  <a:txBody>
                    <a:bodyPr/>
                    <a:lstStyle/>
                    <a:p>
                      <a:r>
                        <a:rPr lang="en-US">
                          <a:latin typeface="Arial" panose="020B0604020202020204" pitchFamily="34" charset="0"/>
                          <a:cs typeface="Arial" panose="020B0604020202020204" pitchFamily="34" charset="0"/>
                        </a:rPr>
                        <a:t>Split transactions</a:t>
                      </a: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93419668"/>
                  </a:ext>
                </a:extLst>
              </a:tr>
            </a:tbl>
          </a:graphicData>
        </a:graphic>
      </p:graphicFrame>
    </p:spTree>
    <p:extLst>
      <p:ext uri="{BB962C8B-B14F-4D97-AF65-F5344CB8AC3E}">
        <p14:creationId xmlns:p14="http://schemas.microsoft.com/office/powerpoint/2010/main" val="3677048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1786253-47BB-7673-7EB4-192BD2E93E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947DC8-A7DB-A658-973E-3AF4DA00859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FA55BEF-06C6-DEB0-1334-B092948F9F7C}"/>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a:t>
            </a:fld>
            <a:endParaRPr spc="-25" dirty="0"/>
          </a:p>
        </p:txBody>
      </p:sp>
      <p:sp>
        <p:nvSpPr>
          <p:cNvPr id="6" name="object 6">
            <a:extLst>
              <a:ext uri="{FF2B5EF4-FFF2-40B4-BE49-F238E27FC236}">
                <a16:creationId xmlns:a16="http://schemas.microsoft.com/office/drawing/2014/main" id="{66321DB0-A283-6FCA-D2CB-98F51F0D8FA4}"/>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3D0569AC-20A4-51BE-F3D8-D20BFB18EDE8}"/>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2C0267B7-7BB2-F54F-2E1B-C146C71E4EFC}"/>
              </a:ext>
            </a:extLst>
          </p:cNvPr>
          <p:cNvSpPr txBox="1"/>
          <p:nvPr/>
        </p:nvSpPr>
        <p:spPr>
          <a:xfrm>
            <a:off x="457200" y="1121155"/>
            <a:ext cx="10896600" cy="936795"/>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1.2 Key features of the AMBA Advanced Peripheral Bus (APB)</a:t>
            </a:r>
          </a:p>
        </p:txBody>
      </p:sp>
      <p:sp>
        <p:nvSpPr>
          <p:cNvPr id="11" name="TextBox 10">
            <a:extLst>
              <a:ext uri="{FF2B5EF4-FFF2-40B4-BE49-F238E27FC236}">
                <a16:creationId xmlns:a16="http://schemas.microsoft.com/office/drawing/2014/main" id="{16B9ADF1-5153-190E-207F-9AF90A0149BC}"/>
              </a:ext>
            </a:extLst>
          </p:cNvPr>
          <p:cNvSpPr txBox="1"/>
          <p:nvPr/>
        </p:nvSpPr>
        <p:spPr>
          <a:xfrm>
            <a:off x="457200" y="2448331"/>
            <a:ext cx="11039538" cy="646331"/>
          </a:xfrm>
          <a:prstGeom prst="rect">
            <a:avLst/>
          </a:prstGeom>
          <a:noFill/>
        </p:spPr>
        <p:txBody>
          <a:bodyPr wrap="square">
            <a:spAutoFit/>
          </a:bodyPr>
          <a:lstStyle/>
          <a:p>
            <a:pPr algn="just"/>
            <a:r>
              <a:rPr lang="en-US" b="1"/>
              <a:t>Low-cost interface: </a:t>
            </a:r>
            <a:r>
              <a:rPr lang="en-US"/>
              <a:t>APB is designed with a simple architecture that minimizes hardware resources and implementation cost.</a:t>
            </a:r>
          </a:p>
        </p:txBody>
      </p:sp>
      <p:sp>
        <p:nvSpPr>
          <p:cNvPr id="14" name="TextBox 13">
            <a:extLst>
              <a:ext uri="{FF2B5EF4-FFF2-40B4-BE49-F238E27FC236}">
                <a16:creationId xmlns:a16="http://schemas.microsoft.com/office/drawing/2014/main" id="{6F5AF708-94B5-BDA7-CDCC-8DF26A47E5E8}"/>
              </a:ext>
            </a:extLst>
          </p:cNvPr>
          <p:cNvSpPr txBox="1"/>
          <p:nvPr/>
        </p:nvSpPr>
        <p:spPr>
          <a:xfrm>
            <a:off x="457199" y="4480180"/>
            <a:ext cx="10991469" cy="369332"/>
          </a:xfrm>
          <a:prstGeom prst="rect">
            <a:avLst/>
          </a:prstGeom>
          <a:noFill/>
        </p:spPr>
        <p:txBody>
          <a:bodyPr wrap="square">
            <a:spAutoFit/>
          </a:bodyPr>
          <a:lstStyle/>
          <a:p>
            <a:pPr algn="just"/>
            <a:r>
              <a:rPr lang="en-US" b="1"/>
              <a:t>Non-pipelined operation: </a:t>
            </a:r>
            <a:r>
              <a:rPr lang="en-US"/>
              <a:t>Transfers are performed sequentially without overlapping phases.</a:t>
            </a:r>
          </a:p>
        </p:txBody>
      </p:sp>
      <p:sp>
        <p:nvSpPr>
          <p:cNvPr id="16" name="TextBox 15">
            <a:extLst>
              <a:ext uri="{FF2B5EF4-FFF2-40B4-BE49-F238E27FC236}">
                <a16:creationId xmlns:a16="http://schemas.microsoft.com/office/drawing/2014/main" id="{2C94EB7B-3133-A09D-4ED7-BCA30F57217A}"/>
              </a:ext>
            </a:extLst>
          </p:cNvPr>
          <p:cNvSpPr txBox="1"/>
          <p:nvPr/>
        </p:nvSpPr>
        <p:spPr>
          <a:xfrm>
            <a:off x="457200" y="3986251"/>
            <a:ext cx="10991469" cy="369332"/>
          </a:xfrm>
          <a:prstGeom prst="rect">
            <a:avLst/>
          </a:prstGeom>
          <a:noFill/>
        </p:spPr>
        <p:txBody>
          <a:bodyPr wrap="square">
            <a:spAutoFit/>
          </a:bodyPr>
          <a:lstStyle/>
          <a:p>
            <a:pPr algn="just"/>
            <a:r>
              <a:rPr lang="en-US" b="1"/>
              <a:t>Synchronous protocol: </a:t>
            </a:r>
            <a:r>
              <a:rPr lang="en-US"/>
              <a:t>All APB transactions are synchronized to the system clock.</a:t>
            </a:r>
          </a:p>
        </p:txBody>
      </p:sp>
      <p:sp>
        <p:nvSpPr>
          <p:cNvPr id="18" name="TextBox 17">
            <a:extLst>
              <a:ext uri="{FF2B5EF4-FFF2-40B4-BE49-F238E27FC236}">
                <a16:creationId xmlns:a16="http://schemas.microsoft.com/office/drawing/2014/main" id="{237AE57B-4DFF-A037-8807-6A394CE70525}"/>
              </a:ext>
            </a:extLst>
          </p:cNvPr>
          <p:cNvSpPr txBox="1"/>
          <p:nvPr/>
        </p:nvSpPr>
        <p:spPr>
          <a:xfrm>
            <a:off x="457200" y="3215323"/>
            <a:ext cx="11039537" cy="646331"/>
          </a:xfrm>
          <a:prstGeom prst="rect">
            <a:avLst/>
          </a:prstGeom>
          <a:noFill/>
        </p:spPr>
        <p:txBody>
          <a:bodyPr wrap="square">
            <a:spAutoFit/>
          </a:bodyPr>
          <a:lstStyle/>
          <a:p>
            <a:pPr algn="just"/>
            <a:r>
              <a:rPr lang="en-US" b="1"/>
              <a:t>Low power consumption: </a:t>
            </a:r>
            <a:r>
              <a:rPr lang="en-US"/>
              <a:t>The non-pipelined and simple transfer mechanism helps reduce power usage, making APB suitable for peripheral devices.</a:t>
            </a:r>
          </a:p>
        </p:txBody>
      </p:sp>
      <p:sp>
        <p:nvSpPr>
          <p:cNvPr id="20" name="TextBox 19">
            <a:extLst>
              <a:ext uri="{FF2B5EF4-FFF2-40B4-BE49-F238E27FC236}">
                <a16:creationId xmlns:a16="http://schemas.microsoft.com/office/drawing/2014/main" id="{B049E362-A72B-6985-8ED4-A3A7E2AE577B}"/>
              </a:ext>
            </a:extLst>
          </p:cNvPr>
          <p:cNvSpPr txBox="1"/>
          <p:nvPr/>
        </p:nvSpPr>
        <p:spPr>
          <a:xfrm>
            <a:off x="457199" y="4974109"/>
            <a:ext cx="10845483" cy="646331"/>
          </a:xfrm>
          <a:prstGeom prst="rect">
            <a:avLst/>
          </a:prstGeom>
          <a:noFill/>
        </p:spPr>
        <p:txBody>
          <a:bodyPr wrap="square">
            <a:spAutoFit/>
          </a:bodyPr>
          <a:lstStyle/>
          <a:p>
            <a:r>
              <a:rPr lang="en-US" b="1"/>
              <a:t>Low bandwidth, optimized for control register access</a:t>
            </a:r>
            <a:br>
              <a:rPr lang="en-US"/>
            </a:br>
            <a:r>
              <a:rPr lang="en-US"/>
              <a:t>APB is intended for accessing programmable control registers rather than high-throughput data transfers.</a:t>
            </a:r>
          </a:p>
        </p:txBody>
      </p:sp>
    </p:spTree>
    <p:extLst>
      <p:ext uri="{BB962C8B-B14F-4D97-AF65-F5344CB8AC3E}">
        <p14:creationId xmlns:p14="http://schemas.microsoft.com/office/powerpoint/2010/main" val="1607915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01E7DA4-7E0B-CDAB-C410-48E948CA15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523BC0-5974-6219-9A2A-A4116E284D4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6F012E1B-8592-4420-EFDB-E270C36EEA9E}"/>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a:t>
            </a:fld>
            <a:endParaRPr spc="-25" dirty="0"/>
          </a:p>
        </p:txBody>
      </p:sp>
      <p:sp>
        <p:nvSpPr>
          <p:cNvPr id="6" name="object 6">
            <a:extLst>
              <a:ext uri="{FF2B5EF4-FFF2-40B4-BE49-F238E27FC236}">
                <a16:creationId xmlns:a16="http://schemas.microsoft.com/office/drawing/2014/main" id="{B650AA2A-E55E-C99C-CF68-929A0EFE2D5B}"/>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E88A8688-CC09-6462-134A-92FF6A02A50C}"/>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922603F0-CF53-A40D-CDF1-9D6313228E08}"/>
              </a:ext>
            </a:extLst>
          </p:cNvPr>
          <p:cNvSpPr txBox="1"/>
          <p:nvPr/>
        </p:nvSpPr>
        <p:spPr>
          <a:xfrm>
            <a:off x="457200" y="1121155"/>
            <a:ext cx="10896600" cy="936795"/>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1.2 Key features of the AMBA Advanced Peripheral Bus (APB)</a:t>
            </a:r>
          </a:p>
        </p:txBody>
      </p:sp>
      <p:sp>
        <p:nvSpPr>
          <p:cNvPr id="10" name="TextBox 9">
            <a:extLst>
              <a:ext uri="{FF2B5EF4-FFF2-40B4-BE49-F238E27FC236}">
                <a16:creationId xmlns:a16="http://schemas.microsoft.com/office/drawing/2014/main" id="{FD973811-9A2A-9008-DD9D-2A27C7FF0385}"/>
              </a:ext>
            </a:extLst>
          </p:cNvPr>
          <p:cNvSpPr txBox="1"/>
          <p:nvPr/>
        </p:nvSpPr>
        <p:spPr>
          <a:xfrm>
            <a:off x="441961" y="2280319"/>
            <a:ext cx="10845483" cy="646331"/>
          </a:xfrm>
          <a:prstGeom prst="rect">
            <a:avLst/>
          </a:prstGeom>
          <a:noFill/>
        </p:spPr>
        <p:txBody>
          <a:bodyPr wrap="square">
            <a:spAutoFit/>
          </a:bodyPr>
          <a:lstStyle/>
          <a:p>
            <a:r>
              <a:rPr lang="en-US" b="1"/>
              <a:t>Designed for simple peripheral devices: </a:t>
            </a:r>
            <a:r>
              <a:rPr lang="en-US"/>
              <a:t>Commonly used for peripherals such as GPIO, Timers, UART, SPI, and I2C.</a:t>
            </a:r>
          </a:p>
        </p:txBody>
      </p:sp>
      <p:sp>
        <p:nvSpPr>
          <p:cNvPr id="12" name="TextBox 11">
            <a:extLst>
              <a:ext uri="{FF2B5EF4-FFF2-40B4-BE49-F238E27FC236}">
                <a16:creationId xmlns:a16="http://schemas.microsoft.com/office/drawing/2014/main" id="{3D64C4BB-72A0-B0FC-CA68-6D1DEB0C97E8}"/>
              </a:ext>
            </a:extLst>
          </p:cNvPr>
          <p:cNvSpPr txBox="1"/>
          <p:nvPr/>
        </p:nvSpPr>
        <p:spPr>
          <a:xfrm>
            <a:off x="457200" y="3028508"/>
            <a:ext cx="10845483" cy="646331"/>
          </a:xfrm>
          <a:prstGeom prst="rect">
            <a:avLst/>
          </a:prstGeom>
          <a:noFill/>
        </p:spPr>
        <p:txBody>
          <a:bodyPr wrap="square">
            <a:spAutoFit/>
          </a:bodyPr>
          <a:lstStyle/>
          <a:p>
            <a:r>
              <a:rPr lang="en-US" b="1"/>
              <a:t>Accessed through an APB bridge: </a:t>
            </a:r>
            <a:r>
              <a:rPr lang="en-US"/>
              <a:t>APB peripherals are typically connected to the main system bus through a bridge (e.g., AXI-to-APB bridge).</a:t>
            </a:r>
          </a:p>
        </p:txBody>
      </p:sp>
      <p:sp>
        <p:nvSpPr>
          <p:cNvPr id="14" name="TextBox 13">
            <a:extLst>
              <a:ext uri="{FF2B5EF4-FFF2-40B4-BE49-F238E27FC236}">
                <a16:creationId xmlns:a16="http://schemas.microsoft.com/office/drawing/2014/main" id="{6B77F043-0AF1-8D61-6A7C-F7C17C6E770A}"/>
              </a:ext>
            </a:extLst>
          </p:cNvPr>
          <p:cNvSpPr txBox="1"/>
          <p:nvPr/>
        </p:nvSpPr>
        <p:spPr>
          <a:xfrm>
            <a:off x="441960" y="3772732"/>
            <a:ext cx="10845483" cy="923330"/>
          </a:xfrm>
          <a:prstGeom prst="rect">
            <a:avLst/>
          </a:prstGeom>
          <a:noFill/>
        </p:spPr>
        <p:txBody>
          <a:bodyPr wrap="square">
            <a:spAutoFit/>
          </a:bodyPr>
          <a:lstStyle/>
          <a:p>
            <a:r>
              <a:rPr lang="en-US" b="1"/>
              <a:t>Clear Requester–Completer model: </a:t>
            </a:r>
          </a:p>
          <a:p>
            <a:pPr marL="285750" indent="-285750">
              <a:buFont typeface="Arial" panose="020B0604020202020204" pitchFamily="34" charset="0"/>
              <a:buChar char="•"/>
            </a:pPr>
            <a:r>
              <a:rPr lang="en-US"/>
              <a:t>The APB bridge acts as the Requester, initiating transactions.</a:t>
            </a:r>
          </a:p>
          <a:p>
            <a:pPr marL="285750" indent="-285750">
              <a:buFont typeface="Arial" panose="020B0604020202020204" pitchFamily="34" charset="0"/>
              <a:buChar char="•"/>
            </a:pPr>
            <a:r>
              <a:rPr lang="en-US"/>
              <a:t>The peripheral device acts as the Completer, responding to requests.</a:t>
            </a:r>
          </a:p>
        </p:txBody>
      </p:sp>
      <p:sp>
        <p:nvSpPr>
          <p:cNvPr id="16" name="TextBox 15">
            <a:extLst>
              <a:ext uri="{FF2B5EF4-FFF2-40B4-BE49-F238E27FC236}">
                <a16:creationId xmlns:a16="http://schemas.microsoft.com/office/drawing/2014/main" id="{1DBDB9A1-4280-C492-DA9A-3D11205D566C}"/>
              </a:ext>
            </a:extLst>
          </p:cNvPr>
          <p:cNvSpPr txBox="1"/>
          <p:nvPr/>
        </p:nvSpPr>
        <p:spPr>
          <a:xfrm>
            <a:off x="457200" y="4800051"/>
            <a:ext cx="10845482" cy="646331"/>
          </a:xfrm>
          <a:prstGeom prst="rect">
            <a:avLst/>
          </a:prstGeom>
          <a:noFill/>
        </p:spPr>
        <p:txBody>
          <a:bodyPr wrap="square">
            <a:spAutoFit/>
          </a:bodyPr>
          <a:lstStyle/>
          <a:p>
            <a:r>
              <a:rPr lang="en-US" b="1"/>
              <a:t>Well-suited for AMBA-based multi-bus systems: </a:t>
            </a:r>
            <a:r>
              <a:rPr lang="en-US"/>
              <a:t>APB integrates seamlessly with other AMBA buses such as AXI and AHB via bridges.</a:t>
            </a:r>
          </a:p>
        </p:txBody>
      </p:sp>
    </p:spTree>
    <p:extLst>
      <p:ext uri="{BB962C8B-B14F-4D97-AF65-F5344CB8AC3E}">
        <p14:creationId xmlns:p14="http://schemas.microsoft.com/office/powerpoint/2010/main" val="1902561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747103-6A17-9123-84C6-A348892484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46F9C3-7494-F075-A86D-35BD3A7E19EE}"/>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BAED7F4F-3B7F-8380-DC7B-22FC768ADCF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a:t>
            </a:fld>
            <a:endParaRPr spc="-25" dirty="0"/>
          </a:p>
        </p:txBody>
      </p:sp>
      <p:sp>
        <p:nvSpPr>
          <p:cNvPr id="6" name="object 6">
            <a:extLst>
              <a:ext uri="{FF2B5EF4-FFF2-40B4-BE49-F238E27FC236}">
                <a16:creationId xmlns:a16="http://schemas.microsoft.com/office/drawing/2014/main" id="{9C63AA79-7301-E7DD-6A98-0AF3D5781656}"/>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1E97B973-3ED0-541B-5662-0B7B9DF9EB31}"/>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28C111CD-3E8F-A2CA-198F-12D1D4248A7A}"/>
              </a:ext>
            </a:extLst>
          </p:cNvPr>
          <p:cNvSpPr txBox="1"/>
          <p:nvPr/>
        </p:nvSpPr>
        <p:spPr>
          <a:xfrm>
            <a:off x="457200" y="1121155"/>
            <a:ext cx="10896600" cy="936795"/>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1.2 Key features of the AMBA Advanced Peripheral Bus (APB)</a:t>
            </a:r>
          </a:p>
        </p:txBody>
      </p:sp>
      <p:pic>
        <p:nvPicPr>
          <p:cNvPr id="2050" name="Picture 2">
            <a:extLst>
              <a:ext uri="{FF2B5EF4-FFF2-40B4-BE49-F238E27FC236}">
                <a16:creationId xmlns:a16="http://schemas.microsoft.com/office/drawing/2014/main" id="{9439A7AF-7C1F-5090-CE38-4C48CF6C6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009" y="2382430"/>
            <a:ext cx="5238750" cy="3143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9721514-894E-32A7-90F6-4298B722C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956430"/>
            <a:ext cx="3733800" cy="199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252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756E88-6EDD-0257-5D83-DC3F1B0EEA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0826BE-5264-4524-E675-7D809FED653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65AE973B-74F3-3611-4844-A4C5E0DE5907}"/>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a:t>
            </a:fld>
            <a:endParaRPr spc="-25" dirty="0"/>
          </a:p>
        </p:txBody>
      </p:sp>
      <p:sp>
        <p:nvSpPr>
          <p:cNvPr id="6" name="object 6">
            <a:extLst>
              <a:ext uri="{FF2B5EF4-FFF2-40B4-BE49-F238E27FC236}">
                <a16:creationId xmlns:a16="http://schemas.microsoft.com/office/drawing/2014/main" id="{FF062086-A449-10EC-3815-640F13343080}"/>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2A86713C-F2B0-9BF2-DA10-AA9E69570A6F}"/>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E876C778-EE6A-16B7-71D3-439656D4F892}"/>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AMBA ABP signals</a:t>
            </a:r>
          </a:p>
        </p:txBody>
      </p:sp>
      <p:sp>
        <p:nvSpPr>
          <p:cNvPr id="10" name="TextBox 9">
            <a:extLst>
              <a:ext uri="{FF2B5EF4-FFF2-40B4-BE49-F238E27FC236}">
                <a16:creationId xmlns:a16="http://schemas.microsoft.com/office/drawing/2014/main" id="{D69F1E3F-9A65-A775-3F64-BF7EBE2CEBEF}"/>
              </a:ext>
            </a:extLst>
          </p:cNvPr>
          <p:cNvSpPr txBox="1"/>
          <p:nvPr/>
        </p:nvSpPr>
        <p:spPr>
          <a:xfrm>
            <a:off x="3048698" y="6117945"/>
            <a:ext cx="6094476"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Block Diagram &amp; Signal Description of APB</a:t>
            </a:r>
          </a:p>
        </p:txBody>
      </p:sp>
      <p:pic>
        <p:nvPicPr>
          <p:cNvPr id="1026" name="Picture 2">
            <a:extLst>
              <a:ext uri="{FF2B5EF4-FFF2-40B4-BE49-F238E27FC236}">
                <a16:creationId xmlns:a16="http://schemas.microsoft.com/office/drawing/2014/main" id="{75BFB7FB-4A18-7010-7702-F05283F951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6871" y="1656737"/>
            <a:ext cx="6238130" cy="4461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537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62E2F4-F156-20E2-A23C-6E2857B55A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33B424-C935-3EF5-5961-9FD4EA4BE0A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DF6C973-71F7-47A0-DC30-24D79FAD7CB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10</a:t>
            </a:fld>
            <a:endParaRPr spc="-25" dirty="0"/>
          </a:p>
        </p:txBody>
      </p:sp>
      <p:sp>
        <p:nvSpPr>
          <p:cNvPr id="6" name="object 6">
            <a:extLst>
              <a:ext uri="{FF2B5EF4-FFF2-40B4-BE49-F238E27FC236}">
                <a16:creationId xmlns:a16="http://schemas.microsoft.com/office/drawing/2014/main" id="{0CC7A37C-9016-C419-A149-364F24FB0826}"/>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A86FBCD9-CFCD-390B-7F27-C61FDD32840A}"/>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7D4253BF-250C-7DE3-63FD-B0D624A5B6EB}"/>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AMBA ABP signals</a:t>
            </a:r>
          </a:p>
        </p:txBody>
      </p:sp>
      <p:graphicFrame>
        <p:nvGraphicFramePr>
          <p:cNvPr id="7" name="Table 6">
            <a:extLst>
              <a:ext uri="{FF2B5EF4-FFF2-40B4-BE49-F238E27FC236}">
                <a16:creationId xmlns:a16="http://schemas.microsoft.com/office/drawing/2014/main" id="{0EEF7FC7-1F40-AF54-11BB-EB9C34D02B25}"/>
              </a:ext>
            </a:extLst>
          </p:cNvPr>
          <p:cNvGraphicFramePr>
            <a:graphicFrameLocks noGrp="1"/>
          </p:cNvGraphicFramePr>
          <p:nvPr>
            <p:extLst>
              <p:ext uri="{D42A27DB-BD31-4B8C-83A1-F6EECF244321}">
                <p14:modId xmlns:p14="http://schemas.microsoft.com/office/powerpoint/2010/main" val="4219473064"/>
              </p:ext>
            </p:extLst>
          </p:nvPr>
        </p:nvGraphicFramePr>
        <p:xfrm>
          <a:off x="508317" y="1837178"/>
          <a:ext cx="11033444" cy="388112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PCLK</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Clock Source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Clock. The rising edge of PCLK times all transfer on the APB</a:t>
                      </a:r>
                    </a:p>
                  </a:txBody>
                  <a:tcPr/>
                </a:tc>
                <a:extLst>
                  <a:ext uri="{0D108BD9-81ED-4DB2-BD59-A6C34878D82A}">
                    <a16:rowId xmlns:a16="http://schemas.microsoft.com/office/drawing/2014/main" val="2693422610"/>
                  </a:ext>
                </a:extLst>
              </a:tr>
              <a:tr h="370840">
                <a:tc>
                  <a:txBody>
                    <a:bodyPr/>
                    <a:lstStyle/>
                    <a:p>
                      <a:pPr algn="ctr"/>
                      <a:r>
                        <a:rPr lang="en-US" sz="1600">
                          <a:latin typeface="Arial" panose="020B0604020202020204" pitchFamily="34" charset="0"/>
                          <a:cs typeface="Arial" panose="020B0604020202020204" pitchFamily="34" charset="0"/>
                        </a:rPr>
                        <a:t>PRESETn</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Reset. The APB reset signal is active LOW. This signal is normally connected directly to the system bus reset signal.</a:t>
                      </a:r>
                    </a:p>
                  </a:txBody>
                  <a:tcPr/>
                </a:tc>
                <a:extLst>
                  <a:ext uri="{0D108BD9-81ED-4DB2-BD59-A6C34878D82A}">
                    <a16:rowId xmlns:a16="http://schemas.microsoft.com/office/drawing/2014/main" val="363023051"/>
                  </a:ext>
                </a:extLst>
              </a:tr>
              <a:tr h="370840">
                <a:tc>
                  <a:txBody>
                    <a:bodyPr/>
                    <a:lstStyle/>
                    <a:p>
                      <a:pPr algn="ctr"/>
                      <a:r>
                        <a:rPr lang="en-US" sz="1600">
                          <a:latin typeface="Arial" panose="020B0604020202020204" pitchFamily="34" charset="0"/>
                          <a:cs typeface="Arial" panose="020B0604020202020204" pitchFamily="34" charset="0"/>
                        </a:rPr>
                        <a:t>PADDR</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ADDR_WIDTH</a:t>
                      </a:r>
                    </a:p>
                  </a:txBody>
                  <a:tcPr/>
                </a:tc>
                <a:tc>
                  <a:txBody>
                    <a:bodyPr/>
                    <a:lstStyle/>
                    <a:p>
                      <a:pPr algn="just"/>
                      <a:r>
                        <a:rPr lang="en-US" sz="1600">
                          <a:latin typeface="Arial" panose="020B0604020202020204" pitchFamily="34" charset="0"/>
                          <a:cs typeface="Arial" panose="020B0604020202020204" pitchFamily="34" charset="0"/>
                        </a:rPr>
                        <a:t>Address. This is APB address bus. It can be up to 32 bits wide and is driven by the peripheral bus bridge unit.</a:t>
                      </a:r>
                    </a:p>
                  </a:txBody>
                  <a:tcPr/>
                </a:tc>
                <a:extLst>
                  <a:ext uri="{0D108BD9-81ED-4DB2-BD59-A6C34878D82A}">
                    <a16:rowId xmlns:a16="http://schemas.microsoft.com/office/drawing/2014/main" val="1648389343"/>
                  </a:ext>
                </a:extLst>
              </a:tr>
              <a:tr h="370840">
                <a:tc>
                  <a:txBody>
                    <a:bodyPr/>
                    <a:lstStyle/>
                    <a:p>
                      <a:pPr algn="ctr"/>
                      <a:r>
                        <a:rPr lang="en-US" sz="1600">
                          <a:latin typeface="Arial" panose="020B0604020202020204" pitchFamily="34" charset="0"/>
                          <a:cs typeface="Arial" panose="020B0604020202020204" pitchFamily="34" charset="0"/>
                        </a:rPr>
                        <a:t>PPROT</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3</a:t>
                      </a:r>
                    </a:p>
                  </a:txBody>
                  <a:tcPr/>
                </a:tc>
                <a:tc>
                  <a:txBody>
                    <a:bodyPr/>
                    <a:lstStyle/>
                    <a:p>
                      <a:pPr algn="just"/>
                      <a:r>
                        <a:rPr lang="en-US" sz="1600">
                          <a:latin typeface="Arial" panose="020B0604020202020204" pitchFamily="34" charset="0"/>
                          <a:cs typeface="Arial" panose="020B0604020202020204" pitchFamily="34" charset="0"/>
                        </a:rPr>
                        <a:t>Protection type. This signal indicates the normal, privileged, or secure protection level of the transaction and whether the transaction is a data access or an instruction access.</a:t>
                      </a:r>
                    </a:p>
                  </a:txBody>
                  <a:tcPr/>
                </a:tc>
                <a:extLst>
                  <a:ext uri="{0D108BD9-81ED-4DB2-BD59-A6C34878D82A}">
                    <a16:rowId xmlns:a16="http://schemas.microsoft.com/office/drawing/2014/main" val="3605326436"/>
                  </a:ext>
                </a:extLst>
              </a:tr>
              <a:tr h="370840">
                <a:tc>
                  <a:txBody>
                    <a:bodyPr/>
                    <a:lstStyle/>
                    <a:p>
                      <a:pPr algn="ctr"/>
                      <a:r>
                        <a:rPr lang="en-US" sz="1600">
                          <a:latin typeface="Arial" panose="020B0604020202020204" pitchFamily="34" charset="0"/>
                          <a:cs typeface="Arial" panose="020B0604020202020204" pitchFamily="34" charset="0"/>
                        </a:rPr>
                        <a:t>PSELx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a:solidFill>
                            <a:schemeClr val="dk1"/>
                          </a:solidFill>
                          <a:effectLst/>
                          <a:latin typeface="Arial" panose="020B0604020202020204" pitchFamily="34" charset="0"/>
                          <a:ea typeface="+mn-ea"/>
                          <a:cs typeface="Arial" panose="020B0604020202020204" pitchFamily="34" charset="0"/>
                        </a:rPr>
                        <a:t>Slave select signal, there will be one PSEL signal for each slave connected to master.</a:t>
                      </a:r>
                      <a:r>
                        <a:rPr lang="en-US" sz="1600">
                          <a:latin typeface="Arial" panose="020B0604020202020204" pitchFamily="34" charset="0"/>
                          <a:cs typeface="Arial" panose="020B0604020202020204" pitchFamily="34" charset="0"/>
                        </a:rPr>
                        <a:t>. It’s an active high signal. </a:t>
                      </a:r>
                      <a:endParaRPr lang="en-IN" sz="160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PENABLE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Enable. It indicates the 2</a:t>
                      </a:r>
                      <a:r>
                        <a:rPr lang="en-US" sz="1600" baseline="30000">
                          <a:latin typeface="Arial" panose="020B0604020202020204" pitchFamily="34" charset="0"/>
                          <a:cs typeface="Arial" panose="020B0604020202020204" pitchFamily="34" charset="0"/>
                        </a:rPr>
                        <a:t>nd</a:t>
                      </a:r>
                      <a:r>
                        <a:rPr lang="en-US" sz="1600">
                          <a:latin typeface="Arial" panose="020B0604020202020204" pitchFamily="34" charset="0"/>
                          <a:cs typeface="Arial" panose="020B0604020202020204" pitchFamily="34" charset="0"/>
                        </a:rPr>
                        <a:t> cycle of a data transfer. It’s an active high signal. </a:t>
                      </a:r>
                      <a:endParaRPr lang="en-IN" sz="160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0504135"/>
                  </a:ext>
                </a:extLst>
              </a:tr>
            </a:tbl>
          </a:graphicData>
        </a:graphic>
      </p:graphicFrame>
    </p:spTree>
    <p:extLst>
      <p:ext uri="{BB962C8B-B14F-4D97-AF65-F5344CB8AC3E}">
        <p14:creationId xmlns:p14="http://schemas.microsoft.com/office/powerpoint/2010/main" val="193198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A3CE4EB-5929-3210-5DFD-B9073063FE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2988452-65E6-FECE-CD15-F6358AC83D7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766A2FBB-B89F-0263-7DE2-2F0175DE84D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11</a:t>
            </a:fld>
            <a:endParaRPr spc="-25" dirty="0"/>
          </a:p>
        </p:txBody>
      </p:sp>
      <p:sp>
        <p:nvSpPr>
          <p:cNvPr id="6" name="object 6">
            <a:extLst>
              <a:ext uri="{FF2B5EF4-FFF2-40B4-BE49-F238E27FC236}">
                <a16:creationId xmlns:a16="http://schemas.microsoft.com/office/drawing/2014/main" id="{33A2FA04-4D07-FCA9-8396-86ADBA357030}"/>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3D854076-DAB2-DAC5-B931-2963C69D152A}"/>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39AEF0B1-57D7-48F2-9ADD-79E78416C246}"/>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AMBA ABP signals</a:t>
            </a:r>
          </a:p>
        </p:txBody>
      </p:sp>
      <p:graphicFrame>
        <p:nvGraphicFramePr>
          <p:cNvPr id="7" name="Table 6">
            <a:extLst>
              <a:ext uri="{FF2B5EF4-FFF2-40B4-BE49-F238E27FC236}">
                <a16:creationId xmlns:a16="http://schemas.microsoft.com/office/drawing/2014/main" id="{B5C71BB4-2DCD-839E-93FA-CCA2B1F9C8FA}"/>
              </a:ext>
            </a:extLst>
          </p:cNvPr>
          <p:cNvGraphicFramePr>
            <a:graphicFrameLocks noGrp="1"/>
          </p:cNvGraphicFramePr>
          <p:nvPr>
            <p:extLst>
              <p:ext uri="{D42A27DB-BD31-4B8C-83A1-F6EECF244321}">
                <p14:modId xmlns:p14="http://schemas.microsoft.com/office/powerpoint/2010/main" val="1441610703"/>
              </p:ext>
            </p:extLst>
          </p:nvPr>
        </p:nvGraphicFramePr>
        <p:xfrm>
          <a:off x="579214" y="1884540"/>
          <a:ext cx="11033444" cy="436880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PWRITE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r>
                        <a:rPr lang="en-US" sz="1600">
                          <a:latin typeface="Arial" panose="020B0604020202020204" pitchFamily="34" charset="0"/>
                          <a:cs typeface="Arial" panose="020B0604020202020204" pitchFamily="34" charset="0"/>
                        </a:rPr>
                        <a:t>Direction. PWRITE indicates an APB write access when HIGH and an APB read access when LOW.</a:t>
                      </a:r>
                    </a:p>
                  </a:txBody>
                  <a:tcPr/>
                </a:tc>
                <a:extLst>
                  <a:ext uri="{0D108BD9-81ED-4DB2-BD59-A6C34878D82A}">
                    <a16:rowId xmlns:a16="http://schemas.microsoft.com/office/drawing/2014/main" val="413109115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PWDATA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Arial" panose="020B0604020202020204" pitchFamily="34" charset="0"/>
                          <a:cs typeface="Arial" panose="020B0604020202020204" pitchFamily="34" charset="0"/>
                        </a:rPr>
                        <a:t>APB bridge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IN" sz="1600">
                          <a:solidFill>
                            <a:schemeClr val="tx1"/>
                          </a:solidFill>
                          <a:latin typeface="Arial" panose="020B0604020202020204" pitchFamily="34" charset="0"/>
                          <a:cs typeface="Arial" panose="020B0604020202020204" pitchFamily="34" charset="0"/>
                        </a:rPr>
                        <a:t>Write data. </a:t>
                      </a:r>
                      <a:r>
                        <a:rPr lang="en-US" sz="1600" b="0" i="0">
                          <a:solidFill>
                            <a:schemeClr val="dk1"/>
                          </a:solidFill>
                          <a:effectLst/>
                          <a:latin typeface="Arial" panose="020B0604020202020204" pitchFamily="34" charset="0"/>
                          <a:ea typeface="+mn-ea"/>
                          <a:cs typeface="Arial" panose="020B0604020202020204" pitchFamily="34" charset="0"/>
                        </a:rPr>
                        <a:t>Write data bus from Master to Slave,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PSTRB</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DATA_WIDTH/8</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Write strobe. PSTRB indicates which byte lanes to update during a write transfer. There is one write strobe for each 8 bits of the write data bus. PSTRB[n] corresponds to PWDATA[(8n + 7):(8n)]. PSTRB must not be active during a read transfer.</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PREADY</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It is used by the slave to include wait states in the transfer. i.e. whenever slave is not ready to complete the transaction, it will request the master for some time by de-asserting the PREADY.</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PSLVERR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Indicates the Success or failure of the transfer. HIGH indicates failure and LOW indicates Success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PRDATA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Read data us from Slave to Master,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Tree>
    <p:extLst>
      <p:ext uri="{BB962C8B-B14F-4D97-AF65-F5344CB8AC3E}">
        <p14:creationId xmlns:p14="http://schemas.microsoft.com/office/powerpoint/2010/main" val="1701639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12190B-2F6F-72E7-3F18-C3336A0FC3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5E3BCA9-DEA2-7C44-58AB-DBF0FF45C7E7}"/>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1D177D9-47FB-441C-C1A6-D962E330B5F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12</a:t>
            </a:fld>
            <a:endParaRPr spc="-25" dirty="0"/>
          </a:p>
        </p:txBody>
      </p:sp>
      <p:sp>
        <p:nvSpPr>
          <p:cNvPr id="6" name="object 6">
            <a:extLst>
              <a:ext uri="{FF2B5EF4-FFF2-40B4-BE49-F238E27FC236}">
                <a16:creationId xmlns:a16="http://schemas.microsoft.com/office/drawing/2014/main" id="{D9C5477C-FC30-E6C8-0CB0-F5B04E672832}"/>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670A9512-A778-4772-EAE5-CCEF00DC3DEA}"/>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5D7C0D84-A737-7738-8B8A-393FE89F15AB}"/>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Write transfers</a:t>
            </a:r>
          </a:p>
        </p:txBody>
      </p:sp>
      <p:pic>
        <p:nvPicPr>
          <p:cNvPr id="8" name="Picture 7" descr="A diagram of a computer program&#10;&#10;AI-generated content may be incorrect.">
            <a:extLst>
              <a:ext uri="{FF2B5EF4-FFF2-40B4-BE49-F238E27FC236}">
                <a16:creationId xmlns:a16="http://schemas.microsoft.com/office/drawing/2014/main" id="{9E832978-0B3C-5343-0930-7540C02FE289}"/>
              </a:ext>
            </a:extLst>
          </p:cNvPr>
          <p:cNvPicPr>
            <a:picLocks noChangeAspect="1"/>
          </p:cNvPicPr>
          <p:nvPr/>
        </p:nvPicPr>
        <p:blipFill>
          <a:blip r:embed="rId2"/>
          <a:stretch>
            <a:fillRect/>
          </a:stretch>
        </p:blipFill>
        <p:spPr>
          <a:xfrm>
            <a:off x="6791123" y="2544030"/>
            <a:ext cx="5272783" cy="3192815"/>
          </a:xfrm>
          <a:prstGeom prst="rect">
            <a:avLst/>
          </a:prstGeom>
        </p:spPr>
      </p:pic>
      <p:sp>
        <p:nvSpPr>
          <p:cNvPr id="10" name="TextBox 9">
            <a:extLst>
              <a:ext uri="{FF2B5EF4-FFF2-40B4-BE49-F238E27FC236}">
                <a16:creationId xmlns:a16="http://schemas.microsoft.com/office/drawing/2014/main" id="{4DC855C2-91B7-B770-419B-8279C7BF3828}"/>
              </a:ext>
            </a:extLst>
          </p:cNvPr>
          <p:cNvSpPr txBox="1"/>
          <p:nvPr/>
        </p:nvSpPr>
        <p:spPr>
          <a:xfrm>
            <a:off x="508317" y="1661817"/>
            <a:ext cx="4343400" cy="369332"/>
          </a:xfrm>
          <a:prstGeom prst="rect">
            <a:avLst/>
          </a:prstGeom>
          <a:noFill/>
        </p:spPr>
        <p:txBody>
          <a:bodyPr wrap="square">
            <a:spAutoFit/>
          </a:bodyPr>
          <a:lstStyle/>
          <a:p>
            <a:r>
              <a:rPr lang="en-US" b="1"/>
              <a:t>WRITE Transfer – Without Wait States</a:t>
            </a:r>
          </a:p>
        </p:txBody>
      </p:sp>
      <p:sp>
        <p:nvSpPr>
          <p:cNvPr id="12" name="TextBox 11">
            <a:extLst>
              <a:ext uri="{FF2B5EF4-FFF2-40B4-BE49-F238E27FC236}">
                <a16:creationId xmlns:a16="http://schemas.microsoft.com/office/drawing/2014/main" id="{FFCF357B-8BCD-B34C-323C-66E211741B7B}"/>
              </a:ext>
            </a:extLst>
          </p:cNvPr>
          <p:cNvSpPr txBox="1"/>
          <p:nvPr/>
        </p:nvSpPr>
        <p:spPr>
          <a:xfrm>
            <a:off x="438912" y="2141362"/>
            <a:ext cx="6373493" cy="4524315"/>
          </a:xfrm>
          <a:prstGeom prst="rect">
            <a:avLst/>
          </a:prstGeom>
          <a:noFill/>
        </p:spPr>
        <p:txBody>
          <a:bodyPr wrap="square">
            <a:spAutoFit/>
          </a:bodyPr>
          <a:lstStyle/>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At T1, a write transfer with address </a:t>
            </a:r>
            <a:r>
              <a:rPr lang="en-US" b="1" i="0">
                <a:solidFill>
                  <a:srgbClr val="222222"/>
                </a:solidFill>
                <a:effectLst/>
                <a:latin typeface="Arial" panose="020B0604020202020204" pitchFamily="34" charset="0"/>
                <a:cs typeface="Arial" panose="020B0604020202020204" pitchFamily="34" charset="0"/>
              </a:rPr>
              <a:t>PADDR,PWDATA,PWRITE and PSEL </a:t>
            </a:r>
            <a:r>
              <a:rPr lang="en-US" b="0" i="0">
                <a:solidFill>
                  <a:srgbClr val="222222"/>
                </a:solidFill>
                <a:effectLst/>
                <a:latin typeface="Arial" panose="020B0604020202020204" pitchFamily="34" charset="0"/>
                <a:cs typeface="Arial" panose="020B0604020202020204" pitchFamily="34" charset="0"/>
              </a:rPr>
              <a:t>starts.</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They will registered at the next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 T2.</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This is Setup Phase of Transfer.</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After T2,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and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are registered at the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When asserted,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indicates starting of ACCESS Phase</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When asserted,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indicates that slave can complete the transfer at the next rising edige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a:t>
            </a:r>
          </a:p>
          <a:p>
            <a:pPr marL="285750" indent="-285750" algn="l">
              <a:buFont typeface="Arial" panose="020B0604020202020204" pitchFamily="34" charset="0"/>
              <a:buChar char="•"/>
            </a:pPr>
            <a:r>
              <a:rPr lang="en-US" b="1" i="0">
                <a:solidFill>
                  <a:srgbClr val="222222"/>
                </a:solidFill>
                <a:effectLst/>
                <a:latin typeface="Arial" panose="020B0604020202020204" pitchFamily="34" charset="0"/>
                <a:cs typeface="Arial" panose="020B0604020202020204" pitchFamily="34" charset="0"/>
              </a:rPr>
              <a:t>PADDR, PDATA </a:t>
            </a:r>
            <a:r>
              <a:rPr lang="en-US" b="0" i="0">
                <a:solidFill>
                  <a:srgbClr val="222222"/>
                </a:solidFill>
                <a:effectLst/>
                <a:latin typeface="Arial" panose="020B0604020202020204" pitchFamily="34" charset="0"/>
                <a:cs typeface="Arial" panose="020B0604020202020204" pitchFamily="34" charset="0"/>
              </a:rPr>
              <a:t>and control signals all should remain valid till the transfer completes at T3.</a:t>
            </a:r>
          </a:p>
          <a:p>
            <a:pPr marL="285750" indent="-285750" algn="l">
              <a:buFont typeface="Arial" panose="020B0604020202020204" pitchFamily="34" charset="0"/>
              <a:buChar char="•"/>
            </a:pP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signal will be de-asserted at the end of transfer.</a:t>
            </a:r>
          </a:p>
          <a:p>
            <a:pPr marL="285750" indent="-285750" algn="l">
              <a:buFont typeface="Arial" panose="020B0604020202020204" pitchFamily="34" charset="0"/>
              <a:buChar char="•"/>
            </a:pPr>
            <a:r>
              <a:rPr lang="en-US" b="1" i="0">
                <a:solidFill>
                  <a:srgbClr val="222222"/>
                </a:solidFill>
                <a:effectLst/>
                <a:latin typeface="Arial" panose="020B0604020202020204" pitchFamily="34" charset="0"/>
                <a:cs typeface="Arial" panose="020B0604020202020204" pitchFamily="34" charset="0"/>
              </a:rPr>
              <a:t>PSEL</a:t>
            </a:r>
            <a:r>
              <a:rPr lang="en-US" b="0" i="0">
                <a:solidFill>
                  <a:srgbClr val="222222"/>
                </a:solidFill>
                <a:effectLst/>
                <a:latin typeface="Arial" panose="020B0604020202020204" pitchFamily="34" charset="0"/>
                <a:cs typeface="Arial" panose="020B0604020202020204" pitchFamily="34" charset="0"/>
              </a:rPr>
              <a:t> is also de-asserted, if next transfer is not to the same slave.</a:t>
            </a:r>
          </a:p>
        </p:txBody>
      </p:sp>
    </p:spTree>
    <p:extLst>
      <p:ext uri="{BB962C8B-B14F-4D97-AF65-F5344CB8AC3E}">
        <p14:creationId xmlns:p14="http://schemas.microsoft.com/office/powerpoint/2010/main" val="1472838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08AF2E-40F9-2201-E467-D6C0201C92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FEF4D6A-9DA7-9557-7A15-52742D0688E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0208295F-CE53-1903-9667-24EA94E4C90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13</a:t>
            </a:fld>
            <a:endParaRPr spc="-25" dirty="0"/>
          </a:p>
        </p:txBody>
      </p:sp>
      <p:sp>
        <p:nvSpPr>
          <p:cNvPr id="6" name="object 6">
            <a:extLst>
              <a:ext uri="{FF2B5EF4-FFF2-40B4-BE49-F238E27FC236}">
                <a16:creationId xmlns:a16="http://schemas.microsoft.com/office/drawing/2014/main" id="{58FA83A0-8F9E-EE8B-08F9-E027AD8AE0F4}"/>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0758A185-44F3-86BA-C90E-2082FD52AD45}"/>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76D206C8-2921-0718-5869-A252AE9EA325}"/>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Write transfers</a:t>
            </a:r>
          </a:p>
        </p:txBody>
      </p:sp>
      <p:sp>
        <p:nvSpPr>
          <p:cNvPr id="8" name="TextBox 7">
            <a:extLst>
              <a:ext uri="{FF2B5EF4-FFF2-40B4-BE49-F238E27FC236}">
                <a16:creationId xmlns:a16="http://schemas.microsoft.com/office/drawing/2014/main" id="{E7887106-65C3-3879-F237-2BEC52FE683B}"/>
              </a:ext>
            </a:extLst>
          </p:cNvPr>
          <p:cNvSpPr txBox="1"/>
          <p:nvPr/>
        </p:nvSpPr>
        <p:spPr>
          <a:xfrm>
            <a:off x="457200" y="2389181"/>
            <a:ext cx="5334000" cy="3416320"/>
          </a:xfrm>
          <a:prstGeom prst="rect">
            <a:avLst/>
          </a:prstGeom>
          <a:noFill/>
        </p:spPr>
        <p:txBody>
          <a:bodyPr wrap="square">
            <a:spAutoFit/>
          </a:bodyPr>
          <a:lstStyle/>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During the ACCESS Phase, when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is high, the slave extends the transfer by driving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low.</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The </a:t>
            </a:r>
            <a:r>
              <a:rPr lang="en-US" b="1" i="0">
                <a:solidFill>
                  <a:srgbClr val="222222"/>
                </a:solidFill>
                <a:effectLst/>
                <a:latin typeface="Arial" panose="020B0604020202020204" pitchFamily="34" charset="0"/>
                <a:cs typeface="Arial" panose="020B0604020202020204" pitchFamily="34" charset="0"/>
              </a:rPr>
              <a:t>PADDR, PWRITE, PSEL, PENABLE, PWDATA, PSTRB, PPROT </a:t>
            </a:r>
            <a:r>
              <a:rPr lang="en-US" b="0" i="0">
                <a:solidFill>
                  <a:srgbClr val="222222"/>
                </a:solidFill>
                <a:effectLst/>
                <a:latin typeface="Arial" panose="020B0604020202020204" pitchFamily="34" charset="0"/>
                <a:cs typeface="Arial" panose="020B0604020202020204" pitchFamily="34" charset="0"/>
              </a:rPr>
              <a:t>signals should remain unchanged while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is low</a:t>
            </a:r>
          </a:p>
          <a:p>
            <a:pPr marL="285750" indent="-285750" algn="l">
              <a:buFont typeface="Arial" panose="020B0604020202020204" pitchFamily="34" charset="0"/>
              <a:buChar char="•"/>
            </a:pP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can take any value when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is low.</a:t>
            </a:r>
          </a:p>
          <a:p>
            <a:pPr marL="285750" indent="-285750"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It is recommended that the address and write signals are not changed immediately after a transfer, but remain stable until another access occurs.</a:t>
            </a:r>
          </a:p>
        </p:txBody>
      </p:sp>
      <p:sp>
        <p:nvSpPr>
          <p:cNvPr id="9" name="TextBox 8">
            <a:extLst>
              <a:ext uri="{FF2B5EF4-FFF2-40B4-BE49-F238E27FC236}">
                <a16:creationId xmlns:a16="http://schemas.microsoft.com/office/drawing/2014/main" id="{4411A5C5-260B-F88C-83FC-7D0ECC5D975B}"/>
              </a:ext>
            </a:extLst>
          </p:cNvPr>
          <p:cNvSpPr txBox="1"/>
          <p:nvPr/>
        </p:nvSpPr>
        <p:spPr>
          <a:xfrm>
            <a:off x="508317" y="1661817"/>
            <a:ext cx="4343400" cy="369332"/>
          </a:xfrm>
          <a:prstGeom prst="rect">
            <a:avLst/>
          </a:prstGeom>
          <a:noFill/>
        </p:spPr>
        <p:txBody>
          <a:bodyPr wrap="square">
            <a:spAutoFit/>
          </a:bodyPr>
          <a:lstStyle/>
          <a:p>
            <a:r>
              <a:rPr lang="en-US" b="1"/>
              <a:t>WRITE Transfer – With Wait States</a:t>
            </a:r>
          </a:p>
        </p:txBody>
      </p:sp>
      <p:pic>
        <p:nvPicPr>
          <p:cNvPr id="10" name="Picture 9">
            <a:extLst>
              <a:ext uri="{FF2B5EF4-FFF2-40B4-BE49-F238E27FC236}">
                <a16:creationId xmlns:a16="http://schemas.microsoft.com/office/drawing/2014/main" id="{BB02F5BD-C897-6F4C-6A68-0EBC28BB27A2}"/>
              </a:ext>
            </a:extLst>
          </p:cNvPr>
          <p:cNvPicPr>
            <a:picLocks noChangeAspect="1"/>
          </p:cNvPicPr>
          <p:nvPr/>
        </p:nvPicPr>
        <p:blipFill>
          <a:blip r:embed="rId2"/>
          <a:stretch>
            <a:fillRect/>
          </a:stretch>
        </p:blipFill>
        <p:spPr>
          <a:xfrm>
            <a:off x="5757427" y="2389181"/>
            <a:ext cx="6234749" cy="2868619"/>
          </a:xfrm>
          <a:prstGeom prst="rect">
            <a:avLst/>
          </a:prstGeom>
        </p:spPr>
      </p:pic>
    </p:spTree>
    <p:extLst>
      <p:ext uri="{BB962C8B-B14F-4D97-AF65-F5344CB8AC3E}">
        <p14:creationId xmlns:p14="http://schemas.microsoft.com/office/powerpoint/2010/main" val="4090505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41D64E-A528-1C9C-1145-D96828CBFE4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4BE3DE9-EF8F-B2CD-5133-90A9FB19C8AB}"/>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E8C2AD3D-882A-EB46-B78D-2A0938509E5E}"/>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14</a:t>
            </a:fld>
            <a:endParaRPr spc="-25" dirty="0"/>
          </a:p>
        </p:txBody>
      </p:sp>
      <p:sp>
        <p:nvSpPr>
          <p:cNvPr id="6" name="object 6">
            <a:extLst>
              <a:ext uri="{FF2B5EF4-FFF2-40B4-BE49-F238E27FC236}">
                <a16:creationId xmlns:a16="http://schemas.microsoft.com/office/drawing/2014/main" id="{A160E858-4A78-EF7D-035A-8BB7E48F7BE2}"/>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5D0E04BA-A457-45A7-76AE-D3240F0A9F55}"/>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D3B6D4F6-0C85-8A6C-292A-2DCA5B68792B}"/>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Write strobes</a:t>
            </a:r>
          </a:p>
        </p:txBody>
      </p:sp>
      <p:pic>
        <p:nvPicPr>
          <p:cNvPr id="8" name="Picture 7" descr="A black text on a white background&#10;&#10;AI-generated content may be incorrect.">
            <a:extLst>
              <a:ext uri="{FF2B5EF4-FFF2-40B4-BE49-F238E27FC236}">
                <a16:creationId xmlns:a16="http://schemas.microsoft.com/office/drawing/2014/main" id="{006031B3-2232-BFBF-F659-C1477AD0567E}"/>
              </a:ext>
            </a:extLst>
          </p:cNvPr>
          <p:cNvPicPr>
            <a:picLocks noChangeAspect="1"/>
          </p:cNvPicPr>
          <p:nvPr/>
        </p:nvPicPr>
        <p:blipFill>
          <a:blip r:embed="rId2"/>
          <a:stretch>
            <a:fillRect/>
          </a:stretch>
        </p:blipFill>
        <p:spPr>
          <a:xfrm>
            <a:off x="2155833" y="3734777"/>
            <a:ext cx="7499334" cy="1275103"/>
          </a:xfrm>
          <a:prstGeom prst="rect">
            <a:avLst/>
          </a:prstGeom>
        </p:spPr>
      </p:pic>
      <p:sp>
        <p:nvSpPr>
          <p:cNvPr id="10" name="TextBox 9">
            <a:extLst>
              <a:ext uri="{FF2B5EF4-FFF2-40B4-BE49-F238E27FC236}">
                <a16:creationId xmlns:a16="http://schemas.microsoft.com/office/drawing/2014/main" id="{A8677040-4D26-3C5C-7032-84C347552D34}"/>
              </a:ext>
            </a:extLst>
          </p:cNvPr>
          <p:cNvSpPr txBox="1"/>
          <p:nvPr/>
        </p:nvSpPr>
        <p:spPr>
          <a:xfrm>
            <a:off x="418337" y="1974517"/>
            <a:ext cx="11123422" cy="1477328"/>
          </a:xfrm>
          <a:prstGeom prst="rect">
            <a:avLst/>
          </a:prstGeom>
          <a:noFill/>
        </p:spPr>
        <p:txBody>
          <a:bodyPr wrap="square">
            <a:spAutoFit/>
          </a:bodyPr>
          <a:lstStyle/>
          <a:p>
            <a:pPr marL="285750" indent="-285750">
              <a:buFont typeface="Arial" panose="020B0604020202020204" pitchFamily="34" charset="0"/>
              <a:buChar char="•"/>
            </a:pPr>
            <a:r>
              <a:rPr lang="en-US" b="1"/>
              <a:t>PSTRB</a:t>
            </a:r>
            <a:r>
              <a:rPr lang="en-US"/>
              <a:t> enables sparse data transfer on the write data bus. Each </a:t>
            </a:r>
            <a:r>
              <a:rPr lang="en-US" b="1"/>
              <a:t>PSTRB</a:t>
            </a:r>
            <a:r>
              <a:rPr lang="en-US"/>
              <a:t> corresponds to 1 byte of the write data bus. When asserted HIGH, </a:t>
            </a:r>
            <a:r>
              <a:rPr lang="en-US" b="1"/>
              <a:t>PSTRB</a:t>
            </a:r>
            <a:r>
              <a:rPr lang="en-US"/>
              <a:t> indicates that the corresponding byte lane of the write data bus contains valid information. </a:t>
            </a:r>
          </a:p>
          <a:p>
            <a:pPr marL="285750" indent="-285750">
              <a:buFont typeface="Arial" panose="020B0604020202020204" pitchFamily="34" charset="0"/>
              <a:buChar char="•"/>
            </a:pPr>
            <a:r>
              <a:rPr lang="en-US"/>
              <a:t>There is one write strobe for each 8 bits of the write data bus, so </a:t>
            </a:r>
            <a:r>
              <a:rPr lang="en-US" b="1"/>
              <a:t>PSTRB[n]</a:t>
            </a:r>
            <a:r>
              <a:rPr lang="en-US"/>
              <a:t> corresponds to </a:t>
            </a:r>
            <a:r>
              <a:rPr lang="en-US" b="1"/>
              <a:t>PWDATA[(8n + 7):(8n)]. </a:t>
            </a:r>
          </a:p>
        </p:txBody>
      </p:sp>
    </p:spTree>
    <p:extLst>
      <p:ext uri="{BB962C8B-B14F-4D97-AF65-F5344CB8AC3E}">
        <p14:creationId xmlns:p14="http://schemas.microsoft.com/office/powerpoint/2010/main" val="3748801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5CCB81D-58A7-1090-A317-9AE954DBBE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D16283-1496-7579-8AD0-A91053B3AC3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8614AAF9-73F0-7961-EB1C-74CFC2EE1CB2}"/>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15</a:t>
            </a:fld>
            <a:endParaRPr spc="-25" dirty="0"/>
          </a:p>
        </p:txBody>
      </p:sp>
      <p:sp>
        <p:nvSpPr>
          <p:cNvPr id="6" name="object 6">
            <a:extLst>
              <a:ext uri="{FF2B5EF4-FFF2-40B4-BE49-F238E27FC236}">
                <a16:creationId xmlns:a16="http://schemas.microsoft.com/office/drawing/2014/main" id="{58C0ED6D-9D93-5101-3004-D41887182798}"/>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BA536062-195E-31E3-C24D-DD67380F1284}"/>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7A6E6724-C32C-B0D9-D2C7-4774772AECCA}"/>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Write strobes</a:t>
            </a:r>
          </a:p>
        </p:txBody>
      </p:sp>
      <p:sp>
        <p:nvSpPr>
          <p:cNvPr id="8" name="TextBox 7">
            <a:extLst>
              <a:ext uri="{FF2B5EF4-FFF2-40B4-BE49-F238E27FC236}">
                <a16:creationId xmlns:a16="http://schemas.microsoft.com/office/drawing/2014/main" id="{D7D17CC8-DBA1-14C8-D8FE-34AACE818FD1}"/>
              </a:ext>
            </a:extLst>
          </p:cNvPr>
          <p:cNvSpPr txBox="1"/>
          <p:nvPr/>
        </p:nvSpPr>
        <p:spPr>
          <a:xfrm>
            <a:off x="457200" y="1905000"/>
            <a:ext cx="10896600" cy="923330"/>
          </a:xfrm>
          <a:prstGeom prst="rect">
            <a:avLst/>
          </a:prstGeom>
          <a:noFill/>
        </p:spPr>
        <p:txBody>
          <a:bodyPr wrap="square">
            <a:spAutoFit/>
          </a:bodyPr>
          <a:lstStyle/>
          <a:p>
            <a:r>
              <a:rPr lang="en-US" b="1"/>
              <a:t>PSTRB</a:t>
            </a:r>
            <a:r>
              <a:rPr lang="en-US"/>
              <a:t> is an optional signal. An APB peripheral might support a limited set of access types, which must be documented for the programmer. This means that all combinations of </a:t>
            </a:r>
            <a:r>
              <a:rPr lang="en-US" b="1"/>
              <a:t>PSTRB</a:t>
            </a:r>
            <a:r>
              <a:rPr lang="en-US"/>
              <a:t> presence might be compatible, if this document states that sparse writes are not supported.</a:t>
            </a:r>
          </a:p>
        </p:txBody>
      </p:sp>
      <p:graphicFrame>
        <p:nvGraphicFramePr>
          <p:cNvPr id="9" name="Table 8">
            <a:extLst>
              <a:ext uri="{FF2B5EF4-FFF2-40B4-BE49-F238E27FC236}">
                <a16:creationId xmlns:a16="http://schemas.microsoft.com/office/drawing/2014/main" id="{68D2FEAF-BB1C-3AFE-4008-CB1C1CCF3C07}"/>
              </a:ext>
            </a:extLst>
          </p:cNvPr>
          <p:cNvGraphicFramePr>
            <a:graphicFrameLocks noGrp="1"/>
          </p:cNvGraphicFramePr>
          <p:nvPr>
            <p:extLst>
              <p:ext uri="{D42A27DB-BD31-4B8C-83A1-F6EECF244321}">
                <p14:modId xmlns:p14="http://schemas.microsoft.com/office/powerpoint/2010/main" val="1159340634"/>
              </p:ext>
            </p:extLst>
          </p:nvPr>
        </p:nvGraphicFramePr>
        <p:xfrm>
          <a:off x="1513394" y="3137045"/>
          <a:ext cx="9165083" cy="2016760"/>
        </p:xfrm>
        <a:graphic>
          <a:graphicData uri="http://schemas.openxmlformats.org/drawingml/2006/table">
            <a:tbl>
              <a:tblPr firstRow="1" bandRow="1">
                <a:tableStyleId>{5C22544A-7EE6-4342-B048-85BDC9FD1C3A}</a:tableStyleId>
              </a:tblPr>
              <a:tblGrid>
                <a:gridCol w="1990045">
                  <a:extLst>
                    <a:ext uri="{9D8B030D-6E8A-4147-A177-3AD203B41FA5}">
                      <a16:colId xmlns:a16="http://schemas.microsoft.com/office/drawing/2014/main" val="1108912286"/>
                    </a:ext>
                  </a:extLst>
                </a:gridCol>
                <a:gridCol w="3445597">
                  <a:extLst>
                    <a:ext uri="{9D8B030D-6E8A-4147-A177-3AD203B41FA5}">
                      <a16:colId xmlns:a16="http://schemas.microsoft.com/office/drawing/2014/main" val="2272246613"/>
                    </a:ext>
                  </a:extLst>
                </a:gridCol>
                <a:gridCol w="3729441">
                  <a:extLst>
                    <a:ext uri="{9D8B030D-6E8A-4147-A177-3AD203B41FA5}">
                      <a16:colId xmlns:a16="http://schemas.microsoft.com/office/drawing/2014/main" val="10821907"/>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PSTRB</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Completer: signal not present</a:t>
                      </a:r>
                      <a:endParaRPr lang="en-US" sz="1600">
                        <a:solidFill>
                          <a:schemeClr val="bg1"/>
                        </a:solidFill>
                        <a:latin typeface="Arial" panose="020B0604020202020204" pitchFamily="34" charset="0"/>
                        <a:cs typeface="Arial" panose="020B0604020202020204" pitchFamily="34" charset="0"/>
                      </a:endParaRP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Completer: signal present</a:t>
                      </a:r>
                      <a:endParaRPr lang="en-US" sz="1600">
                        <a:solidFill>
                          <a:schemeClr val="bg1"/>
                        </a:solidFill>
                        <a:latin typeface="Arial" panose="020B0604020202020204" pitchFamily="34" charset="0"/>
                        <a:cs typeface="Arial" panose="020B0604020202020204" pitchFamily="34" charset="0"/>
                      </a:endParaRPr>
                    </a:p>
                  </a:txBody>
                  <a:tcPr>
                    <a:solidFill>
                      <a:srgbClr val="7030A0"/>
                    </a:solidFill>
                  </a:tcPr>
                </a:tc>
                <a:extLst>
                  <a:ext uri="{0D108BD9-81ED-4DB2-BD59-A6C34878D82A}">
                    <a16:rowId xmlns:a16="http://schemas.microsoft.com/office/drawing/2014/main" val="3816104531"/>
                  </a:ext>
                </a:extLst>
              </a:tr>
              <a:tr h="370840">
                <a:tc>
                  <a:txBody>
                    <a:bodyPr/>
                    <a:lstStyle/>
                    <a:p>
                      <a:pPr algn="l"/>
                      <a:r>
                        <a:rPr lang="en-US" sz="1600">
                          <a:latin typeface="Arial" panose="020B0604020202020204" pitchFamily="34" charset="0"/>
                          <a:cs typeface="Arial" panose="020B0604020202020204" pitchFamily="34" charset="0"/>
                        </a:rPr>
                        <a:t>Requester: signal not present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Compatible. Sparse writes are not supported. </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Compatible. All write data byte lanes are valid for a write. Tie the PSTRB inputs to the PWRITE output from the Requester.</a:t>
                      </a:r>
                    </a:p>
                  </a:txBody>
                  <a:tcPr/>
                </a:tc>
                <a:extLst>
                  <a:ext uri="{0D108BD9-81ED-4DB2-BD59-A6C34878D82A}">
                    <a16:rowId xmlns:a16="http://schemas.microsoft.com/office/drawing/2014/main" val="4131091150"/>
                  </a:ext>
                </a:extLst>
              </a:tr>
              <a:tr h="370840">
                <a:tc>
                  <a:txBody>
                    <a:bodyPr/>
                    <a:lstStyle/>
                    <a:p>
                      <a:pPr algn="l"/>
                      <a:r>
                        <a:rPr lang="en-US" sz="1600">
                          <a:latin typeface="Arial" panose="020B0604020202020204" pitchFamily="34" charset="0"/>
                          <a:cs typeface="Arial" panose="020B0604020202020204" pitchFamily="34" charset="0"/>
                        </a:rPr>
                        <a:t>Requester: signal present</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Compatible. Sparse writes are not supported. </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Compatible.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bl>
          </a:graphicData>
        </a:graphic>
      </p:graphicFrame>
    </p:spTree>
    <p:extLst>
      <p:ext uri="{BB962C8B-B14F-4D97-AF65-F5344CB8AC3E}">
        <p14:creationId xmlns:p14="http://schemas.microsoft.com/office/powerpoint/2010/main" val="9777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2EA167-D6BB-1D4B-CFBC-7DED1AFCE5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9B56BA-513E-56FB-FD28-FB496D95C1A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723A5E84-84AC-40D7-7124-414A5225A22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16</a:t>
            </a:fld>
            <a:endParaRPr spc="-25" dirty="0"/>
          </a:p>
        </p:txBody>
      </p:sp>
      <p:sp>
        <p:nvSpPr>
          <p:cNvPr id="6" name="object 6">
            <a:extLst>
              <a:ext uri="{FF2B5EF4-FFF2-40B4-BE49-F238E27FC236}">
                <a16:creationId xmlns:a16="http://schemas.microsoft.com/office/drawing/2014/main" id="{1DDAAC54-28D4-FA55-2E7B-DB98F4AB8949}"/>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BC907D03-1C16-B64E-4C20-42B2DAB66DF0}"/>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BF45FF72-54DD-079B-B243-C1E1C885F602}"/>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Read transfers</a:t>
            </a:r>
          </a:p>
        </p:txBody>
      </p:sp>
      <p:pic>
        <p:nvPicPr>
          <p:cNvPr id="8" name="Picture 7" descr="A diagram of a diagram&#10;&#10;AI-generated content may be incorrect.">
            <a:extLst>
              <a:ext uri="{FF2B5EF4-FFF2-40B4-BE49-F238E27FC236}">
                <a16:creationId xmlns:a16="http://schemas.microsoft.com/office/drawing/2014/main" id="{7B095D39-98FC-7FBF-8E06-81A487909CA6}"/>
              </a:ext>
            </a:extLst>
          </p:cNvPr>
          <p:cNvPicPr>
            <a:picLocks noChangeAspect="1"/>
          </p:cNvPicPr>
          <p:nvPr/>
        </p:nvPicPr>
        <p:blipFill>
          <a:blip r:embed="rId2"/>
          <a:stretch>
            <a:fillRect/>
          </a:stretch>
        </p:blipFill>
        <p:spPr>
          <a:xfrm>
            <a:off x="6248400" y="2051202"/>
            <a:ext cx="5758493" cy="3531451"/>
          </a:xfrm>
          <a:prstGeom prst="rect">
            <a:avLst/>
          </a:prstGeom>
        </p:spPr>
      </p:pic>
      <p:sp>
        <p:nvSpPr>
          <p:cNvPr id="12" name="TextBox 11">
            <a:extLst>
              <a:ext uri="{FF2B5EF4-FFF2-40B4-BE49-F238E27FC236}">
                <a16:creationId xmlns:a16="http://schemas.microsoft.com/office/drawing/2014/main" id="{A6A18D48-E6D3-3346-6FAD-C1BEC7B7FCC9}"/>
              </a:ext>
            </a:extLst>
          </p:cNvPr>
          <p:cNvSpPr txBox="1"/>
          <p:nvPr/>
        </p:nvSpPr>
        <p:spPr>
          <a:xfrm>
            <a:off x="514413" y="2229345"/>
            <a:ext cx="6094476" cy="3693319"/>
          </a:xfrm>
          <a:prstGeom prst="rect">
            <a:avLst/>
          </a:prstGeom>
          <a:noFill/>
        </p:spPr>
        <p:txBody>
          <a:bodyPr wrap="square">
            <a:spAutoFit/>
          </a:bodyPr>
          <a:lstStyle/>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At T1, a READ transfer with address </a:t>
            </a:r>
            <a:r>
              <a:rPr lang="en-US" b="1" i="0">
                <a:solidFill>
                  <a:srgbClr val="222222"/>
                </a:solidFill>
                <a:effectLst/>
                <a:latin typeface="Arial" panose="020B0604020202020204" pitchFamily="34" charset="0"/>
                <a:cs typeface="Arial" panose="020B0604020202020204" pitchFamily="34" charset="0"/>
              </a:rPr>
              <a:t>PADDR, PWRITE </a:t>
            </a:r>
            <a:r>
              <a:rPr lang="en-US" b="0" i="0">
                <a:solidFill>
                  <a:srgbClr val="222222"/>
                </a:solidFill>
                <a:effectLst/>
                <a:latin typeface="Arial" panose="020B0604020202020204" pitchFamily="34" charset="0"/>
                <a:cs typeface="Arial" panose="020B0604020202020204" pitchFamily="34" charset="0"/>
              </a:rPr>
              <a:t>and </a:t>
            </a:r>
            <a:r>
              <a:rPr lang="en-US" b="1" i="0">
                <a:solidFill>
                  <a:srgbClr val="222222"/>
                </a:solidFill>
                <a:effectLst/>
                <a:latin typeface="Arial" panose="020B0604020202020204" pitchFamily="34" charset="0"/>
                <a:cs typeface="Arial" panose="020B0604020202020204" pitchFamily="34" charset="0"/>
              </a:rPr>
              <a:t>PSEL</a:t>
            </a:r>
            <a:r>
              <a:rPr lang="en-US" b="0" i="0">
                <a:solidFill>
                  <a:srgbClr val="222222"/>
                </a:solidFill>
                <a:effectLst/>
                <a:latin typeface="Arial" panose="020B0604020202020204" pitchFamily="34" charset="0"/>
                <a:cs typeface="Arial" panose="020B0604020202020204" pitchFamily="34" charset="0"/>
              </a:rPr>
              <a:t> starts.</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They will be registered at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This is SETUP Phase of the transfer.</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After T2, </a:t>
            </a:r>
            <a:r>
              <a:rPr lang="en-US" b="1" i="0">
                <a:solidFill>
                  <a:srgbClr val="222222"/>
                </a:solidFill>
                <a:effectLst/>
                <a:latin typeface="Arial" panose="020B0604020202020204" pitchFamily="34" charset="0"/>
                <a:cs typeface="Arial" panose="020B0604020202020204" pitchFamily="34" charset="0"/>
              </a:rPr>
              <a:t>PENABLE and PREADY </a:t>
            </a:r>
            <a:r>
              <a:rPr lang="en-US" b="0" i="0">
                <a:solidFill>
                  <a:srgbClr val="222222"/>
                </a:solidFill>
                <a:effectLst/>
                <a:latin typeface="Arial" panose="020B0604020202020204" pitchFamily="34" charset="0"/>
                <a:cs typeface="Arial" panose="020B0604020202020204" pitchFamily="34" charset="0"/>
              </a:rPr>
              <a:t>are registered at the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When asserted,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indicates the starting of ACCESS phase.</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When asserted,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indicates that slave can complete the transfer at next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 by providing the data on </a:t>
            </a:r>
            <a:r>
              <a:rPr lang="en-US" b="1" i="0">
                <a:solidFill>
                  <a:srgbClr val="222222"/>
                </a:solidFill>
                <a:effectLst/>
                <a:latin typeface="Arial" panose="020B0604020202020204" pitchFamily="34" charset="0"/>
                <a:cs typeface="Arial" panose="020B0604020202020204" pitchFamily="34" charset="0"/>
              </a:rPr>
              <a:t>PRDATA</a:t>
            </a:r>
            <a:r>
              <a:rPr lang="en-US" b="0" i="0">
                <a:solidFill>
                  <a:srgbClr val="222222"/>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Slave must provide the data before the end of read transfer. i.e. before T3.</a:t>
            </a:r>
          </a:p>
        </p:txBody>
      </p:sp>
      <p:sp>
        <p:nvSpPr>
          <p:cNvPr id="13" name="TextBox 12">
            <a:extLst>
              <a:ext uri="{FF2B5EF4-FFF2-40B4-BE49-F238E27FC236}">
                <a16:creationId xmlns:a16="http://schemas.microsoft.com/office/drawing/2014/main" id="{F17A4553-5FE5-512F-BDA1-EB13CC75171D}"/>
              </a:ext>
            </a:extLst>
          </p:cNvPr>
          <p:cNvSpPr txBox="1"/>
          <p:nvPr/>
        </p:nvSpPr>
        <p:spPr>
          <a:xfrm>
            <a:off x="508317" y="1661817"/>
            <a:ext cx="4343400" cy="369332"/>
          </a:xfrm>
          <a:prstGeom prst="rect">
            <a:avLst/>
          </a:prstGeom>
          <a:noFill/>
        </p:spPr>
        <p:txBody>
          <a:bodyPr wrap="square">
            <a:spAutoFit/>
          </a:bodyPr>
          <a:lstStyle/>
          <a:p>
            <a:r>
              <a:rPr lang="en-US" b="1"/>
              <a:t>Read Transfer – Without Wait States</a:t>
            </a:r>
          </a:p>
        </p:txBody>
      </p:sp>
    </p:spTree>
    <p:extLst>
      <p:ext uri="{BB962C8B-B14F-4D97-AF65-F5344CB8AC3E}">
        <p14:creationId xmlns:p14="http://schemas.microsoft.com/office/powerpoint/2010/main" val="4274381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62E7F4-81DA-07E9-FB68-B43D73053A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E635E7-0F58-B053-2B20-1F77E1C3706C}"/>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B0414486-75A7-3FCA-5BA9-A54C7E54D518}"/>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17</a:t>
            </a:fld>
            <a:endParaRPr spc="-25" dirty="0"/>
          </a:p>
        </p:txBody>
      </p:sp>
      <p:sp>
        <p:nvSpPr>
          <p:cNvPr id="6" name="object 6">
            <a:extLst>
              <a:ext uri="{FF2B5EF4-FFF2-40B4-BE49-F238E27FC236}">
                <a16:creationId xmlns:a16="http://schemas.microsoft.com/office/drawing/2014/main" id="{37CAA126-9174-5350-F2FD-47944A5B3666}"/>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342EF294-2A3A-F960-4AAC-5A853F970113}"/>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2D2D3190-4352-3964-0D8C-3E24A01B152E}"/>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Read transfers</a:t>
            </a:r>
          </a:p>
        </p:txBody>
      </p:sp>
      <p:sp>
        <p:nvSpPr>
          <p:cNvPr id="7" name="TextBox 6">
            <a:extLst>
              <a:ext uri="{FF2B5EF4-FFF2-40B4-BE49-F238E27FC236}">
                <a16:creationId xmlns:a16="http://schemas.microsoft.com/office/drawing/2014/main" id="{7C304EB0-CC61-2079-A801-C605564661AB}"/>
              </a:ext>
            </a:extLst>
          </p:cNvPr>
          <p:cNvSpPr txBox="1"/>
          <p:nvPr/>
        </p:nvSpPr>
        <p:spPr>
          <a:xfrm>
            <a:off x="508317" y="1661817"/>
            <a:ext cx="4343400" cy="369332"/>
          </a:xfrm>
          <a:prstGeom prst="rect">
            <a:avLst/>
          </a:prstGeom>
          <a:noFill/>
        </p:spPr>
        <p:txBody>
          <a:bodyPr wrap="square">
            <a:spAutoFit/>
          </a:bodyPr>
          <a:lstStyle/>
          <a:p>
            <a:r>
              <a:rPr lang="en-US" b="1"/>
              <a:t>Read Transfer – With Wait States</a:t>
            </a:r>
          </a:p>
        </p:txBody>
      </p:sp>
      <p:pic>
        <p:nvPicPr>
          <p:cNvPr id="9" name="Picture 8" descr="A diagram of a diagram&#10;&#10;AI-generated content may be incorrect.">
            <a:extLst>
              <a:ext uri="{FF2B5EF4-FFF2-40B4-BE49-F238E27FC236}">
                <a16:creationId xmlns:a16="http://schemas.microsoft.com/office/drawing/2014/main" id="{514D1365-CE45-700E-E1C3-7006C8B27428}"/>
              </a:ext>
            </a:extLst>
          </p:cNvPr>
          <p:cNvPicPr>
            <a:picLocks noChangeAspect="1"/>
          </p:cNvPicPr>
          <p:nvPr/>
        </p:nvPicPr>
        <p:blipFill>
          <a:blip r:embed="rId2"/>
          <a:stretch>
            <a:fillRect/>
          </a:stretch>
        </p:blipFill>
        <p:spPr>
          <a:xfrm>
            <a:off x="5486400" y="2627743"/>
            <a:ext cx="6387191" cy="2677491"/>
          </a:xfrm>
          <a:prstGeom prst="rect">
            <a:avLst/>
          </a:prstGeom>
        </p:spPr>
      </p:pic>
      <p:sp>
        <p:nvSpPr>
          <p:cNvPr id="11" name="TextBox 10">
            <a:extLst>
              <a:ext uri="{FF2B5EF4-FFF2-40B4-BE49-F238E27FC236}">
                <a16:creationId xmlns:a16="http://schemas.microsoft.com/office/drawing/2014/main" id="{AE09E441-8DF9-B2F2-2463-DA22F527CE3E}"/>
              </a:ext>
            </a:extLst>
          </p:cNvPr>
          <p:cNvSpPr txBox="1"/>
          <p:nvPr/>
        </p:nvSpPr>
        <p:spPr>
          <a:xfrm>
            <a:off x="508317" y="3124200"/>
            <a:ext cx="4978083" cy="1754326"/>
          </a:xfrm>
          <a:prstGeom prst="rect">
            <a:avLst/>
          </a:prstGeom>
          <a:noFill/>
        </p:spPr>
        <p:txBody>
          <a:bodyPr wrap="square">
            <a:spAutoFit/>
          </a:bodyPr>
          <a:lstStyle/>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During the ACCESS Phase, when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is high, the slave extends the transfer by driving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low.</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The </a:t>
            </a:r>
            <a:r>
              <a:rPr lang="en-US" b="1" i="0">
                <a:solidFill>
                  <a:srgbClr val="222222"/>
                </a:solidFill>
                <a:effectLst/>
                <a:latin typeface="Arial" panose="020B0604020202020204" pitchFamily="34" charset="0"/>
                <a:cs typeface="Arial" panose="020B0604020202020204" pitchFamily="34" charset="0"/>
              </a:rPr>
              <a:t>PADDR, PWRITE, PSEL, PENABLE, PPROT</a:t>
            </a:r>
            <a:r>
              <a:rPr lang="en-US" b="0" i="0">
                <a:solidFill>
                  <a:srgbClr val="222222"/>
                </a:solidFill>
                <a:effectLst/>
                <a:latin typeface="Arial" panose="020B0604020202020204" pitchFamily="34" charset="0"/>
                <a:cs typeface="Arial" panose="020B0604020202020204" pitchFamily="34" charset="0"/>
              </a:rPr>
              <a:t> signals should remain unchanged while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is low</a:t>
            </a:r>
          </a:p>
        </p:txBody>
      </p:sp>
    </p:spTree>
    <p:extLst>
      <p:ext uri="{BB962C8B-B14F-4D97-AF65-F5344CB8AC3E}">
        <p14:creationId xmlns:p14="http://schemas.microsoft.com/office/powerpoint/2010/main" val="2590473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05D810-D143-AB53-0A7E-610C7D88892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76D142-B358-C843-CB6C-80CAB159B02A}"/>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2553357B-6FB8-E69A-F1B5-801C4CEF69F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18</a:t>
            </a:fld>
            <a:endParaRPr spc="-25" dirty="0"/>
          </a:p>
        </p:txBody>
      </p:sp>
      <p:sp>
        <p:nvSpPr>
          <p:cNvPr id="6" name="object 6">
            <a:extLst>
              <a:ext uri="{FF2B5EF4-FFF2-40B4-BE49-F238E27FC236}">
                <a16:creationId xmlns:a16="http://schemas.microsoft.com/office/drawing/2014/main" id="{BAC5DE8E-87B8-3773-9D40-68FCFACB9CC6}"/>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5A7A284E-8DCA-41F4-B3EC-DAF66ACE56F8}"/>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A6718797-D2F3-F54E-970B-8A5343E1627E}"/>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Error response</a:t>
            </a:r>
          </a:p>
        </p:txBody>
      </p:sp>
      <p:sp>
        <p:nvSpPr>
          <p:cNvPr id="8" name="TextBox 7">
            <a:extLst>
              <a:ext uri="{FF2B5EF4-FFF2-40B4-BE49-F238E27FC236}">
                <a16:creationId xmlns:a16="http://schemas.microsoft.com/office/drawing/2014/main" id="{467901FB-A764-6109-C627-F6358AB05A85}"/>
              </a:ext>
            </a:extLst>
          </p:cNvPr>
          <p:cNvSpPr txBox="1"/>
          <p:nvPr/>
        </p:nvSpPr>
        <p:spPr>
          <a:xfrm>
            <a:off x="508317" y="2209800"/>
            <a:ext cx="11033442" cy="2308324"/>
          </a:xfrm>
          <a:prstGeom prst="rect">
            <a:avLst/>
          </a:prstGeom>
          <a:noFill/>
        </p:spPr>
        <p:txBody>
          <a:bodyPr wrap="square">
            <a:spAutoFit/>
          </a:bodyPr>
          <a:lstStyle/>
          <a:p>
            <a:pPr algn="l">
              <a:buNone/>
            </a:pPr>
            <a:r>
              <a:rPr lang="en-US" b="0" i="0">
                <a:solidFill>
                  <a:srgbClr val="222222"/>
                </a:solidFill>
                <a:effectLst/>
                <a:latin typeface="Arial" panose="020B0604020202020204" pitchFamily="34" charset="0"/>
                <a:cs typeface="Arial" panose="020B0604020202020204" pitchFamily="34" charset="0"/>
              </a:rPr>
              <a:t>Whenever there is a problem in the transfer, Slave indicates the error response for the transfer by asserting the </a:t>
            </a:r>
            <a:r>
              <a:rPr lang="en-US" b="1" i="0">
                <a:solidFill>
                  <a:srgbClr val="222222"/>
                </a:solidFill>
                <a:effectLst/>
                <a:latin typeface="Arial" panose="020B0604020202020204" pitchFamily="34" charset="0"/>
                <a:cs typeface="Arial" panose="020B0604020202020204" pitchFamily="34" charset="0"/>
              </a:rPr>
              <a:t>PSLVERR</a:t>
            </a:r>
            <a:r>
              <a:rPr lang="en-US" b="0" i="0">
                <a:solidFill>
                  <a:srgbClr val="222222"/>
                </a:solidFill>
                <a:effectLst/>
                <a:latin typeface="Arial" panose="020B0604020202020204" pitchFamily="34" charset="0"/>
                <a:cs typeface="Arial" panose="020B0604020202020204" pitchFamily="34" charset="0"/>
              </a:rPr>
              <a:t> signal. </a:t>
            </a:r>
            <a:r>
              <a:rPr lang="en-US" b="1" i="0">
                <a:solidFill>
                  <a:srgbClr val="222222"/>
                </a:solidFill>
                <a:effectLst/>
                <a:latin typeface="Arial" panose="020B0604020202020204" pitchFamily="34" charset="0"/>
                <a:cs typeface="Arial" panose="020B0604020202020204" pitchFamily="34" charset="0"/>
              </a:rPr>
              <a:t>PSLVERR</a:t>
            </a:r>
            <a:r>
              <a:rPr lang="en-US" b="0" i="0">
                <a:solidFill>
                  <a:srgbClr val="222222"/>
                </a:solidFill>
                <a:effectLst/>
                <a:latin typeface="Arial" panose="020B0604020202020204" pitchFamily="34" charset="0"/>
                <a:cs typeface="Arial" panose="020B0604020202020204" pitchFamily="34" charset="0"/>
              </a:rPr>
              <a:t> is only considered valid during the last cycle f and APB transfer, when </a:t>
            </a:r>
            <a:r>
              <a:rPr lang="en-US" b="1" i="0">
                <a:solidFill>
                  <a:srgbClr val="222222"/>
                </a:solidFill>
                <a:effectLst/>
                <a:latin typeface="Arial" panose="020B0604020202020204" pitchFamily="34" charset="0"/>
                <a:cs typeface="Arial" panose="020B0604020202020204" pitchFamily="34" charset="0"/>
              </a:rPr>
              <a:t>PSEL, PENABLE and PREADY</a:t>
            </a:r>
            <a:r>
              <a:rPr lang="en-US" b="0" i="0">
                <a:solidFill>
                  <a:srgbClr val="222222"/>
                </a:solidFill>
                <a:effectLst/>
                <a:latin typeface="Arial" panose="020B0604020202020204" pitchFamily="34" charset="0"/>
                <a:cs typeface="Arial" panose="020B0604020202020204" pitchFamily="34" charset="0"/>
              </a:rPr>
              <a:t> are all HIGH. It is recommended, but not mandatory that you drive </a:t>
            </a:r>
            <a:r>
              <a:rPr lang="en-US" b="1" i="0">
                <a:solidFill>
                  <a:srgbClr val="222222"/>
                </a:solidFill>
                <a:effectLst/>
                <a:latin typeface="Arial" panose="020B0604020202020204" pitchFamily="34" charset="0"/>
                <a:cs typeface="Arial" panose="020B0604020202020204" pitchFamily="34" charset="0"/>
              </a:rPr>
              <a:t>PSLVERR</a:t>
            </a:r>
            <a:r>
              <a:rPr lang="en-US" b="0" i="0">
                <a:solidFill>
                  <a:srgbClr val="222222"/>
                </a:solidFill>
                <a:effectLst/>
                <a:latin typeface="Arial" panose="020B0604020202020204" pitchFamily="34" charset="0"/>
                <a:cs typeface="Arial" panose="020B0604020202020204" pitchFamily="34" charset="0"/>
              </a:rPr>
              <a:t> low when it is not being sampled.</a:t>
            </a:r>
          </a:p>
          <a:p>
            <a:pPr algn="l">
              <a:buNone/>
            </a:pPr>
            <a:endParaRPr lang="en-US" b="0" i="0">
              <a:solidFill>
                <a:srgbClr val="222222"/>
              </a:solidFill>
              <a:effectLst/>
              <a:latin typeface="Arial" panose="020B0604020202020204" pitchFamily="34" charset="0"/>
              <a:cs typeface="Arial" panose="020B0604020202020204" pitchFamily="34" charset="0"/>
            </a:endParaRPr>
          </a:p>
          <a:p>
            <a:pPr algn="l">
              <a:buNone/>
            </a:pPr>
            <a:r>
              <a:rPr lang="en-US" b="0" i="0">
                <a:solidFill>
                  <a:srgbClr val="222222"/>
                </a:solidFill>
                <a:effectLst/>
                <a:latin typeface="Arial" panose="020B0604020202020204" pitchFamily="34" charset="0"/>
                <a:cs typeface="Arial" panose="020B0604020202020204" pitchFamily="34" charset="0"/>
              </a:rPr>
              <a:t>Transactions that receive an error response, might or might not have changed the state of peripheral. For example, If APB master performs a write transaction to an APB slave and received an error response, it is not guaranteed that the data is not written on the slave peripheral.</a:t>
            </a:r>
          </a:p>
        </p:txBody>
      </p:sp>
    </p:spTree>
    <p:extLst>
      <p:ext uri="{BB962C8B-B14F-4D97-AF65-F5344CB8AC3E}">
        <p14:creationId xmlns:p14="http://schemas.microsoft.com/office/powerpoint/2010/main" val="2161243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3A38AFC-DCA2-2EFD-2960-925EE996CD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685176-BBAB-8D55-ACC1-AACD25F8024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813A6AC-921D-6B7B-53A5-793914B3D3A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19</a:t>
            </a:fld>
            <a:endParaRPr spc="-25" dirty="0"/>
          </a:p>
        </p:txBody>
      </p:sp>
      <p:sp>
        <p:nvSpPr>
          <p:cNvPr id="6" name="object 6">
            <a:extLst>
              <a:ext uri="{FF2B5EF4-FFF2-40B4-BE49-F238E27FC236}">
                <a16:creationId xmlns:a16="http://schemas.microsoft.com/office/drawing/2014/main" id="{375F50E4-056D-F253-C94F-58FB2AFE795F}"/>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9B341B31-D0AA-C130-6BCB-4ACC307C41C4}"/>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58EA604D-8C48-9086-2343-77CA92897F10}"/>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Error response</a:t>
            </a:r>
          </a:p>
        </p:txBody>
      </p:sp>
      <p:pic>
        <p:nvPicPr>
          <p:cNvPr id="8" name="Picture 7" descr="A diagram of a computer program&#10;&#10;AI-generated content may be incorrect.">
            <a:extLst>
              <a:ext uri="{FF2B5EF4-FFF2-40B4-BE49-F238E27FC236}">
                <a16:creationId xmlns:a16="http://schemas.microsoft.com/office/drawing/2014/main" id="{6E778C71-EE3A-C4D0-EE83-235368B85E24}"/>
              </a:ext>
            </a:extLst>
          </p:cNvPr>
          <p:cNvPicPr>
            <a:picLocks noChangeAspect="1"/>
          </p:cNvPicPr>
          <p:nvPr/>
        </p:nvPicPr>
        <p:blipFill>
          <a:blip r:embed="rId2"/>
          <a:stretch>
            <a:fillRect/>
          </a:stretch>
        </p:blipFill>
        <p:spPr>
          <a:xfrm>
            <a:off x="2514600" y="2200274"/>
            <a:ext cx="6781800" cy="3879783"/>
          </a:xfrm>
          <a:prstGeom prst="rect">
            <a:avLst/>
          </a:prstGeom>
        </p:spPr>
      </p:pic>
      <p:sp>
        <p:nvSpPr>
          <p:cNvPr id="11" name="TextBox 10">
            <a:extLst>
              <a:ext uri="{FF2B5EF4-FFF2-40B4-BE49-F238E27FC236}">
                <a16:creationId xmlns:a16="http://schemas.microsoft.com/office/drawing/2014/main" id="{2B797C39-0BC3-A949-008F-75DB935FF58D}"/>
              </a:ext>
            </a:extLst>
          </p:cNvPr>
          <p:cNvSpPr txBox="1"/>
          <p:nvPr/>
        </p:nvSpPr>
        <p:spPr>
          <a:xfrm>
            <a:off x="508317" y="1661817"/>
            <a:ext cx="4343400" cy="369332"/>
          </a:xfrm>
          <a:prstGeom prst="rect">
            <a:avLst/>
          </a:prstGeom>
          <a:noFill/>
        </p:spPr>
        <p:txBody>
          <a:bodyPr wrap="square">
            <a:spAutoFit/>
          </a:bodyPr>
          <a:lstStyle/>
          <a:p>
            <a:r>
              <a:rPr lang="en-US" b="1"/>
              <a:t>Write transfers</a:t>
            </a:r>
          </a:p>
        </p:txBody>
      </p:sp>
    </p:spTree>
    <p:extLst>
      <p:ext uri="{BB962C8B-B14F-4D97-AF65-F5344CB8AC3E}">
        <p14:creationId xmlns:p14="http://schemas.microsoft.com/office/powerpoint/2010/main" val="905194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7AEEFF-04E4-33B2-5375-2F8837DC73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8697B4-304E-0BF0-CA2E-F48C47243811}"/>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40C4A5B4-26FE-56D6-37E0-92B70071C1E0}"/>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20</a:t>
            </a:fld>
            <a:endParaRPr spc="-25" dirty="0"/>
          </a:p>
        </p:txBody>
      </p:sp>
      <p:sp>
        <p:nvSpPr>
          <p:cNvPr id="6" name="object 6">
            <a:extLst>
              <a:ext uri="{FF2B5EF4-FFF2-40B4-BE49-F238E27FC236}">
                <a16:creationId xmlns:a16="http://schemas.microsoft.com/office/drawing/2014/main" id="{9C49A367-BF71-2162-EDED-2DDC9608200D}"/>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6F839307-1E2E-2E69-0885-7C7A60800CD3}"/>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879F4450-92EF-61B3-62F2-71D611615C46}"/>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Error response</a:t>
            </a:r>
          </a:p>
        </p:txBody>
      </p:sp>
      <p:pic>
        <p:nvPicPr>
          <p:cNvPr id="10" name="Picture 9" descr="A diagram of a diagram&#10;&#10;AI-generated content may be incorrect.">
            <a:extLst>
              <a:ext uri="{FF2B5EF4-FFF2-40B4-BE49-F238E27FC236}">
                <a16:creationId xmlns:a16="http://schemas.microsoft.com/office/drawing/2014/main" id="{4A984A56-58F9-23A0-BD68-C64DF0881104}"/>
              </a:ext>
            </a:extLst>
          </p:cNvPr>
          <p:cNvPicPr>
            <a:picLocks noChangeAspect="1"/>
          </p:cNvPicPr>
          <p:nvPr/>
        </p:nvPicPr>
        <p:blipFill>
          <a:blip r:embed="rId2"/>
          <a:stretch>
            <a:fillRect/>
          </a:stretch>
        </p:blipFill>
        <p:spPr>
          <a:xfrm>
            <a:off x="2368699" y="2355532"/>
            <a:ext cx="7454601" cy="3528848"/>
          </a:xfrm>
          <a:prstGeom prst="rect">
            <a:avLst/>
          </a:prstGeom>
        </p:spPr>
      </p:pic>
      <p:sp>
        <p:nvSpPr>
          <p:cNvPr id="7" name="TextBox 6">
            <a:extLst>
              <a:ext uri="{FF2B5EF4-FFF2-40B4-BE49-F238E27FC236}">
                <a16:creationId xmlns:a16="http://schemas.microsoft.com/office/drawing/2014/main" id="{B413CAD2-C38C-8265-69AE-01F2662D5A8E}"/>
              </a:ext>
            </a:extLst>
          </p:cNvPr>
          <p:cNvSpPr txBox="1"/>
          <p:nvPr/>
        </p:nvSpPr>
        <p:spPr>
          <a:xfrm>
            <a:off x="508317" y="1661817"/>
            <a:ext cx="4343400" cy="369332"/>
          </a:xfrm>
          <a:prstGeom prst="rect">
            <a:avLst/>
          </a:prstGeom>
          <a:noFill/>
        </p:spPr>
        <p:txBody>
          <a:bodyPr wrap="square">
            <a:spAutoFit/>
          </a:bodyPr>
          <a:lstStyle/>
          <a:p>
            <a:r>
              <a:rPr lang="en-US" b="1"/>
              <a:t>Read transfers</a:t>
            </a:r>
          </a:p>
        </p:txBody>
      </p:sp>
    </p:spTree>
    <p:extLst>
      <p:ext uri="{BB962C8B-B14F-4D97-AF65-F5344CB8AC3E}">
        <p14:creationId xmlns:p14="http://schemas.microsoft.com/office/powerpoint/2010/main" val="1146644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6FD88B-CB55-3195-DC23-903D681769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ACFDE2-F5B5-0C80-DC13-294FD34A4DA1}"/>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7E13AB2F-4F89-BAAD-6FB8-F00D19DB0F8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21</a:t>
            </a:fld>
            <a:endParaRPr spc="-25" dirty="0"/>
          </a:p>
        </p:txBody>
      </p:sp>
      <p:sp>
        <p:nvSpPr>
          <p:cNvPr id="6" name="object 6">
            <a:extLst>
              <a:ext uri="{FF2B5EF4-FFF2-40B4-BE49-F238E27FC236}">
                <a16:creationId xmlns:a16="http://schemas.microsoft.com/office/drawing/2014/main" id="{83E337D5-E296-8129-E8AE-8E50453CE4FE}"/>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F7279B89-0455-48FA-324A-3C321106E169}"/>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D3D1391B-36CE-DADB-D5AC-4C8987A4612F}"/>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1.3 APB Transfers – Protection until support</a:t>
            </a:r>
          </a:p>
        </p:txBody>
      </p:sp>
      <p:sp>
        <p:nvSpPr>
          <p:cNvPr id="8" name="TextBox 7">
            <a:extLst>
              <a:ext uri="{FF2B5EF4-FFF2-40B4-BE49-F238E27FC236}">
                <a16:creationId xmlns:a16="http://schemas.microsoft.com/office/drawing/2014/main" id="{281A215D-75D7-691E-3C27-8C14FC6B2A37}"/>
              </a:ext>
            </a:extLst>
          </p:cNvPr>
          <p:cNvSpPr txBox="1"/>
          <p:nvPr/>
        </p:nvSpPr>
        <p:spPr>
          <a:xfrm>
            <a:off x="508317" y="1752600"/>
            <a:ext cx="11033442" cy="923330"/>
          </a:xfrm>
          <a:prstGeom prst="rect">
            <a:avLst/>
          </a:prstGeom>
          <a:noFill/>
        </p:spPr>
        <p:txBody>
          <a:bodyPr wrap="square">
            <a:spAutoFit/>
          </a:bodyPr>
          <a:lstStyle/>
          <a:p>
            <a:r>
              <a:rPr lang="en-US" b="0" i="0">
                <a:solidFill>
                  <a:srgbClr val="222222"/>
                </a:solidFill>
                <a:effectLst/>
                <a:latin typeface="Arial" panose="020B0604020202020204" pitchFamily="34" charset="0"/>
                <a:cs typeface="Arial" panose="020B0604020202020204" pitchFamily="34" charset="0"/>
              </a:rPr>
              <a:t>To support complex system designs, it is often necessary for both the interconnect and other devices in the system to provide protection against illegal transactions.  It is provided by Protection Unit in APB Protocol. The signals indicating the protection unit are PPROT[2:0].</a:t>
            </a:r>
            <a:endParaRPr lang="en-US">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EAF7CF9F-461C-E287-4996-6E3DD5CE6011}"/>
              </a:ext>
            </a:extLst>
          </p:cNvPr>
          <p:cNvGraphicFramePr>
            <a:graphicFrameLocks noGrp="1"/>
          </p:cNvGraphicFramePr>
          <p:nvPr>
            <p:extLst>
              <p:ext uri="{D42A27DB-BD31-4B8C-83A1-F6EECF244321}">
                <p14:modId xmlns:p14="http://schemas.microsoft.com/office/powerpoint/2010/main" val="1590563141"/>
              </p:ext>
            </p:extLst>
          </p:nvPr>
        </p:nvGraphicFramePr>
        <p:xfrm>
          <a:off x="579214" y="2768290"/>
          <a:ext cx="11033444" cy="357124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4809175">
                  <a:extLst>
                    <a:ext uri="{9D8B030D-6E8A-4147-A177-3AD203B41FA5}">
                      <a16:colId xmlns:a16="http://schemas.microsoft.com/office/drawing/2014/main" val="10821907"/>
                    </a:ext>
                  </a:extLst>
                </a:gridCol>
                <a:gridCol w="2846386">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PPROT</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Protection</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Comments</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PPROT[0]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Normal or Privileged</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PPROT[0] is used by Requesters to indicate processing mode. A privileged processing mode typically has a greater level of access within a system.</a:t>
                      </a:r>
                    </a:p>
                  </a:txBody>
                  <a:tcPr/>
                </a:tc>
                <a:tc>
                  <a:txBody>
                    <a:bodyPr/>
                    <a:lstStyle/>
                    <a:p>
                      <a:pPr marL="285750" indent="-285750" algn="l">
                        <a:buFont typeface="Arial" panose="020B0604020202020204" pitchFamily="34" charset="0"/>
                        <a:buChar char="•"/>
                      </a:pPr>
                      <a:r>
                        <a:rPr lang="en-US" sz="1600">
                          <a:latin typeface="Arial" panose="020B0604020202020204" pitchFamily="34" charset="0"/>
                          <a:cs typeface="Arial" panose="020B0604020202020204" pitchFamily="34" charset="0"/>
                        </a:rPr>
                        <a:t>LOW indicates normal access. </a:t>
                      </a:r>
                    </a:p>
                    <a:p>
                      <a:pPr marL="285750" indent="-285750" algn="l">
                        <a:buFont typeface="Arial" panose="020B0604020202020204" pitchFamily="34" charset="0"/>
                        <a:buChar char="•"/>
                      </a:pPr>
                      <a:r>
                        <a:rPr lang="en-US" sz="1600">
                          <a:latin typeface="Arial" panose="020B0604020202020204" pitchFamily="34" charset="0"/>
                          <a:cs typeface="Arial" panose="020B0604020202020204" pitchFamily="34" charset="0"/>
                        </a:rPr>
                        <a:t>HIGH indicates privileged access.</a:t>
                      </a:r>
                    </a:p>
                  </a:txBody>
                  <a:tcPr/>
                </a:tc>
                <a:extLst>
                  <a:ext uri="{0D108BD9-81ED-4DB2-BD59-A6C34878D82A}">
                    <a16:rowId xmlns:a16="http://schemas.microsoft.com/office/drawing/2014/main" val="413109115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PPROT[1]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Secure or Non-secure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PPROT[1] is used in systems where a greater degree of differentiation between processing modes is required. </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285750" indent="-285750" algn="l">
                        <a:buFont typeface="Arial" panose="020B0604020202020204" pitchFamily="34" charset="0"/>
                        <a:buChar char="•"/>
                      </a:pPr>
                      <a:r>
                        <a:rPr lang="en-US" sz="1600">
                          <a:latin typeface="Arial" panose="020B0604020202020204" pitchFamily="34" charset="0"/>
                          <a:cs typeface="Arial" panose="020B0604020202020204" pitchFamily="34" charset="0"/>
                        </a:rPr>
                        <a:t>LOW indicates secure access.</a:t>
                      </a:r>
                    </a:p>
                    <a:p>
                      <a:pPr marL="285750" indent="-285750" algn="l">
                        <a:buFont typeface="Arial" panose="020B0604020202020204" pitchFamily="34" charset="0"/>
                        <a:buChar char="•"/>
                      </a:pPr>
                      <a:r>
                        <a:rPr lang="en-US" sz="1600">
                          <a:latin typeface="Arial" panose="020B0604020202020204" pitchFamily="34" charset="0"/>
                          <a:cs typeface="Arial" panose="020B0604020202020204" pitchFamily="34" charset="0"/>
                        </a:rPr>
                        <a:t>HIGH indicates non-secure access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PPROT[2]</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Data or Instruction</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PPROT[2] gives an indication if the transaction is a data or instruction access. The transaction indication is provided as a hint and might not be accurate in all cases. </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285750" indent="-285750" algn="l">
                        <a:buFont typeface="Arial" panose="020B0604020202020204" pitchFamily="34" charset="0"/>
                        <a:buChar char="•"/>
                      </a:pPr>
                      <a:r>
                        <a:rPr lang="en-US" sz="1600">
                          <a:latin typeface="Arial" panose="020B0604020202020204" pitchFamily="34" charset="0"/>
                          <a:cs typeface="Arial" panose="020B0604020202020204" pitchFamily="34" charset="0"/>
                        </a:rPr>
                        <a:t>LOW indicates data access.</a:t>
                      </a:r>
                    </a:p>
                    <a:p>
                      <a:pPr marL="285750" indent="-285750" algn="l">
                        <a:buFont typeface="Arial" panose="020B0604020202020204" pitchFamily="34" charset="0"/>
                        <a:buChar char="•"/>
                      </a:pPr>
                      <a:r>
                        <a:rPr lang="en-US" sz="1600">
                          <a:latin typeface="Arial" panose="020B0604020202020204" pitchFamily="34" charset="0"/>
                          <a:cs typeface="Arial" panose="020B0604020202020204" pitchFamily="34" charset="0"/>
                        </a:rPr>
                        <a:t>HIGH indicates instruction access.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bl>
          </a:graphicData>
        </a:graphic>
      </p:graphicFrame>
    </p:spTree>
    <p:extLst>
      <p:ext uri="{BB962C8B-B14F-4D97-AF65-F5344CB8AC3E}">
        <p14:creationId xmlns:p14="http://schemas.microsoft.com/office/powerpoint/2010/main" val="3221086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9B372C-BBD3-0748-754F-889E005621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56EB74-839D-2788-57E4-3998A3E273FA}"/>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0DA9755-6AFE-A323-DF1A-D9BEC6ABAE9D}"/>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22</a:t>
            </a:fld>
            <a:endParaRPr spc="-25" dirty="0"/>
          </a:p>
        </p:txBody>
      </p:sp>
      <p:sp>
        <p:nvSpPr>
          <p:cNvPr id="6" name="object 6">
            <a:extLst>
              <a:ext uri="{FF2B5EF4-FFF2-40B4-BE49-F238E27FC236}">
                <a16:creationId xmlns:a16="http://schemas.microsoft.com/office/drawing/2014/main" id="{A671C7BF-7D53-D3C2-EB3E-670A538C61D2}"/>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2717EE67-83EA-AEA1-A664-37101312A11E}"/>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6FA8958E-4309-1F78-D689-24F5A2566909}"/>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1.4 Operation States</a:t>
            </a:r>
          </a:p>
        </p:txBody>
      </p:sp>
      <p:pic>
        <p:nvPicPr>
          <p:cNvPr id="9" name="Picture 8" descr="A diagram of a system&#10;&#10;AI-generated content may be incorrect.">
            <a:extLst>
              <a:ext uri="{FF2B5EF4-FFF2-40B4-BE49-F238E27FC236}">
                <a16:creationId xmlns:a16="http://schemas.microsoft.com/office/drawing/2014/main" id="{A3D4582A-38E4-FAAD-2D87-51799E0B84C4}"/>
              </a:ext>
            </a:extLst>
          </p:cNvPr>
          <p:cNvPicPr>
            <a:picLocks noChangeAspect="1"/>
          </p:cNvPicPr>
          <p:nvPr/>
        </p:nvPicPr>
        <p:blipFill>
          <a:blip r:embed="rId2"/>
          <a:stretch>
            <a:fillRect/>
          </a:stretch>
        </p:blipFill>
        <p:spPr>
          <a:xfrm>
            <a:off x="6324600" y="1524000"/>
            <a:ext cx="4932866" cy="4953000"/>
          </a:xfrm>
          <a:prstGeom prst="rect">
            <a:avLst/>
          </a:prstGeom>
        </p:spPr>
      </p:pic>
      <p:graphicFrame>
        <p:nvGraphicFramePr>
          <p:cNvPr id="15" name="Table 14">
            <a:extLst>
              <a:ext uri="{FF2B5EF4-FFF2-40B4-BE49-F238E27FC236}">
                <a16:creationId xmlns:a16="http://schemas.microsoft.com/office/drawing/2014/main" id="{3FD3D88E-37E2-AAAF-1460-82558C5A71EB}"/>
              </a:ext>
            </a:extLst>
          </p:cNvPr>
          <p:cNvGraphicFramePr>
            <a:graphicFrameLocks noGrp="1"/>
          </p:cNvGraphicFramePr>
          <p:nvPr>
            <p:extLst>
              <p:ext uri="{D42A27DB-BD31-4B8C-83A1-F6EECF244321}">
                <p14:modId xmlns:p14="http://schemas.microsoft.com/office/powerpoint/2010/main" val="2616198760"/>
              </p:ext>
            </p:extLst>
          </p:nvPr>
        </p:nvGraphicFramePr>
        <p:xfrm>
          <a:off x="508317" y="2799759"/>
          <a:ext cx="5719950" cy="2926080"/>
        </p:xfrm>
        <a:graphic>
          <a:graphicData uri="http://schemas.openxmlformats.org/drawingml/2006/table">
            <a:tbl>
              <a:tblPr firstRow="1" bandRow="1">
                <a:tableStyleId>{5C22544A-7EE6-4342-B048-85BDC9FD1C3A}</a:tableStyleId>
              </a:tblPr>
              <a:tblGrid>
                <a:gridCol w="1472883">
                  <a:extLst>
                    <a:ext uri="{9D8B030D-6E8A-4147-A177-3AD203B41FA5}">
                      <a16:colId xmlns:a16="http://schemas.microsoft.com/office/drawing/2014/main" val="288523792"/>
                    </a:ext>
                  </a:extLst>
                </a:gridCol>
                <a:gridCol w="4247067">
                  <a:extLst>
                    <a:ext uri="{9D8B030D-6E8A-4147-A177-3AD203B41FA5}">
                      <a16:colId xmlns:a16="http://schemas.microsoft.com/office/drawing/2014/main" val="4248578073"/>
                    </a:ext>
                  </a:extLst>
                </a:gridCol>
              </a:tblGrid>
              <a:tr h="370840">
                <a:tc>
                  <a:txBody>
                    <a:bodyPr/>
                    <a:lstStyle/>
                    <a:p>
                      <a:r>
                        <a:rPr lang="en-US" b="1">
                          <a:solidFill>
                            <a:schemeClr val="tx1"/>
                          </a:solidFill>
                          <a:latin typeface="Arial" panose="020B0604020202020204" pitchFamily="34" charset="0"/>
                          <a:cs typeface="Arial" panose="020B0604020202020204" pitchFamily="34" charset="0"/>
                        </a:rPr>
                        <a:t>IDLE</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solidFill>
                            <a:schemeClr val="tx1"/>
                          </a:solidFill>
                          <a:latin typeface="Arial" panose="020B0604020202020204" pitchFamily="34" charset="0"/>
                          <a:cs typeface="Arial" panose="020B0604020202020204" pitchFamily="34" charset="0"/>
                        </a:rPr>
                        <a:t>This is the default state of the APB interface.</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8999248"/>
                  </a:ext>
                </a:extLst>
              </a:tr>
              <a:tr h="370840">
                <a:tc>
                  <a:txBody>
                    <a:bodyPr/>
                    <a:lstStyle/>
                    <a:p>
                      <a:r>
                        <a:rPr lang="en-US" b="1">
                          <a:solidFill>
                            <a:schemeClr val="tx1"/>
                          </a:solidFill>
                          <a:latin typeface="Arial" panose="020B0604020202020204" pitchFamily="34" charset="0"/>
                          <a:cs typeface="Arial" panose="020B0604020202020204" pitchFamily="34" charset="0"/>
                        </a:rPr>
                        <a:t>SETUP</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a:latin typeface="Arial" panose="020B0604020202020204" pitchFamily="34" charset="0"/>
                          <a:cs typeface="Arial" panose="020B0604020202020204" pitchFamily="34" charset="0"/>
                        </a:rPr>
                        <a:t>When a transfer is required, the interface moves into the SETUP state, where the appropriate select signal, PSELx, is asserted. The interface only remains in the SETUP state for one clock cycle and always moves to the ACCESS state on the next rising edge of the clock.</a:t>
                      </a:r>
                      <a:endParaRPr lang="en-US" b="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1320991"/>
                  </a:ext>
                </a:extLst>
              </a:tr>
            </a:tbl>
          </a:graphicData>
        </a:graphic>
      </p:graphicFrame>
    </p:spTree>
    <p:extLst>
      <p:ext uri="{BB962C8B-B14F-4D97-AF65-F5344CB8AC3E}">
        <p14:creationId xmlns:p14="http://schemas.microsoft.com/office/powerpoint/2010/main" val="2757020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C4280A4-ACBD-B020-481A-97E5EF1A1F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174AF18-A2AA-9062-BB87-C89F4F7751C9}"/>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3E4EBB39-557C-330A-396B-55357F2E9775}"/>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23</a:t>
            </a:fld>
            <a:endParaRPr spc="-25" dirty="0"/>
          </a:p>
        </p:txBody>
      </p:sp>
      <p:sp>
        <p:nvSpPr>
          <p:cNvPr id="6" name="object 6">
            <a:extLst>
              <a:ext uri="{FF2B5EF4-FFF2-40B4-BE49-F238E27FC236}">
                <a16:creationId xmlns:a16="http://schemas.microsoft.com/office/drawing/2014/main" id="{7D6138D6-E61C-A7E3-1BEF-6EBECF8CCF93}"/>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A501883A-2451-6D84-7B47-A84E5AB70D0A}"/>
              </a:ext>
            </a:extLst>
          </p:cNvPr>
          <p:cNvSpPr txBox="1">
            <a:spLocks noGrp="1"/>
          </p:cNvSpPr>
          <p:nvPr>
            <p:ph type="title"/>
          </p:nvPr>
        </p:nvSpPr>
        <p:spPr>
          <a:xfrm>
            <a:off x="508317" y="480313"/>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a:extLst>
              <a:ext uri="{FF2B5EF4-FFF2-40B4-BE49-F238E27FC236}">
                <a16:creationId xmlns:a16="http://schemas.microsoft.com/office/drawing/2014/main" id="{E58CA249-F67A-9386-8B03-DA3A84D779C2}"/>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1.4 Operation States</a:t>
            </a:r>
          </a:p>
        </p:txBody>
      </p:sp>
      <p:graphicFrame>
        <p:nvGraphicFramePr>
          <p:cNvPr id="7" name="Table 6">
            <a:extLst>
              <a:ext uri="{FF2B5EF4-FFF2-40B4-BE49-F238E27FC236}">
                <a16:creationId xmlns:a16="http://schemas.microsoft.com/office/drawing/2014/main" id="{F5345214-CCC0-1BDB-2373-E7DD381B7F5E}"/>
              </a:ext>
            </a:extLst>
          </p:cNvPr>
          <p:cNvGraphicFramePr>
            <a:graphicFrameLocks noGrp="1"/>
          </p:cNvGraphicFramePr>
          <p:nvPr>
            <p:extLst>
              <p:ext uri="{D42A27DB-BD31-4B8C-83A1-F6EECF244321}">
                <p14:modId xmlns:p14="http://schemas.microsoft.com/office/powerpoint/2010/main" val="2962019359"/>
              </p:ext>
            </p:extLst>
          </p:nvPr>
        </p:nvGraphicFramePr>
        <p:xfrm>
          <a:off x="476250" y="1898650"/>
          <a:ext cx="5719950" cy="4480560"/>
        </p:xfrm>
        <a:graphic>
          <a:graphicData uri="http://schemas.openxmlformats.org/drawingml/2006/table">
            <a:tbl>
              <a:tblPr firstRow="1" bandRow="1">
                <a:tableStyleId>{5C22544A-7EE6-4342-B048-85BDC9FD1C3A}</a:tableStyleId>
              </a:tblPr>
              <a:tblGrid>
                <a:gridCol w="1472883">
                  <a:extLst>
                    <a:ext uri="{9D8B030D-6E8A-4147-A177-3AD203B41FA5}">
                      <a16:colId xmlns:a16="http://schemas.microsoft.com/office/drawing/2014/main" val="2151413220"/>
                    </a:ext>
                  </a:extLst>
                </a:gridCol>
                <a:gridCol w="4247067">
                  <a:extLst>
                    <a:ext uri="{9D8B030D-6E8A-4147-A177-3AD203B41FA5}">
                      <a16:colId xmlns:a16="http://schemas.microsoft.com/office/drawing/2014/main" val="1620044529"/>
                    </a:ext>
                  </a:extLst>
                </a:gridCol>
              </a:tblGrid>
              <a:tr h="370840">
                <a:tc>
                  <a:txBody>
                    <a:bodyPr/>
                    <a:lstStyle/>
                    <a:p>
                      <a:r>
                        <a:rPr lang="en-US" b="1">
                          <a:solidFill>
                            <a:schemeClr val="tx1"/>
                          </a:solidFill>
                          <a:latin typeface="Arial" panose="020B0604020202020204" pitchFamily="34" charset="0"/>
                          <a:cs typeface="Arial" panose="020B0604020202020204" pitchFamily="34" charset="0"/>
                        </a:rPr>
                        <a:t>ACCESS</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b="1">
                          <a:solidFill>
                            <a:schemeClr val="tx1"/>
                          </a:solidFill>
                          <a:latin typeface="Arial" panose="020B0604020202020204" pitchFamily="34" charset="0"/>
                          <a:cs typeface="Arial" panose="020B0604020202020204" pitchFamily="34" charset="0"/>
                        </a:rPr>
                        <a:t>PENABLE</a:t>
                      </a:r>
                      <a:r>
                        <a:rPr lang="en-US" b="0">
                          <a:solidFill>
                            <a:schemeClr val="tx1"/>
                          </a:solidFill>
                          <a:latin typeface="Arial" panose="020B0604020202020204" pitchFamily="34" charset="0"/>
                          <a:cs typeface="Arial" panose="020B0604020202020204" pitchFamily="34" charset="0"/>
                        </a:rPr>
                        <a:t> is asserted in the ACCESS state. During the transition from SETUP to ACCESS and throughout the ACCESS state, the following signals must remain stable: </a:t>
                      </a:r>
                      <a:r>
                        <a:rPr lang="en-US" b="1" i="1">
                          <a:solidFill>
                            <a:schemeClr val="tx1"/>
                          </a:solidFill>
                          <a:latin typeface="Arial" panose="020B0604020202020204" pitchFamily="34" charset="0"/>
                          <a:cs typeface="Arial" panose="020B0604020202020204" pitchFamily="34" charset="0"/>
                        </a:rPr>
                        <a:t>PADDR, PPROT, PWRITE, PSTRB, PAUSER, PWUSER, and PWDATA </a:t>
                      </a:r>
                      <a:r>
                        <a:rPr lang="en-US" b="0">
                          <a:solidFill>
                            <a:schemeClr val="tx1"/>
                          </a:solidFill>
                          <a:latin typeface="Arial" panose="020B0604020202020204" pitchFamily="34" charset="0"/>
                          <a:cs typeface="Arial" panose="020B0604020202020204" pitchFamily="34" charset="0"/>
                        </a:rPr>
                        <a:t>(for write transfers only).</a:t>
                      </a:r>
                    </a:p>
                    <a:p>
                      <a:pPr marL="285750" indent="-285750">
                        <a:buFont typeface="Arial" panose="020B0604020202020204" pitchFamily="34" charset="0"/>
                        <a:buChar char="•"/>
                      </a:pPr>
                      <a:r>
                        <a:rPr lang="en-US" b="0">
                          <a:solidFill>
                            <a:schemeClr val="tx1"/>
                          </a:solidFill>
                          <a:latin typeface="Arial" panose="020B0604020202020204" pitchFamily="34" charset="0"/>
                          <a:cs typeface="Arial" panose="020B0604020202020204" pitchFamily="34" charset="0"/>
                        </a:rPr>
                        <a:t>The exit from the ACCESS state depends on </a:t>
                      </a:r>
                      <a:r>
                        <a:rPr lang="en-US" b="1">
                          <a:solidFill>
                            <a:schemeClr val="tx1"/>
                          </a:solidFill>
                          <a:latin typeface="Arial" panose="020B0604020202020204" pitchFamily="34" charset="0"/>
                          <a:cs typeface="Arial" panose="020B0604020202020204" pitchFamily="34" charset="0"/>
                        </a:rPr>
                        <a:t>PREADY</a:t>
                      </a:r>
                      <a:r>
                        <a:rPr lang="en-US" b="0">
                          <a:solidFill>
                            <a:schemeClr val="tx1"/>
                          </a:solidFill>
                          <a:latin typeface="Arial" panose="020B0604020202020204" pitchFamily="34" charset="0"/>
                          <a:cs typeface="Arial" panose="020B0604020202020204" pitchFamily="34" charset="0"/>
                        </a:rPr>
                        <a:t> from the Completer: if </a:t>
                      </a:r>
                      <a:r>
                        <a:rPr lang="en-US" b="1">
                          <a:solidFill>
                            <a:schemeClr val="tx1"/>
                          </a:solidFill>
                          <a:latin typeface="Arial" panose="020B0604020202020204" pitchFamily="34" charset="0"/>
                          <a:cs typeface="Arial" panose="020B0604020202020204" pitchFamily="34" charset="0"/>
                        </a:rPr>
                        <a:t>PREADY</a:t>
                      </a:r>
                      <a:r>
                        <a:rPr lang="en-US" b="0">
                          <a:solidFill>
                            <a:schemeClr val="tx1"/>
                          </a:solidFill>
                          <a:latin typeface="Arial" panose="020B0604020202020204" pitchFamily="34" charset="0"/>
                          <a:cs typeface="Arial" panose="020B0604020202020204" pitchFamily="34" charset="0"/>
                        </a:rPr>
                        <a:t> is LOW, the bus </a:t>
                      </a:r>
                      <a:r>
                        <a:rPr lang="en-US" b="1" i="1">
                          <a:solidFill>
                            <a:schemeClr val="tx1"/>
                          </a:solidFill>
                          <a:latin typeface="Arial" panose="020B0604020202020204" pitchFamily="34" charset="0"/>
                          <a:cs typeface="Arial" panose="020B0604020202020204" pitchFamily="34" charset="0"/>
                        </a:rPr>
                        <a:t>stays</a:t>
                      </a:r>
                      <a:r>
                        <a:rPr lang="en-US" b="0">
                          <a:solidFill>
                            <a:schemeClr val="tx1"/>
                          </a:solidFill>
                          <a:latin typeface="Arial" panose="020B0604020202020204" pitchFamily="34" charset="0"/>
                          <a:cs typeface="Arial" panose="020B0604020202020204" pitchFamily="34" charset="0"/>
                        </a:rPr>
                        <a:t> </a:t>
                      </a:r>
                      <a:r>
                        <a:rPr lang="en-US" b="1" i="1">
                          <a:solidFill>
                            <a:schemeClr val="tx1"/>
                          </a:solidFill>
                          <a:latin typeface="Arial" panose="020B0604020202020204" pitchFamily="34" charset="0"/>
                          <a:cs typeface="Arial" panose="020B0604020202020204" pitchFamily="34" charset="0"/>
                        </a:rPr>
                        <a:t>in</a:t>
                      </a:r>
                      <a:r>
                        <a:rPr lang="en-US" b="0">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ACCESS</a:t>
                      </a:r>
                      <a:r>
                        <a:rPr lang="en-US" b="0">
                          <a:solidFill>
                            <a:schemeClr val="tx1"/>
                          </a:solidFill>
                          <a:latin typeface="Arial" panose="020B0604020202020204" pitchFamily="34" charset="0"/>
                          <a:cs typeface="Arial" panose="020B0604020202020204" pitchFamily="34" charset="0"/>
                        </a:rPr>
                        <a:t>; if </a:t>
                      </a:r>
                      <a:r>
                        <a:rPr lang="en-US" b="1">
                          <a:solidFill>
                            <a:schemeClr val="tx1"/>
                          </a:solidFill>
                          <a:latin typeface="Arial" panose="020B0604020202020204" pitchFamily="34" charset="0"/>
                          <a:cs typeface="Arial" panose="020B0604020202020204" pitchFamily="34" charset="0"/>
                        </a:rPr>
                        <a:t>PREADY</a:t>
                      </a:r>
                      <a:r>
                        <a:rPr lang="en-US" b="0">
                          <a:solidFill>
                            <a:schemeClr val="tx1"/>
                          </a:solidFill>
                          <a:latin typeface="Arial" panose="020B0604020202020204" pitchFamily="34" charset="0"/>
                          <a:cs typeface="Arial" panose="020B0604020202020204" pitchFamily="34" charset="0"/>
                        </a:rPr>
                        <a:t> is HIGH, the bus </a:t>
                      </a:r>
                      <a:r>
                        <a:rPr lang="en-US" b="1" i="1">
                          <a:solidFill>
                            <a:schemeClr val="tx1"/>
                          </a:solidFill>
                          <a:latin typeface="Arial" panose="020B0604020202020204" pitchFamily="34" charset="0"/>
                          <a:cs typeface="Arial" panose="020B0604020202020204" pitchFamily="34" charset="0"/>
                        </a:rPr>
                        <a:t>leaves</a:t>
                      </a:r>
                      <a:r>
                        <a:rPr lang="en-US" b="0">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ACCESS</a:t>
                      </a:r>
                      <a:r>
                        <a:rPr lang="en-US" b="0">
                          <a:solidFill>
                            <a:schemeClr val="tx1"/>
                          </a:solidFill>
                          <a:latin typeface="Arial" panose="020B0604020202020204" pitchFamily="34" charset="0"/>
                          <a:cs typeface="Arial" panose="020B0604020202020204" pitchFamily="34" charset="0"/>
                        </a:rPr>
                        <a:t> and returns to IDLE or moves directly to SETUP for the next transfer.</a:t>
                      </a:r>
                    </a:p>
                    <a:p>
                      <a:endParaRPr lang="en-US" b="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9539502"/>
                  </a:ext>
                </a:extLst>
              </a:tr>
            </a:tbl>
          </a:graphicData>
        </a:graphic>
      </p:graphicFrame>
      <p:pic>
        <p:nvPicPr>
          <p:cNvPr id="8" name="Picture 7" descr="A diagram of a system&#10;&#10;AI-generated content may be incorrect.">
            <a:extLst>
              <a:ext uri="{FF2B5EF4-FFF2-40B4-BE49-F238E27FC236}">
                <a16:creationId xmlns:a16="http://schemas.microsoft.com/office/drawing/2014/main" id="{CC727474-D7BE-6648-5E33-084D5996BDB2}"/>
              </a:ext>
            </a:extLst>
          </p:cNvPr>
          <p:cNvPicPr>
            <a:picLocks noChangeAspect="1"/>
          </p:cNvPicPr>
          <p:nvPr/>
        </p:nvPicPr>
        <p:blipFill>
          <a:blip r:embed="rId2"/>
          <a:stretch>
            <a:fillRect/>
          </a:stretch>
        </p:blipFill>
        <p:spPr>
          <a:xfrm>
            <a:off x="6324600" y="1524000"/>
            <a:ext cx="4932866" cy="4953000"/>
          </a:xfrm>
          <a:prstGeom prst="rect">
            <a:avLst/>
          </a:prstGeom>
        </p:spPr>
      </p:pic>
    </p:spTree>
    <p:extLst>
      <p:ext uri="{BB962C8B-B14F-4D97-AF65-F5344CB8AC3E}">
        <p14:creationId xmlns:p14="http://schemas.microsoft.com/office/powerpoint/2010/main" val="1451970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5787390" cy="575310"/>
          </a:xfrm>
          <a:prstGeom prst="rect">
            <a:avLst/>
          </a:prstGeom>
        </p:spPr>
        <p:txBody>
          <a:bodyPr vert="horz" wrap="square" lIns="0" tIns="13335" rIns="0" bIns="0" rtlCol="0">
            <a:spAutoFit/>
          </a:bodyPr>
          <a:lstStyle/>
          <a:p>
            <a:pPr marL="12700">
              <a:lnSpc>
                <a:spcPct val="100000"/>
              </a:lnSpc>
              <a:spcBef>
                <a:spcPts val="105"/>
              </a:spcBef>
            </a:pPr>
            <a:r>
              <a:rPr dirty="0"/>
              <a:t>2.</a:t>
            </a:r>
            <a:r>
              <a:rPr spc="-135" dirty="0"/>
              <a:t> </a:t>
            </a:r>
            <a:r>
              <a:rPr dirty="0"/>
              <a:t>High</a:t>
            </a:r>
            <a:r>
              <a:rPr spc="-145" dirty="0"/>
              <a:t> </a:t>
            </a:r>
            <a:r>
              <a:rPr dirty="0"/>
              <a:t>Level</a:t>
            </a:r>
            <a:r>
              <a:rPr spc="-150" dirty="0"/>
              <a:t> </a:t>
            </a:r>
            <a:r>
              <a:rPr dirty="0"/>
              <a:t>Block</a:t>
            </a:r>
            <a:r>
              <a:rPr spc="-165" dirty="0"/>
              <a:t> </a:t>
            </a:r>
            <a:r>
              <a:rPr spc="-10" dirty="0"/>
              <a:t>Design</a:t>
            </a:r>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24</a:t>
            </a:fld>
            <a:endParaRPr spc="-25" dirty="0"/>
          </a:p>
        </p:txBody>
      </p:sp>
      <p:sp>
        <p:nvSpPr>
          <p:cNvPr id="5" name="object 5"/>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317" y="370616"/>
            <a:ext cx="7871459" cy="677750"/>
          </a:xfrm>
          <a:prstGeom prst="rect">
            <a:avLst/>
          </a:prstGeom>
        </p:spPr>
        <p:txBody>
          <a:bodyPr vert="horz" wrap="square" lIns="0" tIns="122555" rIns="0" bIns="0" rtlCol="0">
            <a:spAutoFit/>
          </a:bodyPr>
          <a:lstStyle/>
          <a:p>
            <a:pPr marL="12700">
              <a:lnSpc>
                <a:spcPct val="100000"/>
              </a:lnSpc>
              <a:spcBef>
                <a:spcPts val="965"/>
              </a:spcBef>
            </a:pPr>
            <a:r>
              <a:rPr dirty="0"/>
              <a:t>2.</a:t>
            </a:r>
            <a:r>
              <a:rPr spc="-160" dirty="0"/>
              <a:t> </a:t>
            </a:r>
            <a:r>
              <a:rPr dirty="0"/>
              <a:t>High</a:t>
            </a:r>
            <a:r>
              <a:rPr spc="-140" dirty="0"/>
              <a:t> </a:t>
            </a:r>
            <a:r>
              <a:rPr dirty="0"/>
              <a:t>Level</a:t>
            </a:r>
            <a:r>
              <a:rPr spc="-140" dirty="0"/>
              <a:t> </a:t>
            </a:r>
            <a:r>
              <a:t>Block</a:t>
            </a:r>
            <a:r>
              <a:rPr spc="-160"/>
              <a:t> </a:t>
            </a:r>
            <a:r>
              <a:rPr spc="-10"/>
              <a:t>Design</a:t>
            </a:r>
            <a:endParaRPr spc="-10" dirty="0"/>
          </a:p>
        </p:txBody>
      </p:sp>
      <p:sp>
        <p:nvSpPr>
          <p:cNvPr id="5" name="object 5"/>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25</a:t>
            </a:fld>
            <a:endParaRPr spc="-25" dirty="0"/>
          </a:p>
        </p:txBody>
      </p:sp>
      <p:sp>
        <p:nvSpPr>
          <p:cNvPr id="7" name="object 7"/>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12" name="object 3">
            <a:extLst>
              <a:ext uri="{FF2B5EF4-FFF2-40B4-BE49-F238E27FC236}">
                <a16:creationId xmlns:a16="http://schemas.microsoft.com/office/drawing/2014/main" id="{CBBD0149-D6CC-455F-923E-2F8A6E7165BE}"/>
              </a:ext>
            </a:extLst>
          </p:cNvPr>
          <p:cNvSpPr txBox="1"/>
          <p:nvPr/>
        </p:nvSpPr>
        <p:spPr>
          <a:xfrm>
            <a:off x="508317" y="1121155"/>
            <a:ext cx="49780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2</a:t>
            </a:r>
            <a:r>
              <a:rPr sz="3000" b="1">
                <a:solidFill>
                  <a:srgbClr val="7C45AD"/>
                </a:solidFill>
                <a:latin typeface="Arial"/>
                <a:cs typeface="Arial"/>
              </a:rPr>
              <a:t>.</a:t>
            </a:r>
            <a:r>
              <a:rPr lang="en-US" sz="3000" b="1">
                <a:solidFill>
                  <a:srgbClr val="7C45AD"/>
                </a:solidFill>
                <a:latin typeface="Arial"/>
                <a:cs typeface="Arial"/>
              </a:rPr>
              <a:t>1 APB Interface</a:t>
            </a:r>
            <a:endParaRPr sz="3000">
              <a:latin typeface="Arial"/>
              <a:cs typeface="Arial"/>
            </a:endParaRPr>
          </a:p>
        </p:txBody>
      </p:sp>
      <p:sp>
        <p:nvSpPr>
          <p:cNvPr id="3" name="TextBox 2">
            <a:extLst>
              <a:ext uri="{FF2B5EF4-FFF2-40B4-BE49-F238E27FC236}">
                <a16:creationId xmlns:a16="http://schemas.microsoft.com/office/drawing/2014/main" id="{DFE7319F-4FA8-E58E-4829-B1A04101917E}"/>
              </a:ext>
            </a:extLst>
          </p:cNvPr>
          <p:cNvSpPr txBox="1"/>
          <p:nvPr/>
        </p:nvSpPr>
        <p:spPr>
          <a:xfrm>
            <a:off x="3048698" y="6117945"/>
            <a:ext cx="6094476"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Interface</a:t>
            </a:r>
          </a:p>
        </p:txBody>
      </p:sp>
      <p:pic>
        <p:nvPicPr>
          <p:cNvPr id="1026" name="Picture 2">
            <a:extLst>
              <a:ext uri="{FF2B5EF4-FFF2-40B4-BE49-F238E27FC236}">
                <a16:creationId xmlns:a16="http://schemas.microsoft.com/office/drawing/2014/main" id="{125121B9-2415-2B72-066E-5ED308953E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536" y="1669074"/>
            <a:ext cx="6400800" cy="44865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861629B-0861-76FA-DF84-94F82FFF11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D93EE8-91BF-8570-7377-DDFEEFF72C02}"/>
              </a:ext>
            </a:extLst>
          </p:cNvPr>
          <p:cNvSpPr txBox="1">
            <a:spLocks noGrp="1"/>
          </p:cNvSpPr>
          <p:nvPr>
            <p:ph type="title"/>
          </p:nvPr>
        </p:nvSpPr>
        <p:spPr>
          <a:xfrm>
            <a:off x="508317" y="370616"/>
            <a:ext cx="7871459" cy="677750"/>
          </a:xfrm>
          <a:prstGeom prst="rect">
            <a:avLst/>
          </a:prstGeom>
        </p:spPr>
        <p:txBody>
          <a:bodyPr vert="horz" wrap="square" lIns="0" tIns="122555" rIns="0" bIns="0" rtlCol="0">
            <a:spAutoFit/>
          </a:bodyPr>
          <a:lstStyle/>
          <a:p>
            <a:pPr marL="12700">
              <a:lnSpc>
                <a:spcPct val="100000"/>
              </a:lnSpc>
              <a:spcBef>
                <a:spcPts val="965"/>
              </a:spcBef>
            </a:pPr>
            <a:r>
              <a:rPr dirty="0"/>
              <a:t>2.</a:t>
            </a:r>
            <a:r>
              <a:rPr spc="-160" dirty="0"/>
              <a:t> </a:t>
            </a:r>
            <a:r>
              <a:rPr dirty="0"/>
              <a:t>High</a:t>
            </a:r>
            <a:r>
              <a:rPr spc="-140" dirty="0"/>
              <a:t> </a:t>
            </a:r>
            <a:r>
              <a:rPr dirty="0"/>
              <a:t>Level</a:t>
            </a:r>
            <a:r>
              <a:rPr spc="-140" dirty="0"/>
              <a:t> </a:t>
            </a:r>
            <a:r>
              <a:t>Block</a:t>
            </a:r>
            <a:r>
              <a:rPr spc="-160"/>
              <a:t> </a:t>
            </a:r>
            <a:r>
              <a:rPr spc="-10"/>
              <a:t>Design</a:t>
            </a:r>
            <a:endParaRPr spc="-10" dirty="0"/>
          </a:p>
        </p:txBody>
      </p:sp>
      <p:sp>
        <p:nvSpPr>
          <p:cNvPr id="5" name="object 5">
            <a:extLst>
              <a:ext uri="{FF2B5EF4-FFF2-40B4-BE49-F238E27FC236}">
                <a16:creationId xmlns:a16="http://schemas.microsoft.com/office/drawing/2014/main" id="{A6606177-1FAF-207A-B6B3-2A2A2D5E8F81}"/>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object 6">
            <a:extLst>
              <a:ext uri="{FF2B5EF4-FFF2-40B4-BE49-F238E27FC236}">
                <a16:creationId xmlns:a16="http://schemas.microsoft.com/office/drawing/2014/main" id="{E2A47CBE-B399-CAD2-BEB0-554BAF80B590}"/>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26</a:t>
            </a:fld>
            <a:endParaRPr spc="-25" dirty="0"/>
          </a:p>
        </p:txBody>
      </p:sp>
      <p:sp>
        <p:nvSpPr>
          <p:cNvPr id="7" name="object 7">
            <a:extLst>
              <a:ext uri="{FF2B5EF4-FFF2-40B4-BE49-F238E27FC236}">
                <a16:creationId xmlns:a16="http://schemas.microsoft.com/office/drawing/2014/main" id="{4600393A-5BAE-F5F4-97FA-F2FCBFD9896D}"/>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12" name="object 3">
            <a:extLst>
              <a:ext uri="{FF2B5EF4-FFF2-40B4-BE49-F238E27FC236}">
                <a16:creationId xmlns:a16="http://schemas.microsoft.com/office/drawing/2014/main" id="{54A9F735-0A37-7FF9-2FEE-2640274EDAC4}"/>
              </a:ext>
            </a:extLst>
          </p:cNvPr>
          <p:cNvSpPr txBox="1"/>
          <p:nvPr/>
        </p:nvSpPr>
        <p:spPr>
          <a:xfrm>
            <a:off x="508317" y="1121155"/>
            <a:ext cx="49780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2</a:t>
            </a:r>
            <a:r>
              <a:rPr sz="3000" b="1">
                <a:solidFill>
                  <a:srgbClr val="7C45AD"/>
                </a:solidFill>
                <a:latin typeface="Arial"/>
                <a:cs typeface="Arial"/>
              </a:rPr>
              <a:t>.</a:t>
            </a:r>
            <a:r>
              <a:rPr lang="en-US" sz="3000" b="1">
                <a:solidFill>
                  <a:srgbClr val="7C45AD"/>
                </a:solidFill>
                <a:latin typeface="Arial"/>
                <a:cs typeface="Arial"/>
              </a:rPr>
              <a:t>2 APB Master</a:t>
            </a:r>
            <a:endParaRPr sz="3000">
              <a:latin typeface="Arial"/>
              <a:cs typeface="Arial"/>
            </a:endParaRPr>
          </a:p>
        </p:txBody>
      </p:sp>
      <p:sp>
        <p:nvSpPr>
          <p:cNvPr id="3" name="TextBox 2">
            <a:extLst>
              <a:ext uri="{FF2B5EF4-FFF2-40B4-BE49-F238E27FC236}">
                <a16:creationId xmlns:a16="http://schemas.microsoft.com/office/drawing/2014/main" id="{81A1C111-1B10-ACBC-F267-AFDA320DB205}"/>
              </a:ext>
            </a:extLst>
          </p:cNvPr>
          <p:cNvSpPr txBox="1"/>
          <p:nvPr/>
        </p:nvSpPr>
        <p:spPr>
          <a:xfrm>
            <a:off x="3048698" y="6117945"/>
            <a:ext cx="6094476"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Master block</a:t>
            </a:r>
          </a:p>
        </p:txBody>
      </p:sp>
      <p:pic>
        <p:nvPicPr>
          <p:cNvPr id="1032" name="Picture 8">
            <a:extLst>
              <a:ext uri="{FF2B5EF4-FFF2-40B4-BE49-F238E27FC236}">
                <a16:creationId xmlns:a16="http://schemas.microsoft.com/office/drawing/2014/main" id="{FC8EB0B9-589F-DEB5-E60F-7A0ADFAEBB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8528" y="1775166"/>
            <a:ext cx="6274816" cy="4262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2994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148DF1A-DB9C-B68E-218D-0FBAE8EBEE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93790B-FF68-3CB8-8C62-15A44A69216B}"/>
              </a:ext>
            </a:extLst>
          </p:cNvPr>
          <p:cNvSpPr txBox="1">
            <a:spLocks noGrp="1"/>
          </p:cNvSpPr>
          <p:nvPr>
            <p:ph type="title"/>
          </p:nvPr>
        </p:nvSpPr>
        <p:spPr>
          <a:xfrm>
            <a:off x="508317" y="370616"/>
            <a:ext cx="7871459" cy="677750"/>
          </a:xfrm>
          <a:prstGeom prst="rect">
            <a:avLst/>
          </a:prstGeom>
        </p:spPr>
        <p:txBody>
          <a:bodyPr vert="horz" wrap="square" lIns="0" tIns="122555" rIns="0" bIns="0" rtlCol="0">
            <a:spAutoFit/>
          </a:bodyPr>
          <a:lstStyle/>
          <a:p>
            <a:pPr marL="12700">
              <a:lnSpc>
                <a:spcPct val="100000"/>
              </a:lnSpc>
              <a:spcBef>
                <a:spcPts val="965"/>
              </a:spcBef>
            </a:pPr>
            <a:r>
              <a:rPr dirty="0"/>
              <a:t>2.</a:t>
            </a:r>
            <a:r>
              <a:rPr spc="-160" dirty="0"/>
              <a:t> </a:t>
            </a:r>
            <a:r>
              <a:rPr dirty="0"/>
              <a:t>High</a:t>
            </a:r>
            <a:r>
              <a:rPr spc="-140" dirty="0"/>
              <a:t> </a:t>
            </a:r>
            <a:r>
              <a:rPr dirty="0"/>
              <a:t>Level</a:t>
            </a:r>
            <a:r>
              <a:rPr spc="-140" dirty="0"/>
              <a:t> </a:t>
            </a:r>
            <a:r>
              <a:t>Block</a:t>
            </a:r>
            <a:r>
              <a:rPr spc="-160"/>
              <a:t> </a:t>
            </a:r>
            <a:r>
              <a:rPr spc="-10"/>
              <a:t>Design</a:t>
            </a:r>
            <a:endParaRPr spc="-10" dirty="0"/>
          </a:p>
        </p:txBody>
      </p:sp>
      <p:sp>
        <p:nvSpPr>
          <p:cNvPr id="5" name="object 5">
            <a:extLst>
              <a:ext uri="{FF2B5EF4-FFF2-40B4-BE49-F238E27FC236}">
                <a16:creationId xmlns:a16="http://schemas.microsoft.com/office/drawing/2014/main" id="{5A94A512-4DE4-5F37-4475-85A5A004B32C}"/>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object 6">
            <a:extLst>
              <a:ext uri="{FF2B5EF4-FFF2-40B4-BE49-F238E27FC236}">
                <a16:creationId xmlns:a16="http://schemas.microsoft.com/office/drawing/2014/main" id="{69979D35-46E0-38D4-17F1-802630CB3287}"/>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27</a:t>
            </a:fld>
            <a:endParaRPr spc="-25" dirty="0"/>
          </a:p>
        </p:txBody>
      </p:sp>
      <p:sp>
        <p:nvSpPr>
          <p:cNvPr id="7" name="object 7">
            <a:extLst>
              <a:ext uri="{FF2B5EF4-FFF2-40B4-BE49-F238E27FC236}">
                <a16:creationId xmlns:a16="http://schemas.microsoft.com/office/drawing/2014/main" id="{1E071652-A7F9-C423-F6B6-DD042B8212CC}"/>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12" name="object 3">
            <a:extLst>
              <a:ext uri="{FF2B5EF4-FFF2-40B4-BE49-F238E27FC236}">
                <a16:creationId xmlns:a16="http://schemas.microsoft.com/office/drawing/2014/main" id="{F3280CE6-1327-3642-F792-CFF105FCA820}"/>
              </a:ext>
            </a:extLst>
          </p:cNvPr>
          <p:cNvSpPr txBox="1"/>
          <p:nvPr/>
        </p:nvSpPr>
        <p:spPr>
          <a:xfrm>
            <a:off x="508317" y="1121155"/>
            <a:ext cx="49780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2</a:t>
            </a:r>
            <a:r>
              <a:rPr sz="3000" b="1">
                <a:solidFill>
                  <a:srgbClr val="7C45AD"/>
                </a:solidFill>
                <a:latin typeface="Arial"/>
                <a:cs typeface="Arial"/>
              </a:rPr>
              <a:t>.</a:t>
            </a:r>
            <a:r>
              <a:rPr lang="en-US" sz="3000" b="1">
                <a:solidFill>
                  <a:srgbClr val="7C45AD"/>
                </a:solidFill>
                <a:latin typeface="Arial"/>
                <a:cs typeface="Arial"/>
              </a:rPr>
              <a:t>3 APB Slave</a:t>
            </a:r>
            <a:endParaRPr sz="3000">
              <a:latin typeface="Arial"/>
              <a:cs typeface="Arial"/>
            </a:endParaRPr>
          </a:p>
        </p:txBody>
      </p:sp>
      <p:sp>
        <p:nvSpPr>
          <p:cNvPr id="3" name="TextBox 2">
            <a:extLst>
              <a:ext uri="{FF2B5EF4-FFF2-40B4-BE49-F238E27FC236}">
                <a16:creationId xmlns:a16="http://schemas.microsoft.com/office/drawing/2014/main" id="{2CD45A0E-CCD5-C900-541B-4F8F6524FBEC}"/>
              </a:ext>
            </a:extLst>
          </p:cNvPr>
          <p:cNvSpPr txBox="1"/>
          <p:nvPr/>
        </p:nvSpPr>
        <p:spPr>
          <a:xfrm>
            <a:off x="3048698" y="6117945"/>
            <a:ext cx="6094476"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Slave block</a:t>
            </a:r>
          </a:p>
        </p:txBody>
      </p:sp>
      <p:pic>
        <p:nvPicPr>
          <p:cNvPr id="2050" name="Picture 2">
            <a:extLst>
              <a:ext uri="{FF2B5EF4-FFF2-40B4-BE49-F238E27FC236}">
                <a16:creationId xmlns:a16="http://schemas.microsoft.com/office/drawing/2014/main" id="{F85BA653-98F3-EF75-4260-7205B43AD64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3336" y="1676925"/>
            <a:ext cx="3505200" cy="4320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241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161E75-4015-5C49-9A1B-2A759E8A06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6C749E-A4DA-844D-2C22-C61C40F65A9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A3E2A4A-0886-4358-AD93-906974195064}"/>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28</a:t>
            </a:fld>
            <a:endParaRPr spc="-25" dirty="0"/>
          </a:p>
        </p:txBody>
      </p:sp>
      <p:sp>
        <p:nvSpPr>
          <p:cNvPr id="6" name="object 6">
            <a:extLst>
              <a:ext uri="{FF2B5EF4-FFF2-40B4-BE49-F238E27FC236}">
                <a16:creationId xmlns:a16="http://schemas.microsoft.com/office/drawing/2014/main" id="{9048BF82-8737-BD26-8084-C0B3AE4C1885}"/>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51E91BDC-9B77-25B9-97EA-AE089AC486A2}"/>
              </a:ext>
            </a:extLst>
          </p:cNvPr>
          <p:cNvSpPr txBox="1">
            <a:spLocks noGrp="1"/>
          </p:cNvSpPr>
          <p:nvPr>
            <p:ph type="title"/>
          </p:nvPr>
        </p:nvSpPr>
        <p:spPr>
          <a:xfrm>
            <a:off x="508316" y="480313"/>
            <a:ext cx="6197283" cy="567463"/>
          </a:xfrm>
          <a:prstGeom prst="rect">
            <a:avLst/>
          </a:prstGeom>
        </p:spPr>
        <p:txBody>
          <a:bodyPr vert="horz" wrap="square" lIns="0" tIns="13335" rIns="0" bIns="0" rtlCol="0">
            <a:spAutoFit/>
          </a:bodyPr>
          <a:lstStyle/>
          <a:p>
            <a:pPr marL="12700">
              <a:lnSpc>
                <a:spcPct val="100000"/>
              </a:lnSpc>
              <a:spcBef>
                <a:spcPts val="105"/>
              </a:spcBef>
            </a:pPr>
            <a:r>
              <a:rPr lang="en-US"/>
              <a:t>2.</a:t>
            </a:r>
            <a:r>
              <a:rPr lang="en-US" spc="-160"/>
              <a:t> </a:t>
            </a:r>
            <a:r>
              <a:rPr lang="en-US"/>
              <a:t>High</a:t>
            </a:r>
            <a:r>
              <a:rPr lang="en-US" spc="-140"/>
              <a:t> </a:t>
            </a:r>
            <a:r>
              <a:rPr lang="en-US"/>
              <a:t>Level</a:t>
            </a:r>
            <a:r>
              <a:rPr lang="en-US" spc="-140"/>
              <a:t> </a:t>
            </a:r>
            <a:r>
              <a:rPr lang="en-US"/>
              <a:t>Block</a:t>
            </a:r>
            <a:r>
              <a:rPr lang="en-US" spc="-160"/>
              <a:t> </a:t>
            </a:r>
            <a:r>
              <a:rPr lang="en-US" spc="-10"/>
              <a:t>Design</a:t>
            </a:r>
            <a:endParaRPr spc="-20" dirty="0"/>
          </a:p>
        </p:txBody>
      </p:sp>
      <p:sp>
        <p:nvSpPr>
          <p:cNvPr id="3" name="object 3">
            <a:extLst>
              <a:ext uri="{FF2B5EF4-FFF2-40B4-BE49-F238E27FC236}">
                <a16:creationId xmlns:a16="http://schemas.microsoft.com/office/drawing/2014/main" id="{02B9E5EF-4194-21A1-31C3-81B500230ACE}"/>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2.4 AMBA ABP Interface signals</a:t>
            </a:r>
          </a:p>
        </p:txBody>
      </p:sp>
      <p:graphicFrame>
        <p:nvGraphicFramePr>
          <p:cNvPr id="7" name="Table 6">
            <a:extLst>
              <a:ext uri="{FF2B5EF4-FFF2-40B4-BE49-F238E27FC236}">
                <a16:creationId xmlns:a16="http://schemas.microsoft.com/office/drawing/2014/main" id="{4C4EDEA5-EA21-A2C7-4F0C-BA369F1472D1}"/>
              </a:ext>
            </a:extLst>
          </p:cNvPr>
          <p:cNvGraphicFramePr>
            <a:graphicFrameLocks noGrp="1"/>
          </p:cNvGraphicFramePr>
          <p:nvPr>
            <p:extLst>
              <p:ext uri="{D42A27DB-BD31-4B8C-83A1-F6EECF244321}">
                <p14:modId xmlns:p14="http://schemas.microsoft.com/office/powerpoint/2010/main" val="3845681468"/>
              </p:ext>
            </p:extLst>
          </p:nvPr>
        </p:nvGraphicFramePr>
        <p:xfrm>
          <a:off x="508317" y="1837178"/>
          <a:ext cx="11033444" cy="4450080"/>
        </p:xfrm>
        <a:graphic>
          <a:graphicData uri="http://schemas.openxmlformats.org/drawingml/2006/table">
            <a:tbl>
              <a:tblPr firstRow="1" bandRow="1">
                <a:tableStyleId>{5C22544A-7EE6-4342-B048-85BDC9FD1C3A}</a:tableStyleId>
              </a:tblPr>
              <a:tblGrid>
                <a:gridCol w="2463483">
                  <a:extLst>
                    <a:ext uri="{9D8B030D-6E8A-4147-A177-3AD203B41FA5}">
                      <a16:colId xmlns:a16="http://schemas.microsoft.com/office/drawing/2014/main" val="1108912286"/>
                    </a:ext>
                  </a:extLst>
                </a:gridCol>
                <a:gridCol w="15240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54457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TRANS</a:t>
                      </a:r>
                    </a:p>
                  </a:txBody>
                  <a:tcPr/>
                </a:tc>
                <a:tc>
                  <a:txBody>
                    <a:bodyPr/>
                    <a:lstStyle/>
                    <a:p>
                      <a:pPr algn="ctr"/>
                      <a:r>
                        <a:rPr lang="en-IN" sz="1600">
                          <a:solidFill>
                            <a:schemeClr val="tx1"/>
                          </a:solidFill>
                          <a:latin typeface="Arial" panose="020B0604020202020204" pitchFamily="34" charset="0"/>
                          <a:cs typeface="Arial" panose="020B0604020202020204" pitchFamily="34" charset="0"/>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Start signal. When the TRANS signal is set to HIGH, the system will begin operation. This signal may remain active for one clock cycle or multiple cycles.</a:t>
                      </a:r>
                    </a:p>
                  </a:txBody>
                  <a:tcPr/>
                </a:tc>
                <a:extLst>
                  <a:ext uri="{0D108BD9-81ED-4DB2-BD59-A6C34878D82A}">
                    <a16:rowId xmlns:a16="http://schemas.microsoft.com/office/drawing/2014/main" val="2693422610"/>
                  </a:ext>
                </a:extLst>
              </a:tr>
              <a:tr h="370840">
                <a:tc>
                  <a:txBody>
                    <a:bodyPr/>
                    <a:lstStyle/>
                    <a:p>
                      <a:pPr algn="ctr"/>
                      <a:r>
                        <a:rPr lang="en-US" sz="1600">
                          <a:latin typeface="Arial" panose="020B0604020202020204" pitchFamily="34" charset="0"/>
                          <a:cs typeface="Arial" panose="020B0604020202020204" pitchFamily="34" charset="0"/>
                        </a:rPr>
                        <a:t>READ</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r>
                        <a:rPr lang="en-US" sz="1600">
                          <a:latin typeface="Arial" panose="020B0604020202020204" pitchFamily="34" charset="0"/>
                          <a:cs typeface="Arial" panose="020B0604020202020204" pitchFamily="34" charset="0"/>
                        </a:rPr>
                        <a:t>Read signal. </a:t>
                      </a:r>
                    </a:p>
                  </a:txBody>
                  <a:tcPr/>
                </a:tc>
                <a:extLst>
                  <a:ext uri="{0D108BD9-81ED-4DB2-BD59-A6C34878D82A}">
                    <a16:rowId xmlns:a16="http://schemas.microsoft.com/office/drawing/2014/main" val="363023051"/>
                  </a:ext>
                </a:extLst>
              </a:tr>
              <a:tr h="370840">
                <a:tc>
                  <a:txBody>
                    <a:bodyPr/>
                    <a:lstStyle/>
                    <a:p>
                      <a:pPr algn="ctr"/>
                      <a:r>
                        <a:rPr lang="en-US" sz="1600">
                          <a:latin typeface="Arial" panose="020B0604020202020204" pitchFamily="34" charset="0"/>
                          <a:cs typeface="Arial" panose="020B0604020202020204" pitchFamily="34" charset="0"/>
                        </a:rPr>
                        <a:t>WRITE</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Write signal. </a:t>
                      </a:r>
                    </a:p>
                  </a:txBody>
                  <a:tcPr/>
                </a:tc>
                <a:extLst>
                  <a:ext uri="{0D108BD9-81ED-4DB2-BD59-A6C34878D82A}">
                    <a16:rowId xmlns:a16="http://schemas.microsoft.com/office/drawing/2014/main" val="1648389343"/>
                  </a:ext>
                </a:extLst>
              </a:tr>
              <a:tr h="370840">
                <a:tc>
                  <a:txBody>
                    <a:bodyPr/>
                    <a:lstStyle/>
                    <a:p>
                      <a:pPr algn="ctr"/>
                      <a:r>
                        <a:rPr lang="en-US" sz="1600">
                          <a:latin typeface="Arial" panose="020B0604020202020204" pitchFamily="34" charset="0"/>
                          <a:cs typeface="Arial" panose="020B0604020202020204" pitchFamily="34" charset="0"/>
                        </a:rPr>
                        <a:t>APB_WRITE_PADDR</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ADDR_WIDTH</a:t>
                      </a: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Address. This is the APB write address used by the APB master to write data to the slave. The address can be up to 32 bits wide.</a:t>
                      </a:r>
                    </a:p>
                  </a:txBody>
                  <a:tcPr/>
                </a:tc>
                <a:extLst>
                  <a:ext uri="{0D108BD9-81ED-4DB2-BD59-A6C34878D82A}">
                    <a16:rowId xmlns:a16="http://schemas.microsoft.com/office/drawing/2014/main" val="3605326436"/>
                  </a:ext>
                </a:extLst>
              </a:tr>
              <a:tr h="370840">
                <a:tc>
                  <a:txBody>
                    <a:bodyPr/>
                    <a:lstStyle/>
                    <a:p>
                      <a:pPr algn="ctr"/>
                      <a:r>
                        <a:rPr lang="en-US" sz="1600">
                          <a:latin typeface="Arial" panose="020B0604020202020204" pitchFamily="34" charset="0"/>
                          <a:cs typeface="Arial" panose="020B0604020202020204" pitchFamily="34" charset="0"/>
                        </a:rPr>
                        <a:t>APB_WRITE_DATA</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DATA_WIDTH</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Data Write. This is the data sent from the APB master to the APB slave during a write operation. The data width can be up to 32 bits.</a:t>
                      </a:r>
                    </a:p>
                  </a:txBody>
                  <a:tcPr/>
                </a:tc>
                <a:extLst>
                  <a:ext uri="{0D108BD9-81ED-4DB2-BD59-A6C34878D82A}">
                    <a16:rowId xmlns:a16="http://schemas.microsoft.com/office/drawing/2014/main" val="679113978"/>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APB_READ_PADDR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ADDR_WIDTH</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a:effectLst/>
                          <a:latin typeface="Arial" panose="020B0604020202020204" pitchFamily="34" charset="0"/>
                          <a:cs typeface="Arial" panose="020B0604020202020204" pitchFamily="34" charset="0"/>
                        </a:rPr>
                        <a:t>Address. This is the APB read address used by the APB master to read data from the slave. The address can be up to 32 bits wide.</a:t>
                      </a:r>
                    </a:p>
                  </a:txBody>
                  <a:tcPr/>
                </a:tc>
                <a:extLst>
                  <a:ext uri="{0D108BD9-81ED-4DB2-BD59-A6C34878D82A}">
                    <a16:rowId xmlns:a16="http://schemas.microsoft.com/office/drawing/2014/main" val="1090504135"/>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APB_READ_DATA_OUT</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DATA_WIDTH</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Data Out. This is the data which is read from slave. The data width can be up to 32 bits.</a:t>
                      </a:r>
                    </a:p>
                  </a:txBody>
                  <a:tcPr/>
                </a:tc>
                <a:extLst>
                  <a:ext uri="{0D108BD9-81ED-4DB2-BD59-A6C34878D82A}">
                    <a16:rowId xmlns:a16="http://schemas.microsoft.com/office/drawing/2014/main" val="4154895400"/>
                  </a:ext>
                </a:extLst>
              </a:tr>
            </a:tbl>
          </a:graphicData>
        </a:graphic>
      </p:graphicFrame>
    </p:spTree>
    <p:extLst>
      <p:ext uri="{BB962C8B-B14F-4D97-AF65-F5344CB8AC3E}">
        <p14:creationId xmlns:p14="http://schemas.microsoft.com/office/powerpoint/2010/main" val="913899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A9C4F7B-C4AD-7588-9D62-709D0E1563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312106-84E0-FFE0-E62F-E0376C700F7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11F9F34-3BE3-852B-F16E-1E0A5745F07F}"/>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29</a:t>
            </a:fld>
            <a:endParaRPr spc="-25" dirty="0"/>
          </a:p>
        </p:txBody>
      </p:sp>
      <p:sp>
        <p:nvSpPr>
          <p:cNvPr id="6" name="object 6">
            <a:extLst>
              <a:ext uri="{FF2B5EF4-FFF2-40B4-BE49-F238E27FC236}">
                <a16:creationId xmlns:a16="http://schemas.microsoft.com/office/drawing/2014/main" id="{70C09A7D-0E96-C2B6-DABC-5B4A8C6FB7A3}"/>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1CEB6338-2B66-0A24-E967-1EED27424CC6}"/>
              </a:ext>
            </a:extLst>
          </p:cNvPr>
          <p:cNvSpPr txBox="1">
            <a:spLocks noGrp="1"/>
          </p:cNvSpPr>
          <p:nvPr>
            <p:ph type="title"/>
          </p:nvPr>
        </p:nvSpPr>
        <p:spPr>
          <a:xfrm>
            <a:off x="508316" y="480313"/>
            <a:ext cx="7721283" cy="567463"/>
          </a:xfrm>
          <a:prstGeom prst="rect">
            <a:avLst/>
          </a:prstGeom>
        </p:spPr>
        <p:txBody>
          <a:bodyPr vert="horz" wrap="square" lIns="0" tIns="13335" rIns="0" bIns="0" rtlCol="0">
            <a:spAutoFit/>
          </a:bodyPr>
          <a:lstStyle/>
          <a:p>
            <a:pPr marL="12700">
              <a:lnSpc>
                <a:spcPct val="100000"/>
              </a:lnSpc>
              <a:spcBef>
                <a:spcPts val="105"/>
              </a:spcBef>
            </a:pPr>
            <a:r>
              <a:rPr lang="en-US"/>
              <a:t>2.</a:t>
            </a:r>
            <a:r>
              <a:rPr lang="en-US" spc="-160"/>
              <a:t> </a:t>
            </a:r>
            <a:r>
              <a:rPr lang="en-US"/>
              <a:t>High</a:t>
            </a:r>
            <a:r>
              <a:rPr lang="en-US" spc="-140"/>
              <a:t> </a:t>
            </a:r>
            <a:r>
              <a:rPr lang="en-US"/>
              <a:t>Level</a:t>
            </a:r>
            <a:r>
              <a:rPr lang="en-US" spc="-140"/>
              <a:t> </a:t>
            </a:r>
            <a:r>
              <a:rPr lang="en-US"/>
              <a:t>Block</a:t>
            </a:r>
            <a:r>
              <a:rPr lang="en-US" spc="-160"/>
              <a:t> </a:t>
            </a:r>
            <a:r>
              <a:rPr lang="en-US" spc="-10"/>
              <a:t>Design</a:t>
            </a:r>
            <a:endParaRPr spc="-20" dirty="0"/>
          </a:p>
        </p:txBody>
      </p:sp>
      <p:sp>
        <p:nvSpPr>
          <p:cNvPr id="3" name="object 3">
            <a:extLst>
              <a:ext uri="{FF2B5EF4-FFF2-40B4-BE49-F238E27FC236}">
                <a16:creationId xmlns:a16="http://schemas.microsoft.com/office/drawing/2014/main" id="{3D8210DD-2E80-62FA-79C8-18F3DC580829}"/>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2.4 AMBA ABP Interface signals</a:t>
            </a:r>
          </a:p>
        </p:txBody>
      </p:sp>
      <p:graphicFrame>
        <p:nvGraphicFramePr>
          <p:cNvPr id="7" name="Table 6">
            <a:extLst>
              <a:ext uri="{FF2B5EF4-FFF2-40B4-BE49-F238E27FC236}">
                <a16:creationId xmlns:a16="http://schemas.microsoft.com/office/drawing/2014/main" id="{FBE074F0-5D0E-1ABE-2C5E-B9F900394545}"/>
              </a:ext>
            </a:extLst>
          </p:cNvPr>
          <p:cNvGraphicFramePr>
            <a:graphicFrameLocks noGrp="1"/>
          </p:cNvGraphicFramePr>
          <p:nvPr>
            <p:extLst>
              <p:ext uri="{D42A27DB-BD31-4B8C-83A1-F6EECF244321}">
                <p14:modId xmlns:p14="http://schemas.microsoft.com/office/powerpoint/2010/main" val="1342892115"/>
              </p:ext>
            </p:extLst>
          </p:nvPr>
        </p:nvGraphicFramePr>
        <p:xfrm>
          <a:off x="579214" y="1884540"/>
          <a:ext cx="11033444" cy="388112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PCLK</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Clock Source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Clock. The rising edge of PCLK times all transfer on the APB</a:t>
                      </a:r>
                    </a:p>
                  </a:txBody>
                  <a:tcPr/>
                </a:tc>
                <a:extLst>
                  <a:ext uri="{0D108BD9-81ED-4DB2-BD59-A6C34878D82A}">
                    <a16:rowId xmlns:a16="http://schemas.microsoft.com/office/drawing/2014/main" val="4131091150"/>
                  </a:ext>
                </a:extLst>
              </a:tr>
              <a:tr h="370840">
                <a:tc>
                  <a:txBody>
                    <a:bodyPr/>
                    <a:lstStyle/>
                    <a:p>
                      <a:pPr algn="ctr"/>
                      <a:r>
                        <a:rPr lang="en-US" sz="1600">
                          <a:latin typeface="Arial" panose="020B0604020202020204" pitchFamily="34" charset="0"/>
                          <a:cs typeface="Arial" panose="020B0604020202020204" pitchFamily="34" charset="0"/>
                        </a:rPr>
                        <a:t>PRESETn</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Reset. The APB reset signal is active LOW. This signal is normally connected directly to the system bus reset signal.</a:t>
                      </a:r>
                    </a:p>
                  </a:txBody>
                  <a:tcPr/>
                </a:tc>
                <a:extLst>
                  <a:ext uri="{0D108BD9-81ED-4DB2-BD59-A6C34878D82A}">
                    <a16:rowId xmlns:a16="http://schemas.microsoft.com/office/drawing/2014/main" val="2693422610"/>
                  </a:ext>
                </a:extLst>
              </a:tr>
              <a:tr h="370840">
                <a:tc>
                  <a:txBody>
                    <a:bodyPr/>
                    <a:lstStyle/>
                    <a:p>
                      <a:pPr algn="ctr"/>
                      <a:r>
                        <a:rPr lang="en-US" sz="1600">
                          <a:latin typeface="Arial" panose="020B0604020202020204" pitchFamily="34" charset="0"/>
                          <a:cs typeface="Arial" panose="020B0604020202020204" pitchFamily="34" charset="0"/>
                        </a:rPr>
                        <a:t>PADDR</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ADDR_WIDTH</a:t>
                      </a:r>
                    </a:p>
                  </a:txBody>
                  <a:tcPr/>
                </a:tc>
                <a:tc>
                  <a:txBody>
                    <a:bodyPr/>
                    <a:lstStyle/>
                    <a:p>
                      <a:pPr algn="just"/>
                      <a:r>
                        <a:rPr lang="en-US" sz="1600">
                          <a:latin typeface="Arial" panose="020B0604020202020204" pitchFamily="34" charset="0"/>
                          <a:cs typeface="Arial" panose="020B0604020202020204" pitchFamily="34" charset="0"/>
                        </a:rPr>
                        <a:t>Address. This is APB address bus. It can be up to 32 bits wide and is driven by the peripheral bus bridge unit.</a:t>
                      </a:r>
                    </a:p>
                  </a:txBody>
                  <a:tcPr/>
                </a:tc>
                <a:extLst>
                  <a:ext uri="{0D108BD9-81ED-4DB2-BD59-A6C34878D82A}">
                    <a16:rowId xmlns:a16="http://schemas.microsoft.com/office/drawing/2014/main" val="363023051"/>
                  </a:ext>
                </a:extLst>
              </a:tr>
              <a:tr h="370840">
                <a:tc>
                  <a:txBody>
                    <a:bodyPr/>
                    <a:lstStyle/>
                    <a:p>
                      <a:pPr algn="ctr"/>
                      <a:r>
                        <a:rPr lang="en-US" sz="1600">
                          <a:latin typeface="Arial" panose="020B0604020202020204" pitchFamily="34" charset="0"/>
                          <a:cs typeface="Arial" panose="020B0604020202020204" pitchFamily="34" charset="0"/>
                        </a:rPr>
                        <a:t>PPROT</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3</a:t>
                      </a:r>
                    </a:p>
                  </a:txBody>
                  <a:tcPr/>
                </a:tc>
                <a:tc>
                  <a:txBody>
                    <a:bodyPr/>
                    <a:lstStyle/>
                    <a:p>
                      <a:pPr algn="just"/>
                      <a:r>
                        <a:rPr lang="en-US" sz="1600">
                          <a:latin typeface="Arial" panose="020B0604020202020204" pitchFamily="34" charset="0"/>
                          <a:cs typeface="Arial" panose="020B0604020202020204" pitchFamily="34" charset="0"/>
                        </a:rPr>
                        <a:t>Protection type. This signal indicates the normal, privileged, or secure protection level of the transaction and whether the transaction is a data access or an instruction access.</a:t>
                      </a:r>
                    </a:p>
                  </a:txBody>
                  <a:tcPr/>
                </a:tc>
                <a:extLst>
                  <a:ext uri="{0D108BD9-81ED-4DB2-BD59-A6C34878D82A}">
                    <a16:rowId xmlns:a16="http://schemas.microsoft.com/office/drawing/2014/main" val="1648389343"/>
                  </a:ext>
                </a:extLst>
              </a:tr>
              <a:tr h="370840">
                <a:tc>
                  <a:txBody>
                    <a:bodyPr/>
                    <a:lstStyle/>
                    <a:p>
                      <a:pPr algn="ctr"/>
                      <a:r>
                        <a:rPr lang="en-US" sz="1600">
                          <a:latin typeface="Arial" panose="020B0604020202020204" pitchFamily="34" charset="0"/>
                          <a:cs typeface="Arial" panose="020B0604020202020204" pitchFamily="34" charset="0"/>
                        </a:rPr>
                        <a:t>PSELx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a:solidFill>
                            <a:schemeClr val="dk1"/>
                          </a:solidFill>
                          <a:effectLst/>
                          <a:latin typeface="Arial" panose="020B0604020202020204" pitchFamily="34" charset="0"/>
                          <a:ea typeface="+mn-ea"/>
                          <a:cs typeface="Arial" panose="020B0604020202020204" pitchFamily="34" charset="0"/>
                        </a:rPr>
                        <a:t>Slave select signal, there will be one PSEL signal for each slave connected to master.</a:t>
                      </a:r>
                      <a:r>
                        <a:rPr lang="en-US" sz="1600">
                          <a:latin typeface="Arial" panose="020B0604020202020204" pitchFamily="34" charset="0"/>
                          <a:cs typeface="Arial" panose="020B0604020202020204" pitchFamily="34" charset="0"/>
                        </a:rPr>
                        <a:t>. It’s an active high signal. </a:t>
                      </a:r>
                      <a:endParaRPr lang="en-IN" sz="160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PENABLE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a:latin typeface="Arial" panose="020B0604020202020204" pitchFamily="34" charset="0"/>
                          <a:cs typeface="Arial" panose="020B0604020202020204" pitchFamily="34" charset="0"/>
                        </a:rPr>
                        <a:t>Enable. It indicates the 2</a:t>
                      </a:r>
                      <a:r>
                        <a:rPr lang="en-US" sz="1600" baseline="30000">
                          <a:latin typeface="Arial" panose="020B0604020202020204" pitchFamily="34" charset="0"/>
                          <a:cs typeface="Arial" panose="020B0604020202020204" pitchFamily="34" charset="0"/>
                        </a:rPr>
                        <a:t>nd</a:t>
                      </a:r>
                      <a:r>
                        <a:rPr lang="en-US" sz="1600">
                          <a:latin typeface="Arial" panose="020B0604020202020204" pitchFamily="34" charset="0"/>
                          <a:cs typeface="Arial" panose="020B0604020202020204" pitchFamily="34" charset="0"/>
                        </a:rPr>
                        <a:t> cycle of a data transfer. It’s an active high signal. </a:t>
                      </a:r>
                      <a:endParaRPr lang="en-IN" sz="160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Tree>
    <p:extLst>
      <p:ext uri="{BB962C8B-B14F-4D97-AF65-F5344CB8AC3E}">
        <p14:creationId xmlns:p14="http://schemas.microsoft.com/office/powerpoint/2010/main" val="108738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6F6972-62BB-B539-7894-0D3730732A5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A33796-6821-0C81-9031-2B4020B8D87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94D3344-C409-6BF3-E883-1E19C4605D24}"/>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30</a:t>
            </a:fld>
            <a:endParaRPr spc="-25" dirty="0"/>
          </a:p>
        </p:txBody>
      </p:sp>
      <p:sp>
        <p:nvSpPr>
          <p:cNvPr id="6" name="object 6">
            <a:extLst>
              <a:ext uri="{FF2B5EF4-FFF2-40B4-BE49-F238E27FC236}">
                <a16:creationId xmlns:a16="http://schemas.microsoft.com/office/drawing/2014/main" id="{FA0BD365-EDEF-72FD-07E5-C91512C345DF}"/>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2" name="object 2">
            <a:extLst>
              <a:ext uri="{FF2B5EF4-FFF2-40B4-BE49-F238E27FC236}">
                <a16:creationId xmlns:a16="http://schemas.microsoft.com/office/drawing/2014/main" id="{F6F932A8-46B5-548C-7E8B-38563E70F830}"/>
              </a:ext>
            </a:extLst>
          </p:cNvPr>
          <p:cNvSpPr txBox="1">
            <a:spLocks noGrp="1"/>
          </p:cNvSpPr>
          <p:nvPr>
            <p:ph type="title"/>
          </p:nvPr>
        </p:nvSpPr>
        <p:spPr>
          <a:xfrm>
            <a:off x="508316" y="480313"/>
            <a:ext cx="7721283" cy="567463"/>
          </a:xfrm>
          <a:prstGeom prst="rect">
            <a:avLst/>
          </a:prstGeom>
        </p:spPr>
        <p:txBody>
          <a:bodyPr vert="horz" wrap="square" lIns="0" tIns="13335" rIns="0" bIns="0" rtlCol="0">
            <a:spAutoFit/>
          </a:bodyPr>
          <a:lstStyle/>
          <a:p>
            <a:pPr marL="12700">
              <a:lnSpc>
                <a:spcPct val="100000"/>
              </a:lnSpc>
              <a:spcBef>
                <a:spcPts val="105"/>
              </a:spcBef>
            </a:pPr>
            <a:r>
              <a:rPr lang="en-US"/>
              <a:t>2.</a:t>
            </a:r>
            <a:r>
              <a:rPr lang="en-US" spc="-160"/>
              <a:t> </a:t>
            </a:r>
            <a:r>
              <a:rPr lang="en-US"/>
              <a:t>High</a:t>
            </a:r>
            <a:r>
              <a:rPr lang="en-US" spc="-140"/>
              <a:t> </a:t>
            </a:r>
            <a:r>
              <a:rPr lang="en-US"/>
              <a:t>Level</a:t>
            </a:r>
            <a:r>
              <a:rPr lang="en-US" spc="-140"/>
              <a:t> </a:t>
            </a:r>
            <a:r>
              <a:rPr lang="en-US"/>
              <a:t>Block</a:t>
            </a:r>
            <a:r>
              <a:rPr lang="en-US" spc="-160"/>
              <a:t> </a:t>
            </a:r>
            <a:r>
              <a:rPr lang="en-US" spc="-10"/>
              <a:t>Design</a:t>
            </a:r>
            <a:endParaRPr spc="-20" dirty="0"/>
          </a:p>
        </p:txBody>
      </p:sp>
      <p:sp>
        <p:nvSpPr>
          <p:cNvPr id="3" name="object 3">
            <a:extLst>
              <a:ext uri="{FF2B5EF4-FFF2-40B4-BE49-F238E27FC236}">
                <a16:creationId xmlns:a16="http://schemas.microsoft.com/office/drawing/2014/main" id="{34BBC1CE-6D6C-1E6B-079E-94AACD7E16E3}"/>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2.4 AMBA ABP Interface signals</a:t>
            </a:r>
          </a:p>
        </p:txBody>
      </p:sp>
      <p:graphicFrame>
        <p:nvGraphicFramePr>
          <p:cNvPr id="7" name="Table 6">
            <a:extLst>
              <a:ext uri="{FF2B5EF4-FFF2-40B4-BE49-F238E27FC236}">
                <a16:creationId xmlns:a16="http://schemas.microsoft.com/office/drawing/2014/main" id="{56C44590-07AC-E7E2-9AA5-8E71F8704879}"/>
              </a:ext>
            </a:extLst>
          </p:cNvPr>
          <p:cNvGraphicFramePr>
            <a:graphicFrameLocks noGrp="1"/>
          </p:cNvGraphicFramePr>
          <p:nvPr/>
        </p:nvGraphicFramePr>
        <p:xfrm>
          <a:off x="579214" y="1884540"/>
          <a:ext cx="11033444" cy="436880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PWRITE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r>
                        <a:rPr lang="en-US" sz="1600">
                          <a:latin typeface="Arial" panose="020B0604020202020204" pitchFamily="34" charset="0"/>
                          <a:cs typeface="Arial" panose="020B0604020202020204" pitchFamily="34" charset="0"/>
                        </a:rPr>
                        <a:t>Direction. PWRITE indicates an APB write access when HIGH and an APB read access when LOW.</a:t>
                      </a:r>
                    </a:p>
                  </a:txBody>
                  <a:tcPr/>
                </a:tc>
                <a:extLst>
                  <a:ext uri="{0D108BD9-81ED-4DB2-BD59-A6C34878D82A}">
                    <a16:rowId xmlns:a16="http://schemas.microsoft.com/office/drawing/2014/main" val="413109115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PWDATA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Arial" panose="020B0604020202020204" pitchFamily="34" charset="0"/>
                          <a:cs typeface="Arial" panose="020B0604020202020204" pitchFamily="34" charset="0"/>
                        </a:rPr>
                        <a:t>APB bridge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IN" sz="1600">
                          <a:solidFill>
                            <a:schemeClr val="tx1"/>
                          </a:solidFill>
                          <a:latin typeface="Arial" panose="020B0604020202020204" pitchFamily="34" charset="0"/>
                          <a:cs typeface="Arial" panose="020B0604020202020204" pitchFamily="34" charset="0"/>
                        </a:rPr>
                        <a:t>Write data. </a:t>
                      </a:r>
                      <a:r>
                        <a:rPr lang="en-US" sz="1600" b="0" i="0">
                          <a:solidFill>
                            <a:schemeClr val="dk1"/>
                          </a:solidFill>
                          <a:effectLst/>
                          <a:latin typeface="Arial" panose="020B0604020202020204" pitchFamily="34" charset="0"/>
                          <a:ea typeface="+mn-ea"/>
                          <a:cs typeface="Arial" panose="020B0604020202020204" pitchFamily="34" charset="0"/>
                        </a:rPr>
                        <a:t>Write data bus from Master to Slave,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PSTRB</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DATA_WIDTH/8</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Write strobe. PSTRB indicates which byte lanes to update during a write transfer. There is one write strobe for each 8 bits of the write data bus. PSTRB[n] corresponds to PWDATA[(8n + 7):(8n)]. PSTRB must not be active during a read transfer.</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PREADY</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It is used by the slave to include wait states in the transfer. i.e. whenever slave is not ready to complete the transaction, it will request the master for some time by de-asserting the PREADY.</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PSLVERR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Indicates the Success or failure of the transfer. HIGH indicates failure and LOW indicates Success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PRDATA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Read data us from Slave to Master,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Tree>
    <p:extLst>
      <p:ext uri="{BB962C8B-B14F-4D97-AF65-F5344CB8AC3E}">
        <p14:creationId xmlns:p14="http://schemas.microsoft.com/office/powerpoint/2010/main" val="3358597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5764530" cy="575310"/>
          </a:xfrm>
          <a:prstGeom prst="rect">
            <a:avLst/>
          </a:prstGeom>
        </p:spPr>
        <p:txBody>
          <a:bodyPr vert="horz" wrap="square" lIns="0" tIns="13335" rIns="0" bIns="0" rtlCol="0">
            <a:spAutoFit/>
          </a:bodyPr>
          <a:lstStyle/>
          <a:p>
            <a:pPr marL="12700">
              <a:lnSpc>
                <a:spcPct val="100000"/>
              </a:lnSpc>
              <a:spcBef>
                <a:spcPts val="105"/>
              </a:spcBef>
            </a:pPr>
            <a:r>
              <a:rPr dirty="0"/>
              <a:t>3.</a:t>
            </a:r>
            <a:r>
              <a:rPr spc="-70" dirty="0"/>
              <a:t> </a:t>
            </a:r>
            <a:r>
              <a:rPr dirty="0"/>
              <a:t>Low</a:t>
            </a:r>
            <a:r>
              <a:rPr spc="10" dirty="0"/>
              <a:t> </a:t>
            </a:r>
            <a:r>
              <a:rPr dirty="0"/>
              <a:t>Level</a:t>
            </a:r>
            <a:r>
              <a:rPr spc="10" dirty="0"/>
              <a:t> </a:t>
            </a:r>
            <a:r>
              <a:rPr dirty="0"/>
              <a:t>Block</a:t>
            </a:r>
            <a:r>
              <a:rPr spc="-10" dirty="0"/>
              <a:t> Design</a:t>
            </a:r>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31</a:t>
            </a:fld>
            <a:endParaRPr spc="-25" dirty="0"/>
          </a:p>
        </p:txBody>
      </p:sp>
      <p:sp>
        <p:nvSpPr>
          <p:cNvPr id="5" name="object 5"/>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dirty="0"/>
              <a:t>3.</a:t>
            </a:r>
            <a:r>
              <a:rPr spc="-70" dirty="0"/>
              <a:t> </a:t>
            </a:r>
            <a:r>
              <a:rPr dirty="0"/>
              <a:t>Low</a:t>
            </a:r>
            <a:r>
              <a:rPr spc="10" dirty="0"/>
              <a:t> </a:t>
            </a:r>
            <a:r>
              <a:rPr dirty="0"/>
              <a:t>Level</a:t>
            </a:r>
            <a:r>
              <a:rPr spc="10" dirty="0"/>
              <a:t> </a:t>
            </a:r>
            <a:r>
              <a:rPr dirty="0"/>
              <a:t>Block</a:t>
            </a:r>
            <a:r>
              <a:rPr spc="-10" dirty="0"/>
              <a:t> Design</a:t>
            </a:r>
          </a:p>
        </p:txBody>
      </p:sp>
      <p:sp>
        <p:nvSpPr>
          <p:cNvPr id="3" name="object 3"/>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sz="3000" b="1">
                <a:solidFill>
                  <a:srgbClr val="7C45AD"/>
                </a:solidFill>
                <a:latin typeface="Arial"/>
                <a:cs typeface="Arial"/>
              </a:rPr>
              <a:t>3.1</a:t>
            </a:r>
            <a:r>
              <a:rPr lang="en-US" sz="3000" b="1">
                <a:solidFill>
                  <a:srgbClr val="7C45AD"/>
                </a:solidFill>
                <a:latin typeface="Arial"/>
                <a:cs typeface="Arial"/>
              </a:rPr>
              <a:t> APB Master block</a:t>
            </a:r>
            <a:endParaRPr sz="3000">
              <a:latin typeface="Arial"/>
              <a:cs typeface="Arial"/>
            </a:endParaRPr>
          </a:p>
        </p:txBody>
      </p:sp>
      <p:sp>
        <p:nvSpPr>
          <p:cNvPr id="6" name="object 6"/>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32</a:t>
            </a:fld>
            <a:endParaRPr spc="-25" dirty="0"/>
          </a:p>
        </p:txBody>
      </p:sp>
      <p:sp>
        <p:nvSpPr>
          <p:cNvPr id="8" name="object 8"/>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pic>
        <p:nvPicPr>
          <p:cNvPr id="4" name="Picture 3" descr="A diagram of a system&#10;&#10;AI-generated content may be incorrect.">
            <a:extLst>
              <a:ext uri="{FF2B5EF4-FFF2-40B4-BE49-F238E27FC236}">
                <a16:creationId xmlns:a16="http://schemas.microsoft.com/office/drawing/2014/main" id="{6A7B9F09-A86F-2F58-9C03-837A3C1E361A}"/>
              </a:ext>
            </a:extLst>
          </p:cNvPr>
          <p:cNvPicPr>
            <a:picLocks noChangeAspect="1"/>
          </p:cNvPicPr>
          <p:nvPr/>
        </p:nvPicPr>
        <p:blipFill>
          <a:blip r:embed="rId2"/>
          <a:stretch>
            <a:fillRect/>
          </a:stretch>
        </p:blipFill>
        <p:spPr>
          <a:xfrm>
            <a:off x="508317" y="2112944"/>
            <a:ext cx="3225483" cy="3238648"/>
          </a:xfrm>
          <a:prstGeom prst="rect">
            <a:avLst/>
          </a:prstGeom>
        </p:spPr>
      </p:pic>
      <p:pic>
        <p:nvPicPr>
          <p:cNvPr id="3076" name="Picture 4">
            <a:extLst>
              <a:ext uri="{FF2B5EF4-FFF2-40B4-BE49-F238E27FC236}">
                <a16:creationId xmlns:a16="http://schemas.microsoft.com/office/drawing/2014/main" id="{D61A2E44-DD73-F0AB-F796-940E497C5F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200" y="2115992"/>
            <a:ext cx="7361621" cy="3124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5F1E185-C7F8-76CB-8B2D-BA8F7B61967D}"/>
              </a:ext>
            </a:extLst>
          </p:cNvPr>
          <p:cNvSpPr txBox="1"/>
          <p:nvPr/>
        </p:nvSpPr>
        <p:spPr>
          <a:xfrm>
            <a:off x="5332538" y="5336895"/>
            <a:ext cx="6094476"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FSM block</a:t>
            </a:r>
          </a:p>
        </p:txBody>
      </p:sp>
      <p:sp>
        <p:nvSpPr>
          <p:cNvPr id="9" name="Arrow: Right 8">
            <a:extLst>
              <a:ext uri="{FF2B5EF4-FFF2-40B4-BE49-F238E27FC236}">
                <a16:creationId xmlns:a16="http://schemas.microsoft.com/office/drawing/2014/main" id="{A4E6B567-F566-F94F-D918-56DCDC7BCDA7}"/>
              </a:ext>
            </a:extLst>
          </p:cNvPr>
          <p:cNvSpPr/>
          <p:nvPr/>
        </p:nvSpPr>
        <p:spPr>
          <a:xfrm>
            <a:off x="3810000" y="3600524"/>
            <a:ext cx="762000" cy="475130"/>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B777D0-C1EE-D4CD-9E47-3D3FD96B1BD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976522A-7B38-1506-A5AA-091EB2FA2BF6}"/>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dirty="0"/>
              <a:t>3.</a:t>
            </a:r>
            <a:r>
              <a:rPr spc="-70" dirty="0"/>
              <a:t> </a:t>
            </a:r>
            <a:r>
              <a:rPr dirty="0"/>
              <a:t>Low</a:t>
            </a:r>
            <a:r>
              <a:rPr spc="10" dirty="0"/>
              <a:t> </a:t>
            </a:r>
            <a:r>
              <a:rPr dirty="0"/>
              <a:t>Level</a:t>
            </a:r>
            <a:r>
              <a:rPr spc="10" dirty="0"/>
              <a:t> </a:t>
            </a:r>
            <a:r>
              <a:rPr dirty="0"/>
              <a:t>Block</a:t>
            </a:r>
            <a:r>
              <a:rPr spc="-10" dirty="0"/>
              <a:t> Design</a:t>
            </a:r>
          </a:p>
        </p:txBody>
      </p:sp>
      <p:sp>
        <p:nvSpPr>
          <p:cNvPr id="3" name="object 3">
            <a:extLst>
              <a:ext uri="{FF2B5EF4-FFF2-40B4-BE49-F238E27FC236}">
                <a16:creationId xmlns:a16="http://schemas.microsoft.com/office/drawing/2014/main" id="{24332D63-694C-7E57-0CCB-58B18D5C6BF9}"/>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sz="3000" b="1">
                <a:solidFill>
                  <a:srgbClr val="7C45AD"/>
                </a:solidFill>
                <a:latin typeface="Arial"/>
                <a:cs typeface="Arial"/>
              </a:rPr>
              <a:t>3.</a:t>
            </a:r>
            <a:r>
              <a:rPr lang="en-US" sz="3000" b="1">
                <a:solidFill>
                  <a:srgbClr val="7C45AD"/>
                </a:solidFill>
                <a:latin typeface="Arial"/>
                <a:cs typeface="Arial"/>
              </a:rPr>
              <a:t>2 APB Slave block</a:t>
            </a:r>
            <a:endParaRPr sz="3000">
              <a:latin typeface="Arial"/>
              <a:cs typeface="Arial"/>
            </a:endParaRPr>
          </a:p>
        </p:txBody>
      </p:sp>
      <p:sp>
        <p:nvSpPr>
          <p:cNvPr id="6" name="object 6">
            <a:extLst>
              <a:ext uri="{FF2B5EF4-FFF2-40B4-BE49-F238E27FC236}">
                <a16:creationId xmlns:a16="http://schemas.microsoft.com/office/drawing/2014/main" id="{D5FA84B4-E7AD-9710-7D84-87663F659AAC}"/>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7" name="object 7">
            <a:extLst>
              <a:ext uri="{FF2B5EF4-FFF2-40B4-BE49-F238E27FC236}">
                <a16:creationId xmlns:a16="http://schemas.microsoft.com/office/drawing/2014/main" id="{4748D684-6DB4-55D8-536F-96F81C25F94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33</a:t>
            </a:fld>
            <a:endParaRPr spc="-25" dirty="0"/>
          </a:p>
        </p:txBody>
      </p:sp>
      <p:sp>
        <p:nvSpPr>
          <p:cNvPr id="8" name="object 8">
            <a:extLst>
              <a:ext uri="{FF2B5EF4-FFF2-40B4-BE49-F238E27FC236}">
                <a16:creationId xmlns:a16="http://schemas.microsoft.com/office/drawing/2014/main" id="{726B3889-D384-C58E-5C14-F182734FA931}"/>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4" name="TextBox 3">
            <a:extLst>
              <a:ext uri="{FF2B5EF4-FFF2-40B4-BE49-F238E27FC236}">
                <a16:creationId xmlns:a16="http://schemas.microsoft.com/office/drawing/2014/main" id="{A899EA3E-7B3D-674D-B246-7EAB84DA7020}"/>
              </a:ext>
            </a:extLst>
          </p:cNvPr>
          <p:cNvSpPr txBox="1"/>
          <p:nvPr/>
        </p:nvSpPr>
        <p:spPr>
          <a:xfrm>
            <a:off x="1143618" y="5870245"/>
            <a:ext cx="4164680"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Slave RAM</a:t>
            </a:r>
          </a:p>
        </p:txBody>
      </p:sp>
      <p:sp>
        <p:nvSpPr>
          <p:cNvPr id="10" name="TextBox 9">
            <a:extLst>
              <a:ext uri="{FF2B5EF4-FFF2-40B4-BE49-F238E27FC236}">
                <a16:creationId xmlns:a16="http://schemas.microsoft.com/office/drawing/2014/main" id="{FCB61C70-FA45-DF4B-E0D1-DC50FA1B29F3}"/>
              </a:ext>
            </a:extLst>
          </p:cNvPr>
          <p:cNvSpPr txBox="1"/>
          <p:nvPr/>
        </p:nvSpPr>
        <p:spPr>
          <a:xfrm>
            <a:off x="7139149" y="5866685"/>
            <a:ext cx="4164680"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Slave Output signals</a:t>
            </a:r>
          </a:p>
        </p:txBody>
      </p:sp>
      <p:pic>
        <p:nvPicPr>
          <p:cNvPr id="5" name="Picture 2">
            <a:extLst>
              <a:ext uri="{FF2B5EF4-FFF2-40B4-BE49-F238E27FC236}">
                <a16:creationId xmlns:a16="http://schemas.microsoft.com/office/drawing/2014/main" id="{193D47D3-6A18-7F6D-2899-4A653C292FA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3529"/>
          <a:stretch>
            <a:fillRect/>
          </a:stretch>
        </p:blipFill>
        <p:spPr bwMode="auto">
          <a:xfrm>
            <a:off x="444658" y="2286000"/>
            <a:ext cx="5562600" cy="331408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59886231-2577-FD30-BCEB-2489D66608F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42" t="46256" r="13517"/>
          <a:stretch>
            <a:fillRect/>
          </a:stretch>
        </p:blipFill>
        <p:spPr bwMode="auto">
          <a:xfrm>
            <a:off x="7009830" y="1973392"/>
            <a:ext cx="4423318" cy="3737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763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7871459" cy="575310"/>
          </a:xfrm>
          <a:prstGeom prst="rect">
            <a:avLst/>
          </a:prstGeom>
        </p:spPr>
        <p:txBody>
          <a:bodyPr vert="horz" wrap="square" lIns="0" tIns="13335" rIns="0" bIns="0" rtlCol="0">
            <a:spAutoFit/>
          </a:bodyPr>
          <a:lstStyle/>
          <a:p>
            <a:pPr marL="12700">
              <a:lnSpc>
                <a:spcPct val="100000"/>
              </a:lnSpc>
              <a:spcBef>
                <a:spcPts val="105"/>
              </a:spcBef>
            </a:pPr>
            <a:r>
              <a:rPr dirty="0"/>
              <a:t>4.</a:t>
            </a:r>
            <a:r>
              <a:rPr spc="-85" dirty="0"/>
              <a:t> </a:t>
            </a:r>
            <a:r>
              <a:t>RTL</a:t>
            </a:r>
            <a:r>
              <a:rPr spc="-110"/>
              <a:t> </a:t>
            </a:r>
            <a:r>
              <a:rPr lang="en-US" spc="-20"/>
              <a:t>Verification</a:t>
            </a:r>
            <a:endParaRPr spc="-10" dirty="0"/>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34</a:t>
            </a:fld>
            <a:endParaRPr spc="-25" dirty="0"/>
          </a:p>
        </p:txBody>
      </p:sp>
      <p:sp>
        <p:nvSpPr>
          <p:cNvPr id="5" name="object 5"/>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35</a:t>
            </a:fld>
            <a:endParaRPr spc="-25" dirty="0"/>
          </a:p>
        </p:txBody>
      </p:sp>
      <p:sp>
        <p:nvSpPr>
          <p:cNvPr id="9" name="object 9"/>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pic>
        <p:nvPicPr>
          <p:cNvPr id="4" name="Picture 3">
            <a:extLst>
              <a:ext uri="{FF2B5EF4-FFF2-40B4-BE49-F238E27FC236}">
                <a16:creationId xmlns:a16="http://schemas.microsoft.com/office/drawing/2014/main" id="{B3F828E3-5116-F0F2-745B-53E9DF65960B}"/>
              </a:ext>
            </a:extLst>
          </p:cNvPr>
          <p:cNvPicPr>
            <a:picLocks noChangeAspect="1"/>
          </p:cNvPicPr>
          <p:nvPr/>
        </p:nvPicPr>
        <p:blipFill>
          <a:blip r:embed="rId2"/>
          <a:stretch>
            <a:fillRect/>
          </a:stretch>
        </p:blipFill>
        <p:spPr>
          <a:xfrm>
            <a:off x="3663282" y="4419600"/>
            <a:ext cx="4865307" cy="1703945"/>
          </a:xfrm>
          <a:prstGeom prst="rect">
            <a:avLst/>
          </a:prstGeom>
        </p:spPr>
      </p:pic>
      <p:pic>
        <p:nvPicPr>
          <p:cNvPr id="6" name="Picture 5">
            <a:extLst>
              <a:ext uri="{FF2B5EF4-FFF2-40B4-BE49-F238E27FC236}">
                <a16:creationId xmlns:a16="http://schemas.microsoft.com/office/drawing/2014/main" id="{C24C8C53-671B-25D3-39BE-26E0195C6CB6}"/>
              </a:ext>
            </a:extLst>
          </p:cNvPr>
          <p:cNvPicPr>
            <a:picLocks noChangeAspect="1"/>
          </p:cNvPicPr>
          <p:nvPr/>
        </p:nvPicPr>
        <p:blipFill>
          <a:blip r:embed="rId3"/>
          <a:stretch>
            <a:fillRect/>
          </a:stretch>
        </p:blipFill>
        <p:spPr>
          <a:xfrm>
            <a:off x="532701" y="1706977"/>
            <a:ext cx="4377759" cy="2291535"/>
          </a:xfrm>
          <a:prstGeom prst="rect">
            <a:avLst/>
          </a:prstGeom>
        </p:spPr>
      </p:pic>
      <p:pic>
        <p:nvPicPr>
          <p:cNvPr id="11" name="Picture 10">
            <a:extLst>
              <a:ext uri="{FF2B5EF4-FFF2-40B4-BE49-F238E27FC236}">
                <a16:creationId xmlns:a16="http://schemas.microsoft.com/office/drawing/2014/main" id="{8C6B7DA4-E7AF-8A3C-9992-0C90AF36B641}"/>
              </a:ext>
            </a:extLst>
          </p:cNvPr>
          <p:cNvPicPr>
            <a:picLocks noChangeAspect="1"/>
          </p:cNvPicPr>
          <p:nvPr/>
        </p:nvPicPr>
        <p:blipFill>
          <a:blip r:embed="rId4"/>
          <a:stretch>
            <a:fillRect/>
          </a:stretch>
        </p:blipFill>
        <p:spPr>
          <a:xfrm>
            <a:off x="8225817" y="1967278"/>
            <a:ext cx="2399574" cy="1770932"/>
          </a:xfrm>
          <a:prstGeom prst="rect">
            <a:avLst/>
          </a:prstGeom>
        </p:spPr>
      </p:pic>
      <p:sp>
        <p:nvSpPr>
          <p:cNvPr id="12" name="object 3">
            <a:extLst>
              <a:ext uri="{FF2B5EF4-FFF2-40B4-BE49-F238E27FC236}">
                <a16:creationId xmlns:a16="http://schemas.microsoft.com/office/drawing/2014/main" id="{C4CF8311-391C-4623-AFC7-49C2079BF768}"/>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4.1 RTL Design</a:t>
            </a:r>
            <a:endParaRPr sz="3000">
              <a:latin typeface="Arial"/>
              <a:cs typeface="Arial"/>
            </a:endParaRPr>
          </a:p>
        </p:txBody>
      </p:sp>
      <p:sp>
        <p:nvSpPr>
          <p:cNvPr id="13" name="TextBox 12">
            <a:extLst>
              <a:ext uri="{FF2B5EF4-FFF2-40B4-BE49-F238E27FC236}">
                <a16:creationId xmlns:a16="http://schemas.microsoft.com/office/drawing/2014/main" id="{08758B42-74FE-426B-F1E7-F4DB0D0FEB57}"/>
              </a:ext>
            </a:extLst>
          </p:cNvPr>
          <p:cNvSpPr txBox="1"/>
          <p:nvPr/>
        </p:nvSpPr>
        <p:spPr>
          <a:xfrm>
            <a:off x="639240" y="3924538"/>
            <a:ext cx="4164680"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Master</a:t>
            </a:r>
          </a:p>
        </p:txBody>
      </p:sp>
      <p:sp>
        <p:nvSpPr>
          <p:cNvPr id="14" name="TextBox 13">
            <a:extLst>
              <a:ext uri="{FF2B5EF4-FFF2-40B4-BE49-F238E27FC236}">
                <a16:creationId xmlns:a16="http://schemas.microsoft.com/office/drawing/2014/main" id="{E72B99B7-B1B2-5883-9845-997B1FDD2A5F}"/>
              </a:ext>
            </a:extLst>
          </p:cNvPr>
          <p:cNvSpPr txBox="1"/>
          <p:nvPr/>
        </p:nvSpPr>
        <p:spPr>
          <a:xfrm>
            <a:off x="7343264" y="3924538"/>
            <a:ext cx="4164680"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Slave</a:t>
            </a:r>
          </a:p>
        </p:txBody>
      </p:sp>
      <p:sp>
        <p:nvSpPr>
          <p:cNvPr id="15" name="TextBox 14">
            <a:extLst>
              <a:ext uri="{FF2B5EF4-FFF2-40B4-BE49-F238E27FC236}">
                <a16:creationId xmlns:a16="http://schemas.microsoft.com/office/drawing/2014/main" id="{9F69EB1A-138E-A88D-C13C-C9F67C9DBCD0}"/>
              </a:ext>
            </a:extLst>
          </p:cNvPr>
          <p:cNvSpPr txBox="1"/>
          <p:nvPr/>
        </p:nvSpPr>
        <p:spPr>
          <a:xfrm>
            <a:off x="3861260" y="5976399"/>
            <a:ext cx="4164680"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APB Top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0610CEB-9CCA-1625-4285-2204BB584B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3CBD56-F135-899E-14B9-7C59667C4F62}"/>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3817BB96-3EA9-B04F-C845-F61E2624851D}"/>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040DA6C0-3BD4-AC50-11EE-13CFA87147F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36</a:t>
            </a:fld>
            <a:endParaRPr spc="-25" dirty="0"/>
          </a:p>
        </p:txBody>
      </p:sp>
      <p:sp>
        <p:nvSpPr>
          <p:cNvPr id="9" name="object 9">
            <a:extLst>
              <a:ext uri="{FF2B5EF4-FFF2-40B4-BE49-F238E27FC236}">
                <a16:creationId xmlns:a16="http://schemas.microsoft.com/office/drawing/2014/main" id="{07AC2D6C-45F3-8972-C6FE-7C5AEFC4AD2A}"/>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3" name="object 3">
            <a:extLst>
              <a:ext uri="{FF2B5EF4-FFF2-40B4-BE49-F238E27FC236}">
                <a16:creationId xmlns:a16="http://schemas.microsoft.com/office/drawing/2014/main" id="{30BDD015-3648-26C5-6647-C22B6E536936}"/>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4.2 Verification Plans</a:t>
            </a:r>
            <a:endParaRPr sz="3000">
              <a:latin typeface="Arial"/>
              <a:cs typeface="Arial"/>
            </a:endParaRPr>
          </a:p>
        </p:txBody>
      </p:sp>
      <p:graphicFrame>
        <p:nvGraphicFramePr>
          <p:cNvPr id="4" name="Table 3">
            <a:extLst>
              <a:ext uri="{FF2B5EF4-FFF2-40B4-BE49-F238E27FC236}">
                <a16:creationId xmlns:a16="http://schemas.microsoft.com/office/drawing/2014/main" id="{36D36BAC-C679-0EA5-4088-B8C0C9B18E81}"/>
              </a:ext>
            </a:extLst>
          </p:cNvPr>
          <p:cNvGraphicFramePr>
            <a:graphicFrameLocks noGrp="1"/>
          </p:cNvGraphicFramePr>
          <p:nvPr>
            <p:extLst>
              <p:ext uri="{D42A27DB-BD31-4B8C-83A1-F6EECF244321}">
                <p14:modId xmlns:p14="http://schemas.microsoft.com/office/powerpoint/2010/main" val="880756405"/>
              </p:ext>
            </p:extLst>
          </p:nvPr>
        </p:nvGraphicFramePr>
        <p:xfrm>
          <a:off x="508317" y="1901523"/>
          <a:ext cx="11199176" cy="4084320"/>
        </p:xfrm>
        <a:graphic>
          <a:graphicData uri="http://schemas.openxmlformats.org/drawingml/2006/table">
            <a:tbl>
              <a:tblPr firstRow="1" bandRow="1">
                <a:tableStyleId>{00A15C55-8517-42AA-B614-E9B94910E393}</a:tableStyleId>
              </a:tblPr>
              <a:tblGrid>
                <a:gridCol w="1930083">
                  <a:extLst>
                    <a:ext uri="{9D8B030D-6E8A-4147-A177-3AD203B41FA5}">
                      <a16:colId xmlns:a16="http://schemas.microsoft.com/office/drawing/2014/main" val="579931218"/>
                    </a:ext>
                  </a:extLst>
                </a:gridCol>
                <a:gridCol w="5536034">
                  <a:extLst>
                    <a:ext uri="{9D8B030D-6E8A-4147-A177-3AD203B41FA5}">
                      <a16:colId xmlns:a16="http://schemas.microsoft.com/office/drawing/2014/main" val="1158279828"/>
                    </a:ext>
                  </a:extLst>
                </a:gridCol>
                <a:gridCol w="3733059">
                  <a:extLst>
                    <a:ext uri="{9D8B030D-6E8A-4147-A177-3AD203B41FA5}">
                      <a16:colId xmlns:a16="http://schemas.microsoft.com/office/drawing/2014/main" val="1379675645"/>
                    </a:ext>
                  </a:extLst>
                </a:gridCol>
              </a:tblGrid>
              <a:tr h="198120">
                <a:tc>
                  <a:txBody>
                    <a:bodyPr/>
                    <a:lstStyle/>
                    <a:p>
                      <a:pPr algn="ctr"/>
                      <a:r>
                        <a:rPr lang="en-US" sz="1600">
                          <a:latin typeface="Arial" panose="020B0604020202020204" pitchFamily="34" charset="0"/>
                          <a:cs typeface="Arial" panose="020B0604020202020204" pitchFamily="34" charset="0"/>
                        </a:rPr>
                        <a:t>Test case</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Descriptions</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Expected results</a:t>
                      </a:r>
                    </a:p>
                  </a:txBody>
                  <a:tcPr>
                    <a:solidFill>
                      <a:srgbClr val="7030A0"/>
                    </a:solidFill>
                  </a:tcPr>
                </a:tc>
                <a:extLst>
                  <a:ext uri="{0D108BD9-81ED-4DB2-BD59-A6C34878D82A}">
                    <a16:rowId xmlns:a16="http://schemas.microsoft.com/office/drawing/2014/main" val="539352098"/>
                  </a:ext>
                </a:extLst>
              </a:tr>
              <a:tr h="0">
                <a:tc rowSpan="3">
                  <a:txBody>
                    <a:bodyPr/>
                    <a:lstStyle/>
                    <a:p>
                      <a:pPr algn="ctr"/>
                      <a:r>
                        <a:rPr lang="en-US" sz="1600"/>
                        <a:t>Write/Read Slave 0</a:t>
                      </a:r>
                      <a:endParaRPr lang="en-US" sz="1600">
                        <a:latin typeface="Arial" panose="020B0604020202020204" pitchFamily="34" charset="0"/>
                        <a:cs typeface="Arial" panose="020B0604020202020204" pitchFamily="34" charset="0"/>
                      </a:endParaRPr>
                    </a:p>
                  </a:txBody>
                  <a:tcPr anchor="ctr"/>
                </a:tc>
                <a:tc rowSpan="3">
                  <a:txBody>
                    <a:bodyPr/>
                    <a:lstStyle/>
                    <a:p>
                      <a:pPr algn="just"/>
                      <a:r>
                        <a:rPr lang="en-US" sz="1600"/>
                        <a:t>Perform a write of </a:t>
                      </a:r>
                      <a:r>
                        <a:rPr lang="en-US" sz="1600">
                          <a:solidFill>
                            <a:schemeClr val="dk1"/>
                          </a:solidFill>
                          <a:latin typeface="+mn-lt"/>
                          <a:ea typeface="+mn-ea"/>
                          <a:cs typeface="+mn-cs"/>
                        </a:rPr>
                        <a:t>0xDEADBEEF</a:t>
                      </a:r>
                      <a:r>
                        <a:rPr lang="en-US" sz="1600"/>
                        <a:t> to address </a:t>
                      </a:r>
                      <a:r>
                        <a:rPr lang="en-US" sz="1600">
                          <a:solidFill>
                            <a:schemeClr val="dk1"/>
                          </a:solidFill>
                          <a:latin typeface="+mn-lt"/>
                          <a:ea typeface="+mn-ea"/>
                          <a:cs typeface="+mn-cs"/>
                        </a:rPr>
                        <a:t>0xA</a:t>
                      </a:r>
                      <a:r>
                        <a:rPr lang="en-US" sz="1600"/>
                        <a:t> of Slave 0, followed by a read from the same address.</a:t>
                      </a:r>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a:solidFill>
                            <a:schemeClr val="dk1"/>
                          </a:solidFill>
                          <a:latin typeface="+mn-lt"/>
                          <a:ea typeface="+mn-ea"/>
                          <a:cs typeface="+mn-cs"/>
                        </a:rPr>
                        <a:t>PSELx[0]</a:t>
                      </a:r>
                      <a:r>
                        <a:rPr lang="en-US" sz="1600"/>
                        <a:t> must be asserted (logic 1).</a:t>
                      </a:r>
                    </a:p>
                  </a:txBody>
                  <a:tcPr/>
                </a:tc>
                <a:extLst>
                  <a:ext uri="{0D108BD9-81ED-4DB2-BD59-A6C34878D82A}">
                    <a16:rowId xmlns:a16="http://schemas.microsoft.com/office/drawing/2014/main" val="1815105458"/>
                  </a:ext>
                </a:extLst>
              </a:tr>
              <a:tr h="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pPr algn="just"/>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a:t>Read data must match the written value (</a:t>
                      </a:r>
                      <a:r>
                        <a:rPr lang="en-US" sz="1600">
                          <a:solidFill>
                            <a:schemeClr val="dk1"/>
                          </a:solidFill>
                          <a:latin typeface="+mn-lt"/>
                          <a:ea typeface="+mn-ea"/>
                          <a:cs typeface="+mn-cs"/>
                        </a:rPr>
                        <a:t>0xDEADBEEF</a:t>
                      </a:r>
                      <a:r>
                        <a:rPr lang="en-US" sz="1600"/>
                        <a:t>).</a:t>
                      </a:r>
                    </a:p>
                  </a:txBody>
                  <a:tcPr/>
                </a:tc>
                <a:extLst>
                  <a:ext uri="{0D108BD9-81ED-4DB2-BD59-A6C34878D82A}">
                    <a16:rowId xmlns:a16="http://schemas.microsoft.com/office/drawing/2014/main" val="3378172955"/>
                  </a:ext>
                </a:extLst>
              </a:tr>
              <a:tr h="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pPr algn="just"/>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a:solidFill>
                            <a:schemeClr val="dk1"/>
                          </a:solidFill>
                          <a:latin typeface="+mn-lt"/>
                          <a:ea typeface="+mn-ea"/>
                          <a:cs typeface="+mn-cs"/>
                        </a:rPr>
                        <a:t>PSLVERR</a:t>
                      </a:r>
                      <a:r>
                        <a:rPr lang="en-US" sz="1600"/>
                        <a:t> must be </a:t>
                      </a:r>
                      <a:r>
                        <a:rPr lang="en-US" sz="1600">
                          <a:solidFill>
                            <a:schemeClr val="dk1"/>
                          </a:solidFill>
                          <a:latin typeface="+mn-lt"/>
                          <a:ea typeface="+mn-ea"/>
                          <a:cs typeface="+mn-cs"/>
                        </a:rPr>
                        <a:t>0</a:t>
                      </a:r>
                      <a:r>
                        <a:rPr lang="en-US" sz="1600"/>
                        <a:t>.</a:t>
                      </a:r>
                    </a:p>
                  </a:txBody>
                  <a:tcPr/>
                </a:tc>
                <a:extLst>
                  <a:ext uri="{0D108BD9-81ED-4DB2-BD59-A6C34878D82A}">
                    <a16:rowId xmlns:a16="http://schemas.microsoft.com/office/drawing/2014/main" val="4059865615"/>
                  </a:ext>
                </a:extLst>
              </a:tr>
              <a:tr h="152400">
                <a:tc rowSpan="3">
                  <a:txBody>
                    <a:bodyPr/>
                    <a:lstStyle/>
                    <a:p>
                      <a:pPr algn="ctr"/>
                      <a:r>
                        <a:rPr lang="en-US" sz="1600"/>
                        <a:t>Write/Read Slave 1</a:t>
                      </a:r>
                      <a:endParaRPr lang="en-US" sz="1600">
                        <a:latin typeface="Arial" panose="020B0604020202020204" pitchFamily="34" charset="0"/>
                        <a:cs typeface="Arial" panose="020B0604020202020204" pitchFamily="34" charset="0"/>
                      </a:endParaRPr>
                    </a:p>
                  </a:txBody>
                  <a:tcPr anchor="ctr"/>
                </a:tc>
                <a:tc rowSpan="3">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a:t>Perform a write of </a:t>
                      </a:r>
                      <a:r>
                        <a:rPr lang="en-US" sz="1600">
                          <a:solidFill>
                            <a:schemeClr val="dk1"/>
                          </a:solidFill>
                          <a:latin typeface="+mn-lt"/>
                          <a:ea typeface="+mn-ea"/>
                          <a:cs typeface="+mn-cs"/>
                        </a:rPr>
                        <a:t>0xCAFEBABE</a:t>
                      </a:r>
                      <a:r>
                        <a:rPr lang="en-US" sz="1600"/>
                        <a:t> to address </a:t>
                      </a:r>
                      <a:r>
                        <a:rPr lang="en-US" sz="1600">
                          <a:solidFill>
                            <a:schemeClr val="dk1"/>
                          </a:solidFill>
                          <a:latin typeface="+mn-lt"/>
                          <a:ea typeface="+mn-ea"/>
                          <a:cs typeface="+mn-cs"/>
                        </a:rPr>
                        <a:t>0x8000_0005</a:t>
                      </a:r>
                      <a:r>
                        <a:rPr lang="en-US" sz="1600"/>
                        <a:t> (Slave 1), followed by a read from the same address.</a:t>
                      </a:r>
                      <a:endParaRPr lang="en-US" sz="1600">
                        <a:latin typeface="Arial" panose="020B0604020202020204" pitchFamily="34" charset="0"/>
                        <a:cs typeface="Arial" panose="020B0604020202020204" pitchFamily="34" charset="0"/>
                      </a:endParaRPr>
                    </a:p>
                  </a:txBody>
                  <a:tcPr/>
                </a:tc>
                <a:tc>
                  <a:txBody>
                    <a:bodyPr/>
                    <a:lstStyle/>
                    <a:p>
                      <a:pPr algn="just"/>
                      <a:r>
                        <a:rPr lang="en-US" sz="1600">
                          <a:solidFill>
                            <a:schemeClr val="dk1"/>
                          </a:solidFill>
                          <a:latin typeface="+mn-lt"/>
                          <a:ea typeface="+mn-ea"/>
                          <a:cs typeface="+mn-cs"/>
                        </a:rPr>
                        <a:t>PSELx[1]</a:t>
                      </a:r>
                      <a:r>
                        <a:rPr lang="en-US" sz="1600"/>
                        <a:t> must be asserted.</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38089962"/>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algn="just"/>
                      <a:r>
                        <a:rPr lang="en-US" sz="1600"/>
                        <a:t>Read data must match the written value (</a:t>
                      </a:r>
                      <a:r>
                        <a:rPr lang="en-US" sz="1600">
                          <a:solidFill>
                            <a:schemeClr val="dk1"/>
                          </a:solidFill>
                          <a:latin typeface="+mn-lt"/>
                          <a:ea typeface="+mn-ea"/>
                          <a:cs typeface="+mn-cs"/>
                        </a:rPr>
                        <a:t>0xCAFEBABE</a:t>
                      </a:r>
                      <a:r>
                        <a:rPr lang="en-US" sz="1600"/>
                        <a:t>).</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48575633"/>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algn="just"/>
                      <a:r>
                        <a:rPr lang="en-US" sz="1600">
                          <a:solidFill>
                            <a:schemeClr val="dk1"/>
                          </a:solidFill>
                          <a:latin typeface="+mn-lt"/>
                          <a:ea typeface="+mn-ea"/>
                          <a:cs typeface="+mn-cs"/>
                        </a:rPr>
                        <a:t>PSLVERR</a:t>
                      </a:r>
                      <a:r>
                        <a:rPr lang="en-US" sz="1600"/>
                        <a:t> must be </a:t>
                      </a:r>
                      <a:r>
                        <a:rPr lang="en-US" sz="1600">
                          <a:solidFill>
                            <a:schemeClr val="dk1"/>
                          </a:solidFill>
                          <a:latin typeface="+mn-lt"/>
                          <a:ea typeface="+mn-ea"/>
                          <a:cs typeface="+mn-cs"/>
                        </a:rPr>
                        <a:t>0</a:t>
                      </a:r>
                      <a:r>
                        <a:rPr lang="en-US" sz="1600"/>
                        <a:t>.</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01921777"/>
                  </a:ext>
                </a:extLst>
              </a:tr>
              <a:tr h="152400">
                <a:tc rowSpan="3">
                  <a:txBody>
                    <a:bodyPr/>
                    <a:lstStyle/>
                    <a:p>
                      <a:pPr algn="ctr"/>
                      <a:r>
                        <a:rPr lang="en-US" sz="1600"/>
                        <a:t>Address Range Error</a:t>
                      </a:r>
                      <a:endParaRPr lang="en-US" sz="1600">
                        <a:latin typeface="Arial" panose="020B0604020202020204" pitchFamily="34" charset="0"/>
                        <a:cs typeface="Arial" panose="020B0604020202020204" pitchFamily="34" charset="0"/>
                      </a:endParaRPr>
                    </a:p>
                  </a:txBody>
                  <a:tcPr anchor="ctr"/>
                </a:tc>
                <a:tc rowSpan="3">
                  <a:txBody>
                    <a:bodyPr/>
                    <a:lstStyle/>
                    <a:p>
                      <a:r>
                        <a:rPr lang="en-US" sz="1600"/>
                        <a:t>Access (Read/Write) address </a:t>
                      </a:r>
                      <a:r>
                        <a:rPr lang="en-US" sz="1600">
                          <a:solidFill>
                            <a:schemeClr val="dk1"/>
                          </a:solidFill>
                          <a:latin typeface="+mn-lt"/>
                          <a:ea typeface="+mn-ea"/>
                          <a:cs typeface="+mn-cs"/>
                        </a:rPr>
                        <a:t>0x500</a:t>
                      </a:r>
                      <a:r>
                        <a:rPr lang="en-US" sz="1600"/>
                        <a:t> (decimal 1280), which exceeds the memory size (1024) of the Slave.</a:t>
                      </a:r>
                      <a:endParaRPr lang="en-US" sz="1600">
                        <a:latin typeface="Arial" panose="020B0604020202020204" pitchFamily="34" charset="0"/>
                        <a:cs typeface="Arial" panose="020B0604020202020204" pitchFamily="34" charset="0"/>
                      </a:endParaRPr>
                    </a:p>
                  </a:txBody>
                  <a:tcPr/>
                </a:tc>
                <a:tc>
                  <a:txBody>
                    <a:bodyPr/>
                    <a:lstStyle/>
                    <a:p>
                      <a:pPr algn="just"/>
                      <a:r>
                        <a:rPr lang="en-US" sz="1600"/>
                        <a:t>Slave must still respond with </a:t>
                      </a:r>
                      <a:r>
                        <a:rPr lang="en-US" sz="1600">
                          <a:solidFill>
                            <a:schemeClr val="dk1"/>
                          </a:solidFill>
                          <a:latin typeface="+mn-lt"/>
                          <a:ea typeface="+mn-ea"/>
                          <a:cs typeface="+mn-cs"/>
                        </a:rPr>
                        <a:t>PREADY = 1</a:t>
                      </a:r>
                      <a:r>
                        <a:rPr lang="en-US" sz="1600"/>
                        <a:t>.</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2656015"/>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algn="just"/>
                      <a:r>
                        <a:rPr lang="en-US" sz="1600">
                          <a:solidFill>
                            <a:schemeClr val="dk1"/>
                          </a:solidFill>
                          <a:latin typeface="+mn-lt"/>
                          <a:ea typeface="+mn-ea"/>
                          <a:cs typeface="+mn-cs"/>
                        </a:rPr>
                        <a:t>PSLVERR</a:t>
                      </a:r>
                      <a:r>
                        <a:rPr lang="en-US" sz="1600"/>
                        <a:t> signal must be asserted (logic 1) during both Write and Read cycles.</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53470509"/>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algn="just"/>
                      <a:r>
                        <a:rPr lang="en-US" sz="1600"/>
                        <a:t>Read data should return </a:t>
                      </a:r>
                      <a:r>
                        <a:rPr lang="en-US" sz="1600">
                          <a:solidFill>
                            <a:schemeClr val="dk1"/>
                          </a:solidFill>
                          <a:latin typeface="+mn-lt"/>
                          <a:ea typeface="+mn-ea"/>
                          <a:cs typeface="+mn-cs"/>
                        </a:rPr>
                        <a:t>0</a:t>
                      </a:r>
                      <a:r>
                        <a:rPr lang="en-US" sz="1600"/>
                        <a:t>.</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93121582"/>
                  </a:ext>
                </a:extLst>
              </a:tr>
            </a:tbl>
          </a:graphicData>
        </a:graphic>
      </p:graphicFrame>
    </p:spTree>
    <p:extLst>
      <p:ext uri="{BB962C8B-B14F-4D97-AF65-F5344CB8AC3E}">
        <p14:creationId xmlns:p14="http://schemas.microsoft.com/office/powerpoint/2010/main" val="25986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BEAB3F-EF56-E700-8DAB-6284288094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037406-CB23-0843-7984-512EF9FBBAA4}"/>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D652D771-999B-63F4-45EA-2596C12937B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E06FC934-6339-83F4-2344-A2D1FDD674BF}"/>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37</a:t>
            </a:fld>
            <a:endParaRPr spc="-25" dirty="0"/>
          </a:p>
        </p:txBody>
      </p:sp>
      <p:sp>
        <p:nvSpPr>
          <p:cNvPr id="9" name="object 9">
            <a:extLst>
              <a:ext uri="{FF2B5EF4-FFF2-40B4-BE49-F238E27FC236}">
                <a16:creationId xmlns:a16="http://schemas.microsoft.com/office/drawing/2014/main" id="{13CD6513-85DC-AE1B-FECA-C70902B83287}"/>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3" name="object 3">
            <a:extLst>
              <a:ext uri="{FF2B5EF4-FFF2-40B4-BE49-F238E27FC236}">
                <a16:creationId xmlns:a16="http://schemas.microsoft.com/office/drawing/2014/main" id="{77498FB7-4C9B-E579-C2E9-2582753EFC00}"/>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pic>
        <p:nvPicPr>
          <p:cNvPr id="12" name="Picture 11">
            <a:extLst>
              <a:ext uri="{FF2B5EF4-FFF2-40B4-BE49-F238E27FC236}">
                <a16:creationId xmlns:a16="http://schemas.microsoft.com/office/drawing/2014/main" id="{8673539D-A984-672F-71A8-5491291B637D}"/>
              </a:ext>
            </a:extLst>
          </p:cNvPr>
          <p:cNvPicPr>
            <a:picLocks noChangeAspect="1"/>
          </p:cNvPicPr>
          <p:nvPr/>
        </p:nvPicPr>
        <p:blipFill>
          <a:blip r:embed="rId2"/>
          <a:stretch>
            <a:fillRect/>
          </a:stretch>
        </p:blipFill>
        <p:spPr>
          <a:xfrm>
            <a:off x="508317" y="2133601"/>
            <a:ext cx="5672889" cy="1752600"/>
          </a:xfrm>
          <a:prstGeom prst="rect">
            <a:avLst/>
          </a:prstGeom>
        </p:spPr>
      </p:pic>
      <p:pic>
        <p:nvPicPr>
          <p:cNvPr id="14" name="Picture 13">
            <a:extLst>
              <a:ext uri="{FF2B5EF4-FFF2-40B4-BE49-F238E27FC236}">
                <a16:creationId xmlns:a16="http://schemas.microsoft.com/office/drawing/2014/main" id="{645526C7-8BB5-3010-2655-911206123530}"/>
              </a:ext>
            </a:extLst>
          </p:cNvPr>
          <p:cNvPicPr>
            <a:picLocks noChangeAspect="1"/>
          </p:cNvPicPr>
          <p:nvPr/>
        </p:nvPicPr>
        <p:blipFill>
          <a:blip r:embed="rId3"/>
          <a:stretch>
            <a:fillRect/>
          </a:stretch>
        </p:blipFill>
        <p:spPr>
          <a:xfrm>
            <a:off x="508317" y="4114800"/>
            <a:ext cx="5672591" cy="1905919"/>
          </a:xfrm>
          <a:prstGeom prst="rect">
            <a:avLst/>
          </a:prstGeom>
        </p:spPr>
      </p:pic>
      <p:pic>
        <p:nvPicPr>
          <p:cNvPr id="16" name="Picture 15">
            <a:extLst>
              <a:ext uri="{FF2B5EF4-FFF2-40B4-BE49-F238E27FC236}">
                <a16:creationId xmlns:a16="http://schemas.microsoft.com/office/drawing/2014/main" id="{C9A5293B-9A1C-4E1B-1250-D23CEA94AD64}"/>
              </a:ext>
            </a:extLst>
          </p:cNvPr>
          <p:cNvPicPr>
            <a:picLocks noChangeAspect="1"/>
          </p:cNvPicPr>
          <p:nvPr/>
        </p:nvPicPr>
        <p:blipFill>
          <a:blip r:embed="rId4"/>
          <a:stretch>
            <a:fillRect/>
          </a:stretch>
        </p:blipFill>
        <p:spPr>
          <a:xfrm>
            <a:off x="6248400" y="2830619"/>
            <a:ext cx="5672590" cy="2099595"/>
          </a:xfrm>
          <a:prstGeom prst="rect">
            <a:avLst/>
          </a:prstGeom>
        </p:spPr>
      </p:pic>
    </p:spTree>
    <p:extLst>
      <p:ext uri="{BB962C8B-B14F-4D97-AF65-F5344CB8AC3E}">
        <p14:creationId xmlns:p14="http://schemas.microsoft.com/office/powerpoint/2010/main" val="1589808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2D4D53-2C29-2F98-6285-38B069F0CC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E3715A-33A9-760E-DFA7-CFFF9CE093D0}"/>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9DA91BDE-D64F-BB51-3216-C06F76D0E3F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51BFBB3E-F5EC-17CF-B15F-3509EAC07A76}"/>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38</a:t>
            </a:fld>
            <a:endParaRPr spc="-25" dirty="0"/>
          </a:p>
        </p:txBody>
      </p:sp>
      <p:sp>
        <p:nvSpPr>
          <p:cNvPr id="9" name="object 9">
            <a:extLst>
              <a:ext uri="{FF2B5EF4-FFF2-40B4-BE49-F238E27FC236}">
                <a16:creationId xmlns:a16="http://schemas.microsoft.com/office/drawing/2014/main" id="{2DF6D3E2-C635-9809-BC2B-CF848DB7B5B2}"/>
              </a:ext>
            </a:extLst>
          </p:cNvPr>
          <p:cNvSpPr txBox="1">
            <a:spLocks noGrp="1"/>
          </p:cNvSpPr>
          <p:nvPr>
            <p:ph type="ftr" sz="quarter" idx="5"/>
          </p:nvPr>
        </p:nvSpPr>
        <p:spPr>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3" name="object 3">
            <a:extLst>
              <a:ext uri="{FF2B5EF4-FFF2-40B4-BE49-F238E27FC236}">
                <a16:creationId xmlns:a16="http://schemas.microsoft.com/office/drawing/2014/main" id="{AE523072-FDE9-78C7-8145-D04D9CAFDE5B}"/>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pic>
        <p:nvPicPr>
          <p:cNvPr id="5" name="Picture 4">
            <a:extLst>
              <a:ext uri="{FF2B5EF4-FFF2-40B4-BE49-F238E27FC236}">
                <a16:creationId xmlns:a16="http://schemas.microsoft.com/office/drawing/2014/main" id="{BBF9060E-173C-D22F-A213-10C3DD432F90}"/>
              </a:ext>
            </a:extLst>
          </p:cNvPr>
          <p:cNvPicPr>
            <a:picLocks noChangeAspect="1"/>
          </p:cNvPicPr>
          <p:nvPr/>
        </p:nvPicPr>
        <p:blipFill>
          <a:blip r:embed="rId2"/>
          <a:stretch>
            <a:fillRect/>
          </a:stretch>
        </p:blipFill>
        <p:spPr>
          <a:xfrm>
            <a:off x="0" y="2239934"/>
            <a:ext cx="12192000" cy="2378132"/>
          </a:xfrm>
          <a:prstGeom prst="rect">
            <a:avLst/>
          </a:prstGeom>
        </p:spPr>
      </p:pic>
    </p:spTree>
    <p:extLst>
      <p:ext uri="{BB962C8B-B14F-4D97-AF65-F5344CB8AC3E}">
        <p14:creationId xmlns:p14="http://schemas.microsoft.com/office/powerpoint/2010/main" val="3843602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
            <a:ext cx="12192000" cy="6857999"/>
            <a:chOff x="0" y="1"/>
            <a:chExt cx="12192000" cy="6857999"/>
          </a:xfrm>
        </p:grpSpPr>
        <p:pic>
          <p:nvPicPr>
            <p:cNvPr id="3" name="object 3"/>
            <p:cNvPicPr/>
            <p:nvPr/>
          </p:nvPicPr>
          <p:blipFill>
            <a:blip r:embed="rId2" cstate="print"/>
            <a:stretch>
              <a:fillRect/>
            </a:stretch>
          </p:blipFill>
          <p:spPr>
            <a:xfrm>
              <a:off x="0" y="1"/>
              <a:ext cx="12192000" cy="6857999"/>
            </a:xfrm>
            <a:prstGeom prst="rect">
              <a:avLst/>
            </a:prstGeom>
          </p:spPr>
        </p:pic>
        <p:pic>
          <p:nvPicPr>
            <p:cNvPr id="4" name="object 4"/>
            <p:cNvPicPr/>
            <p:nvPr/>
          </p:nvPicPr>
          <p:blipFill>
            <a:blip r:embed="rId3" cstate="print"/>
            <a:stretch>
              <a:fillRect/>
            </a:stretch>
          </p:blipFill>
          <p:spPr>
            <a:xfrm>
              <a:off x="0" y="800100"/>
              <a:ext cx="9163049" cy="5257800"/>
            </a:xfrm>
            <a:prstGeom prst="rect">
              <a:avLst/>
            </a:prstGeom>
          </p:spPr>
        </p:pic>
        <p:pic>
          <p:nvPicPr>
            <p:cNvPr id="5" name="object 5"/>
            <p:cNvPicPr/>
            <p:nvPr/>
          </p:nvPicPr>
          <p:blipFill>
            <a:blip r:embed="rId4" cstate="print"/>
            <a:stretch>
              <a:fillRect/>
            </a:stretch>
          </p:blipFill>
          <p:spPr>
            <a:xfrm>
              <a:off x="28575" y="762000"/>
              <a:ext cx="9163050" cy="85725"/>
            </a:xfrm>
            <a:prstGeom prst="rect">
              <a:avLst/>
            </a:prstGeom>
          </p:spPr>
        </p:pic>
        <p:pic>
          <p:nvPicPr>
            <p:cNvPr id="6" name="object 6"/>
            <p:cNvPicPr/>
            <p:nvPr/>
          </p:nvPicPr>
          <p:blipFill>
            <a:blip r:embed="rId5" cstate="print"/>
            <a:stretch>
              <a:fillRect/>
            </a:stretch>
          </p:blipFill>
          <p:spPr>
            <a:xfrm>
              <a:off x="0" y="485775"/>
              <a:ext cx="8943974" cy="5876925"/>
            </a:xfrm>
            <a:prstGeom prst="rect">
              <a:avLst/>
            </a:prstGeom>
          </p:spPr>
        </p:pic>
        <p:pic>
          <p:nvPicPr>
            <p:cNvPr id="7" name="object 7"/>
            <p:cNvPicPr/>
            <p:nvPr/>
          </p:nvPicPr>
          <p:blipFill>
            <a:blip r:embed="rId6" cstate="print"/>
            <a:stretch>
              <a:fillRect/>
            </a:stretch>
          </p:blipFill>
          <p:spPr>
            <a:xfrm>
              <a:off x="0" y="514350"/>
              <a:ext cx="8924924" cy="5819775"/>
            </a:xfrm>
            <a:prstGeom prst="rect">
              <a:avLst/>
            </a:prstGeom>
          </p:spPr>
        </p:pic>
      </p:grpSp>
      <p:sp>
        <p:nvSpPr>
          <p:cNvPr id="8" name="object 8"/>
          <p:cNvSpPr txBox="1">
            <a:spLocks noGrp="1"/>
          </p:cNvSpPr>
          <p:nvPr>
            <p:ph type="title"/>
          </p:nvPr>
        </p:nvSpPr>
        <p:spPr>
          <a:xfrm>
            <a:off x="2697733" y="2503487"/>
            <a:ext cx="3277870" cy="1670050"/>
          </a:xfrm>
          <a:prstGeom prst="rect">
            <a:avLst/>
          </a:prstGeom>
        </p:spPr>
        <p:txBody>
          <a:bodyPr vert="horz" wrap="square" lIns="0" tIns="28575" rIns="0" bIns="0" rtlCol="0">
            <a:spAutoFit/>
          </a:bodyPr>
          <a:lstStyle/>
          <a:p>
            <a:pPr marL="12700" marR="5080" indent="10160">
              <a:lnSpc>
                <a:spcPts val="6459"/>
              </a:lnSpc>
              <a:spcBef>
                <a:spcPts val="225"/>
              </a:spcBef>
            </a:pPr>
            <a:r>
              <a:rPr sz="5400" b="0" dirty="0">
                <a:solidFill>
                  <a:srgbClr val="FFFFFF"/>
                </a:solidFill>
                <a:latin typeface="Arial"/>
                <a:cs typeface="Arial"/>
              </a:rPr>
              <a:t>Thanks</a:t>
            </a:r>
            <a:r>
              <a:rPr sz="5400" b="0" spc="-20" dirty="0">
                <a:solidFill>
                  <a:srgbClr val="FFFFFF"/>
                </a:solidFill>
                <a:latin typeface="Arial"/>
                <a:cs typeface="Arial"/>
              </a:rPr>
              <a:t> </a:t>
            </a:r>
            <a:r>
              <a:rPr sz="5400" b="0" spc="-25" dirty="0">
                <a:solidFill>
                  <a:srgbClr val="FFFFFF"/>
                </a:solidFill>
                <a:latin typeface="Arial"/>
                <a:cs typeface="Arial"/>
              </a:rPr>
              <a:t>for </a:t>
            </a:r>
            <a:r>
              <a:rPr sz="5400" b="0" spc="-10" dirty="0">
                <a:solidFill>
                  <a:srgbClr val="FFFFFF"/>
                </a:solidFill>
                <a:latin typeface="Arial"/>
                <a:cs typeface="Arial"/>
              </a:rPr>
              <a:t>watching</a:t>
            </a:r>
            <a:endParaRPr sz="54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413</TotalTime>
  <Words>3142</Words>
  <Application>Microsoft Office PowerPoint</Application>
  <PresentationFormat>Widescreen</PresentationFormat>
  <Paragraphs>465</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Design Specifications IP AMBA ABP Protocol</vt:lpstr>
      <vt:lpstr>Table Content</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2. High Level Block Design</vt:lpstr>
      <vt:lpstr>2. High Level Block Design</vt:lpstr>
      <vt:lpstr>2. High Level Block Design</vt:lpstr>
      <vt:lpstr>2. High Level Block Design</vt:lpstr>
      <vt:lpstr>2. High Level Block Design</vt:lpstr>
      <vt:lpstr>2. High Level Block Design</vt:lpstr>
      <vt:lpstr>2. High Level Block Design</vt:lpstr>
      <vt:lpstr>3. Low Level Block Design</vt:lpstr>
      <vt:lpstr>3. Low Level Block Design</vt:lpstr>
      <vt:lpstr>3. Low Level Block Design</vt:lpstr>
      <vt:lpstr>4. RTL Verification</vt:lpstr>
      <vt:lpstr>4. RTL Verification</vt:lpstr>
      <vt:lpstr>4. RTL Verification</vt:lpstr>
      <vt:lpstr>4. RTL Verification</vt:lpstr>
      <vt:lpstr>4. RTL Verification</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Hoàng Bảo Long</cp:lastModifiedBy>
  <cp:revision>38</cp:revision>
  <dcterms:created xsi:type="dcterms:W3CDTF">2025-12-13T15:45:28Z</dcterms:created>
  <dcterms:modified xsi:type="dcterms:W3CDTF">2025-12-21T10:22:07Z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2025-06-10T00:00:00Z</vt:filetime>
  </property>
  <property fmtid="{D5CDD505-2E9C-101B-9397-08002B2CF9AE}" pid="3" name="LastSaved">
    <vt:filetime>2025-12-13T00:00:00Z</vt:filetime>
  </property>
  <property fmtid="{D5CDD505-2E9C-101B-9397-08002B2CF9AE}" pid="4" name="Producer">
    <vt:lpwstr>3-Heights(TM) PDF Security Shell 4.8.25.2 (http://www.pdf-tools.com)</vt:lpwstr>
  </property>
</Properties>
</file>